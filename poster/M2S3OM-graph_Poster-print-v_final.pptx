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"/>
  </p:notesMasterIdLst>
  <p:sldIdLst>
    <p:sldId id="256" r:id="rId2"/>
  </p:sldIdLst>
  <p:sldSz cx="30275213" cy="42803763"/>
  <p:notesSz cx="10234613" cy="71040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59" userDrawn="1">
          <p15:clr>
            <a:srgbClr val="A4A3A4"/>
          </p15:clr>
        </p15:guide>
        <p15:guide id="2" pos="95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C8AA"/>
    <a:srgbClr val="A0235A"/>
    <a:srgbClr val="FFD228"/>
    <a:srgbClr val="8CD600"/>
    <a:srgbClr val="14C8FF"/>
    <a:srgbClr val="002864"/>
    <a:srgbClr val="3A4E6C"/>
    <a:srgbClr val="F0781E"/>
    <a:srgbClr val="05E5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3" d="100"/>
          <a:sy n="33" d="100"/>
        </p:scale>
        <p:origin x="3258" y="36"/>
      </p:cViewPr>
      <p:guideLst>
        <p:guide orient="horz" pos="13459"/>
        <p:guide pos="95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7136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690988" rtl="0" eaLnBrk="1" latinLnBrk="0" hangingPunct="1">
      <a:defRPr sz="3531" kern="1200">
        <a:solidFill>
          <a:schemeClr val="tx1"/>
        </a:solidFill>
        <a:latin typeface="+mn-lt"/>
        <a:ea typeface="+mn-ea"/>
        <a:cs typeface="+mn-cs"/>
      </a:defRPr>
    </a:lvl1pPr>
    <a:lvl2pPr marL="1345494" algn="l" defTabSz="2690988" rtl="0" eaLnBrk="1" latinLnBrk="0" hangingPunct="1">
      <a:defRPr sz="3531" kern="1200">
        <a:solidFill>
          <a:schemeClr val="tx1"/>
        </a:solidFill>
        <a:latin typeface="+mn-lt"/>
        <a:ea typeface="+mn-ea"/>
        <a:cs typeface="+mn-cs"/>
      </a:defRPr>
    </a:lvl2pPr>
    <a:lvl3pPr marL="2690988" algn="l" defTabSz="2690988" rtl="0" eaLnBrk="1" latinLnBrk="0" hangingPunct="1">
      <a:defRPr sz="3531" kern="1200">
        <a:solidFill>
          <a:schemeClr val="tx1"/>
        </a:solidFill>
        <a:latin typeface="+mn-lt"/>
        <a:ea typeface="+mn-ea"/>
        <a:cs typeface="+mn-cs"/>
      </a:defRPr>
    </a:lvl3pPr>
    <a:lvl4pPr marL="4036482" algn="l" defTabSz="2690988" rtl="0" eaLnBrk="1" latinLnBrk="0" hangingPunct="1">
      <a:defRPr sz="3531" kern="1200">
        <a:solidFill>
          <a:schemeClr val="tx1"/>
        </a:solidFill>
        <a:latin typeface="+mn-lt"/>
        <a:ea typeface="+mn-ea"/>
        <a:cs typeface="+mn-cs"/>
      </a:defRPr>
    </a:lvl4pPr>
    <a:lvl5pPr marL="5381976" algn="l" defTabSz="2690988" rtl="0" eaLnBrk="1" latinLnBrk="0" hangingPunct="1">
      <a:defRPr sz="3531" kern="1200">
        <a:solidFill>
          <a:schemeClr val="tx1"/>
        </a:solidFill>
        <a:latin typeface="+mn-lt"/>
        <a:ea typeface="+mn-ea"/>
        <a:cs typeface="+mn-cs"/>
      </a:defRPr>
    </a:lvl5pPr>
    <a:lvl6pPr marL="6727469" algn="l" defTabSz="2690988" rtl="0" eaLnBrk="1" latinLnBrk="0" hangingPunct="1">
      <a:defRPr sz="3531" kern="1200">
        <a:solidFill>
          <a:schemeClr val="tx1"/>
        </a:solidFill>
        <a:latin typeface="+mn-lt"/>
        <a:ea typeface="+mn-ea"/>
        <a:cs typeface="+mn-cs"/>
      </a:defRPr>
    </a:lvl6pPr>
    <a:lvl7pPr marL="8072963" algn="l" defTabSz="2690988" rtl="0" eaLnBrk="1" latinLnBrk="0" hangingPunct="1">
      <a:defRPr sz="3531" kern="1200">
        <a:solidFill>
          <a:schemeClr val="tx1"/>
        </a:solidFill>
        <a:latin typeface="+mn-lt"/>
        <a:ea typeface="+mn-ea"/>
        <a:cs typeface="+mn-cs"/>
      </a:defRPr>
    </a:lvl7pPr>
    <a:lvl8pPr marL="9418457" algn="l" defTabSz="2690988" rtl="0" eaLnBrk="1" latinLnBrk="0" hangingPunct="1">
      <a:defRPr sz="3531" kern="1200">
        <a:solidFill>
          <a:schemeClr val="tx1"/>
        </a:solidFill>
        <a:latin typeface="+mn-lt"/>
        <a:ea typeface="+mn-ea"/>
        <a:cs typeface="+mn-cs"/>
      </a:defRPr>
    </a:lvl8pPr>
    <a:lvl9pPr marL="10763951" algn="l" defTabSz="2690988" rtl="0" eaLnBrk="1" latinLnBrk="0" hangingPunct="1">
      <a:defRPr sz="353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3843" tIns="31922" rIns="63843" bIns="3192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3843" tIns="31922" rIns="63843" bIns="31922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74460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14698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9870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28545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36650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39988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114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89482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70735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86632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03577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4641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319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github.com/microsoft/markitdown" TargetMode="External"/><Relationship Id="rId11" Type="http://schemas.openxmlformats.org/officeDocument/2006/relationships/image" Target="../media/image7.png"/><Relationship Id="rId5" Type="http://schemas.openxmlformats.org/officeDocument/2006/relationships/hyperlink" Target="https://rdamsc.bath.ac.uk/mapping-index" TargetMode="External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19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" y="-67277"/>
            <a:ext cx="30274497" cy="4827922"/>
          </a:xfrm>
          <a:prstGeom prst="rect">
            <a:avLst/>
          </a:prstGeom>
          <a:solidFill>
            <a:srgbClr val="002864"/>
          </a:solidFill>
          <a:ln/>
        </p:spPr>
        <p:txBody>
          <a:bodyPr/>
          <a:lstStyle/>
          <a:p>
            <a:endParaRPr lang="de-DE" sz="15589" dirty="0"/>
          </a:p>
        </p:txBody>
      </p:sp>
      <p:sp>
        <p:nvSpPr>
          <p:cNvPr id="4" name="Text 2"/>
          <p:cNvSpPr/>
          <p:nvPr/>
        </p:nvSpPr>
        <p:spPr>
          <a:xfrm>
            <a:off x="1149998" y="384698"/>
            <a:ext cx="24511068" cy="476532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lnSpcReduction="10000"/>
          </a:bodyPr>
          <a:lstStyle/>
          <a:p>
            <a:r>
              <a:rPr lang="en-US" sz="2207" kern="0" spc="397" dirty="0">
                <a:solidFill>
                  <a:srgbClr val="14C8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HELMHOLTZ AI CONFERENCE 2026 · MUNICH · 8–11 JUNE · TRACK: APPLICATIONS OF AI</a:t>
            </a:r>
            <a:endParaRPr lang="en-US" sz="2207" dirty="0"/>
          </a:p>
        </p:txBody>
      </p:sp>
      <p:sp>
        <p:nvSpPr>
          <p:cNvPr id="5" name="Text 3"/>
          <p:cNvSpPr/>
          <p:nvPr/>
        </p:nvSpPr>
        <p:spPr>
          <a:xfrm>
            <a:off x="1121968" y="1037158"/>
            <a:ext cx="23348654" cy="1198803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fontScale="92500" lnSpcReduction="20000"/>
          </a:bodyPr>
          <a:lstStyle/>
          <a:p>
            <a:pPr>
              <a:lnSpc>
                <a:spcPct val="102018"/>
              </a:lnSpc>
            </a:pPr>
            <a:r>
              <a:rPr lang="en-US" sz="8387" b="1" kern="0" spc="-127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M²S³OM-graph</a:t>
            </a:r>
            <a:endParaRPr lang="en-US" sz="8387" dirty="0"/>
          </a:p>
        </p:txBody>
      </p:sp>
      <p:sp>
        <p:nvSpPr>
          <p:cNvPr id="6" name="Text 4"/>
          <p:cNvSpPr/>
          <p:nvPr/>
        </p:nvSpPr>
        <p:spPr>
          <a:xfrm>
            <a:off x="1121968" y="2263993"/>
            <a:ext cx="23675218" cy="1274489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fontScale="92500" lnSpcReduction="20000"/>
          </a:bodyPr>
          <a:lstStyle/>
          <a:p>
            <a:pPr>
              <a:lnSpc>
                <a:spcPct val="121961"/>
              </a:lnSpc>
            </a:pPr>
            <a:r>
              <a:rPr lang="en-US" sz="3752" dirty="0">
                <a:solidFill>
                  <a:srgbClr val="CDEE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hybrid deterministic–LLM pipeline for automated metadata crosswalk extraction and graph-grounded interoperability   </a:t>
            </a:r>
          </a:p>
          <a:p>
            <a:pPr>
              <a:lnSpc>
                <a:spcPct val="121961"/>
              </a:lnSpc>
            </a:pPr>
            <a:endParaRPr lang="en-US" sz="3752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051" y="4239649"/>
            <a:ext cx="448583" cy="4485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1968" y="3654024"/>
            <a:ext cx="14811565" cy="447003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r>
              <a:rPr lang="en-US" sz="2800" b="1" dirty="0">
                <a:solidFill>
                  <a:srgbClr val="50C8A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Santiago Casas </a:t>
            </a:r>
            <a:r>
              <a:rPr lang="en-US" sz="2800" dirty="0">
                <a:solidFill>
                  <a:srgbClr val="A8C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Scientific Information, </a:t>
            </a:r>
            <a:r>
              <a:rPr lang="en-US" sz="2800" dirty="0" err="1">
                <a:solidFill>
                  <a:srgbClr val="A8C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Deutsches</a:t>
            </a:r>
            <a:r>
              <a:rPr lang="en-US" sz="2800" dirty="0">
                <a:solidFill>
                  <a:srgbClr val="A8C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2800" dirty="0" err="1">
                <a:solidFill>
                  <a:srgbClr val="A8C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Zentrum</a:t>
            </a:r>
            <a:r>
              <a:rPr lang="en-US" sz="2800" dirty="0">
                <a:solidFill>
                  <a:srgbClr val="A8C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für Luft- und </a:t>
            </a:r>
            <a:r>
              <a:rPr lang="en-US" sz="2800" dirty="0" err="1">
                <a:solidFill>
                  <a:srgbClr val="A8C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Raumfahrt</a:t>
            </a:r>
            <a:r>
              <a:rPr lang="en-US" sz="2800" dirty="0">
                <a:solidFill>
                  <a:srgbClr val="A8C2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(DLR)</a:t>
            </a:r>
            <a:endParaRPr lang="en-US" sz="2800" dirty="0"/>
          </a:p>
          <a:p>
            <a:endParaRPr lang="en-US" sz="2800" dirty="0">
              <a:solidFill>
                <a:srgbClr val="50C8AA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3784938" y="3769029"/>
            <a:ext cx="12050784" cy="560626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lnSpcReduction="10000"/>
          </a:bodyPr>
          <a:lstStyle/>
          <a:p>
            <a:endParaRPr lang="en-US" sz="276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84236" y="3704753"/>
            <a:ext cx="4542719" cy="836379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591874" y="448503"/>
            <a:ext cx="3561373" cy="316753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8"/>
          <p:cNvSpPr/>
          <p:nvPr/>
        </p:nvSpPr>
        <p:spPr>
          <a:xfrm>
            <a:off x="25675967" y="3111475"/>
            <a:ext cx="3393186" cy="420469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lnSpcReduction="10000"/>
          </a:bodyPr>
          <a:lstStyle/>
          <a:p>
            <a:pPr algn="ctr"/>
            <a:r>
              <a:rPr lang="en-US" sz="1878" kern="0" spc="188" dirty="0">
                <a:solidFill>
                  <a:srgbClr val="00286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Gitlab Repository</a:t>
            </a:r>
            <a:endParaRPr lang="en-US" sz="1878" dirty="0"/>
          </a:p>
        </p:txBody>
      </p:sp>
      <p:sp>
        <p:nvSpPr>
          <p:cNvPr id="18" name="Shape 13"/>
          <p:cNvSpPr/>
          <p:nvPr/>
        </p:nvSpPr>
        <p:spPr>
          <a:xfrm>
            <a:off x="16704234" y="5196094"/>
            <a:ext cx="4068891" cy="1719831"/>
          </a:xfrm>
          <a:prstGeom prst="rect">
            <a:avLst/>
          </a:prstGeom>
          <a:solidFill>
            <a:srgbClr val="FFD228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23" name="Shape 18"/>
          <p:cNvSpPr/>
          <p:nvPr/>
        </p:nvSpPr>
        <p:spPr>
          <a:xfrm>
            <a:off x="1141394" y="5196093"/>
            <a:ext cx="3855491" cy="1725147"/>
          </a:xfrm>
          <a:prstGeom prst="rect">
            <a:avLst/>
          </a:prstGeom>
          <a:solidFill>
            <a:srgbClr val="002864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24" name="Text 19"/>
          <p:cNvSpPr/>
          <p:nvPr/>
        </p:nvSpPr>
        <p:spPr>
          <a:xfrm>
            <a:off x="1141394" y="5200601"/>
            <a:ext cx="2495334" cy="919448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r>
              <a:rPr lang="en-US" sz="5800" b="1" kern="0" spc="-124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37</a:t>
            </a:r>
            <a:endParaRPr lang="en-US" sz="5800" dirty="0"/>
          </a:p>
        </p:txBody>
      </p:sp>
      <p:sp>
        <p:nvSpPr>
          <p:cNvPr id="25" name="Text 20"/>
          <p:cNvSpPr/>
          <p:nvPr/>
        </p:nvSpPr>
        <p:spPr>
          <a:xfrm>
            <a:off x="1187544" y="6085435"/>
            <a:ext cx="3728641" cy="834997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pPr>
              <a:lnSpc>
                <a:spcPct val="122064"/>
              </a:lnSpc>
            </a:pPr>
            <a:r>
              <a:rPr lang="en-US" sz="2000" dirty="0">
                <a:solidFill>
                  <a:srgbClr val="CDEEFB">
                    <a:alpha val="9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RDAMSC crosswalks evaluated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8859382" y="5196094"/>
            <a:ext cx="3918433" cy="1724338"/>
          </a:xfrm>
          <a:prstGeom prst="rect">
            <a:avLst/>
          </a:prstGeom>
          <a:solidFill>
            <a:srgbClr val="50C8A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27" name="Text 22"/>
          <p:cNvSpPr/>
          <p:nvPr/>
        </p:nvSpPr>
        <p:spPr>
          <a:xfrm>
            <a:off x="8878573" y="5211487"/>
            <a:ext cx="2731368" cy="989498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r>
              <a:rPr lang="en-US" sz="5800" b="1" kern="0" spc="-124" dirty="0">
                <a:solidFill>
                  <a:srgbClr val="0028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993</a:t>
            </a:r>
            <a:endParaRPr lang="en-US" sz="5800" dirty="0"/>
          </a:p>
        </p:txBody>
      </p:sp>
      <p:sp>
        <p:nvSpPr>
          <p:cNvPr id="29" name="Shape 24"/>
          <p:cNvSpPr/>
          <p:nvPr/>
        </p:nvSpPr>
        <p:spPr>
          <a:xfrm>
            <a:off x="4978469" y="5200601"/>
            <a:ext cx="3918433" cy="1720640"/>
          </a:xfrm>
          <a:prstGeom prst="rect">
            <a:avLst/>
          </a:prstGeom>
          <a:solidFill>
            <a:srgbClr val="14C8FF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30" name="Text 25"/>
          <p:cNvSpPr/>
          <p:nvPr/>
        </p:nvSpPr>
        <p:spPr>
          <a:xfrm>
            <a:off x="4962336" y="5214012"/>
            <a:ext cx="2660019" cy="880661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r>
              <a:rPr lang="en-US" sz="5800" b="1" kern="0" spc="-124" dirty="0">
                <a:solidFill>
                  <a:srgbClr val="0028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51%</a:t>
            </a:r>
            <a:endParaRPr lang="en-US" sz="5800" dirty="0"/>
          </a:p>
        </p:txBody>
      </p:sp>
      <p:sp>
        <p:nvSpPr>
          <p:cNvPr id="31" name="Text 26"/>
          <p:cNvSpPr/>
          <p:nvPr/>
        </p:nvSpPr>
        <p:spPr>
          <a:xfrm>
            <a:off x="4997660" y="6085435"/>
            <a:ext cx="3899241" cy="797023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/>
          </a:bodyPr>
          <a:lstStyle/>
          <a:p>
            <a:pPr>
              <a:lnSpc>
                <a:spcPct val="122064"/>
              </a:lnSpc>
            </a:pPr>
            <a:r>
              <a:rPr lang="en-US" sz="2000" dirty="0">
                <a:solidFill>
                  <a:srgbClr val="002864">
                    <a:alpha val="9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Solved by deterministic parsers</a:t>
            </a:r>
            <a:endParaRPr lang="en-US" sz="2000" dirty="0"/>
          </a:p>
        </p:txBody>
      </p:sp>
      <p:sp>
        <p:nvSpPr>
          <p:cNvPr id="32" name="Shape 27"/>
          <p:cNvSpPr/>
          <p:nvPr/>
        </p:nvSpPr>
        <p:spPr>
          <a:xfrm>
            <a:off x="12777815" y="5200601"/>
            <a:ext cx="3926420" cy="1719831"/>
          </a:xfrm>
          <a:prstGeom prst="rect">
            <a:avLst/>
          </a:prstGeom>
          <a:solidFill>
            <a:srgbClr val="8CD600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33" name="Text 28"/>
          <p:cNvSpPr/>
          <p:nvPr/>
        </p:nvSpPr>
        <p:spPr>
          <a:xfrm>
            <a:off x="12784467" y="5181581"/>
            <a:ext cx="2838996" cy="1036149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/>
          </a:bodyPr>
          <a:lstStyle/>
          <a:p>
            <a:r>
              <a:rPr lang="en-US" sz="5800" b="1" kern="0" spc="-124" dirty="0">
                <a:solidFill>
                  <a:srgbClr val="0028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75.2%</a:t>
            </a:r>
            <a:endParaRPr lang="en-US" sz="5800" dirty="0"/>
          </a:p>
        </p:txBody>
      </p:sp>
      <p:sp>
        <p:nvSpPr>
          <p:cNvPr id="35" name="Shape 30"/>
          <p:cNvSpPr/>
          <p:nvPr/>
        </p:nvSpPr>
        <p:spPr>
          <a:xfrm>
            <a:off x="20773127" y="5200601"/>
            <a:ext cx="3831563" cy="1706978"/>
          </a:xfrm>
          <a:prstGeom prst="rect">
            <a:avLst/>
          </a:prstGeom>
          <a:solidFill>
            <a:srgbClr val="F0781E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36" name="Text 31"/>
          <p:cNvSpPr/>
          <p:nvPr/>
        </p:nvSpPr>
        <p:spPr>
          <a:xfrm>
            <a:off x="20773127" y="5197672"/>
            <a:ext cx="2696404" cy="897001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r>
              <a:rPr lang="en-US" sz="5800" b="1" kern="0" spc="-124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32/45</a:t>
            </a:r>
            <a:endParaRPr lang="en-US" sz="5800" dirty="0"/>
          </a:p>
        </p:txBody>
      </p:sp>
      <p:sp>
        <p:nvSpPr>
          <p:cNvPr id="38" name="Shape 33"/>
          <p:cNvSpPr/>
          <p:nvPr/>
        </p:nvSpPr>
        <p:spPr>
          <a:xfrm>
            <a:off x="1121967" y="6991472"/>
            <a:ext cx="18650144" cy="762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39" name="Shape 34"/>
          <p:cNvSpPr/>
          <p:nvPr/>
        </p:nvSpPr>
        <p:spPr>
          <a:xfrm>
            <a:off x="1121967" y="14707548"/>
            <a:ext cx="18650144" cy="28031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40" name="Shape 35"/>
          <p:cNvSpPr/>
          <p:nvPr/>
        </p:nvSpPr>
        <p:spPr>
          <a:xfrm>
            <a:off x="1121967" y="7037254"/>
            <a:ext cx="18650144" cy="84094"/>
          </a:xfrm>
          <a:prstGeom prst="rect">
            <a:avLst/>
          </a:prstGeom>
          <a:solidFill>
            <a:srgbClr val="002864"/>
          </a:solidFill>
          <a:ln/>
        </p:spPr>
      </p:sp>
      <p:sp>
        <p:nvSpPr>
          <p:cNvPr id="41" name="Shape 36"/>
          <p:cNvSpPr/>
          <p:nvPr/>
        </p:nvSpPr>
        <p:spPr>
          <a:xfrm>
            <a:off x="1121968" y="7037253"/>
            <a:ext cx="28031" cy="7698322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42" name="Shape 37"/>
          <p:cNvSpPr/>
          <p:nvPr/>
        </p:nvSpPr>
        <p:spPr>
          <a:xfrm>
            <a:off x="19744081" y="7037253"/>
            <a:ext cx="28031" cy="7698322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43" name="Text 38"/>
          <p:cNvSpPr/>
          <p:nvPr/>
        </p:nvSpPr>
        <p:spPr>
          <a:xfrm>
            <a:off x="1514405" y="7401661"/>
            <a:ext cx="3419816" cy="476532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lnSpcReduction="10000"/>
          </a:bodyPr>
          <a:lstStyle/>
          <a:p>
            <a:r>
              <a:rPr lang="en-US" sz="2207" b="1" kern="0" spc="353" dirty="0">
                <a:solidFill>
                  <a:srgbClr val="00286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BACKGROUND</a:t>
            </a:r>
            <a:endParaRPr lang="en-US" sz="2207" dirty="0"/>
          </a:p>
        </p:txBody>
      </p:sp>
      <p:sp>
        <p:nvSpPr>
          <p:cNvPr id="45" name="Text 40"/>
          <p:cNvSpPr/>
          <p:nvPr/>
        </p:nvSpPr>
        <p:spPr>
          <a:xfrm>
            <a:off x="1514405" y="7934255"/>
            <a:ext cx="18401226" cy="677421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fontScale="92500" lnSpcReduction="20000"/>
          </a:bodyPr>
          <a:lstStyle/>
          <a:p>
            <a:pPr>
              <a:lnSpc>
                <a:spcPct val="112037"/>
              </a:lnSpc>
            </a:pPr>
            <a:r>
              <a:rPr lang="en-US" sz="3973" b="1" dirty="0">
                <a:solidFill>
                  <a:srgbClr val="0028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Metadata Crosswalks are document-based</a:t>
            </a:r>
            <a:endParaRPr lang="en-US" sz="3973" dirty="0"/>
          </a:p>
        </p:txBody>
      </p:sp>
      <p:sp>
        <p:nvSpPr>
          <p:cNvPr id="46" name="Text 41"/>
          <p:cNvSpPr/>
          <p:nvPr/>
        </p:nvSpPr>
        <p:spPr>
          <a:xfrm>
            <a:off x="1514405" y="8667740"/>
            <a:ext cx="18117551" cy="806365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pPr>
              <a:lnSpc>
                <a:spcPct val="135066"/>
              </a:lnSpc>
            </a:pPr>
            <a:r>
              <a:rPr lang="en-US" sz="2600" dirty="0">
                <a:solidFill>
                  <a:srgbClr val="0A16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Mapping specifications are published as human-readable artifacts. No tool harvests them systematically.</a:t>
            </a:r>
            <a:endParaRPr lang="en-US" sz="2600" dirty="0"/>
          </a:p>
        </p:txBody>
      </p:sp>
      <p:sp>
        <p:nvSpPr>
          <p:cNvPr id="47" name="Text 42"/>
          <p:cNvSpPr/>
          <p:nvPr/>
        </p:nvSpPr>
        <p:spPr>
          <a:xfrm>
            <a:off x="1551340" y="9445693"/>
            <a:ext cx="9053167" cy="4869266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pPr marL="457200" indent="-457200">
              <a:lnSpc>
                <a:spcPct val="138056"/>
              </a:lnSpc>
              <a:buSzPct val="100000"/>
              <a:buFont typeface="Wingdings" panose="05000000000000000000" pitchFamily="2" charset="2"/>
              <a:buChar char="§"/>
              <a:tabLst>
                <a:tab pos="298999" algn="l"/>
              </a:tabLst>
            </a:pPr>
            <a:r>
              <a:rPr lang="en-US" sz="2400" dirty="0">
                <a:solidFill>
                  <a:srgbClr val="0A16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Research Data Alliance (RDA) provides mappings as documentation: </a:t>
            </a:r>
            <a:r>
              <a:rPr lang="en-US" sz="2400" spc="-3" dirty="0">
                <a:solidFill>
                  <a:srgbClr val="0000FF"/>
                </a:solidFill>
                <a:latin typeface="Arial"/>
                <a:ea typeface="DejaVu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https://rdamsc.bath.ac.uk/mapping-index</a:t>
            </a:r>
            <a:endParaRPr lang="en-US" sz="2400" dirty="0">
              <a:solidFill>
                <a:srgbClr val="0A1632"/>
              </a:solidFill>
              <a:latin typeface="IBM Plex Sans" pitchFamily="34" charset="0"/>
              <a:ea typeface="IBM Plex Sans" pitchFamily="34" charset="-122"/>
              <a:cs typeface="IBM Plex Sans" pitchFamily="34" charset="-120"/>
            </a:endParaRPr>
          </a:p>
          <a:p>
            <a:pPr marL="457200" indent="-457200">
              <a:lnSpc>
                <a:spcPct val="138056"/>
              </a:lnSpc>
              <a:buSzPct val="100000"/>
              <a:buFont typeface="Wingdings" panose="05000000000000000000" pitchFamily="2" charset="2"/>
              <a:buChar char="§"/>
              <a:tabLst>
                <a:tab pos="298999" algn="l"/>
              </a:tabLst>
            </a:pPr>
            <a:r>
              <a:rPr lang="en-US" sz="2400" dirty="0">
                <a:solidFill>
                  <a:srgbClr val="0A16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Mappings(=Crosswalks) live as human-readable artifacts — HTML tables, XSL stylesheets, PDFs, free text.</a:t>
            </a:r>
            <a:endParaRPr lang="en-US" sz="2400" dirty="0"/>
          </a:p>
          <a:p>
            <a:pPr marL="457200" indent="-457200">
              <a:lnSpc>
                <a:spcPct val="138056"/>
              </a:lnSpc>
              <a:buSzPct val="100000"/>
              <a:buFont typeface="Wingdings" panose="05000000000000000000" pitchFamily="2" charset="2"/>
              <a:buChar char="§"/>
              <a:tabLst>
                <a:tab pos="298999" algn="l"/>
              </a:tabLst>
            </a:pPr>
            <a:r>
              <a:rPr lang="en-US" sz="2400" dirty="0">
                <a:solidFill>
                  <a:srgbClr val="0A16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Semantic loss is rarely flagged.</a:t>
            </a:r>
            <a:endParaRPr lang="en-US" sz="2400" dirty="0"/>
          </a:p>
          <a:p>
            <a:pPr marL="457200" indent="-457200">
              <a:lnSpc>
                <a:spcPct val="138056"/>
              </a:lnSpc>
              <a:buSzPct val="100000"/>
              <a:buFont typeface="Wingdings" panose="05000000000000000000" pitchFamily="2" charset="2"/>
              <a:buChar char="§"/>
              <a:tabLst>
                <a:tab pos="298999" algn="l"/>
              </a:tabLst>
            </a:pPr>
            <a:r>
              <a:rPr lang="en-US" sz="2400" dirty="0">
                <a:solidFill>
                  <a:srgbClr val="0A16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existing tool harvests these rules systematically across standards.</a:t>
            </a:r>
            <a:endParaRPr lang="en-US" sz="2400" dirty="0"/>
          </a:p>
          <a:p>
            <a:pPr marL="457200" indent="-457200">
              <a:lnSpc>
                <a:spcPct val="138056"/>
              </a:lnSpc>
              <a:buSzPct val="100000"/>
              <a:buFont typeface="Wingdings" panose="05000000000000000000" pitchFamily="2" charset="2"/>
              <a:buChar char="§"/>
              <a:tabLst>
                <a:tab pos="298999" algn="l"/>
              </a:tabLst>
            </a:pPr>
            <a:r>
              <a:rPr lang="en-US" sz="2400" dirty="0">
                <a:solidFill>
                  <a:srgbClr val="0A16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Without a machine-executable layer, every conversion is handled by hand at the data infrastructure provider.</a:t>
            </a:r>
            <a:endParaRPr lang="en-US" sz="2400" dirty="0"/>
          </a:p>
        </p:txBody>
      </p:sp>
      <p:sp>
        <p:nvSpPr>
          <p:cNvPr id="48" name="Shape 43"/>
          <p:cNvSpPr/>
          <p:nvPr/>
        </p:nvSpPr>
        <p:spPr>
          <a:xfrm>
            <a:off x="10829198" y="9838514"/>
            <a:ext cx="4205160" cy="3223597"/>
          </a:xfrm>
          <a:prstGeom prst="rect">
            <a:avLst/>
          </a:prstGeom>
          <a:solidFill>
            <a:srgbClr val="CDEEFB"/>
          </a:solidFill>
          <a:ln w="9525">
            <a:solidFill>
              <a:srgbClr val="14C8FF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50" name="Text 44"/>
          <p:cNvSpPr/>
          <p:nvPr/>
        </p:nvSpPr>
        <p:spPr>
          <a:xfrm>
            <a:off x="10825835" y="12277235"/>
            <a:ext cx="4152461" cy="420469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pPr algn="ctr"/>
            <a:r>
              <a:rPr lang="en-US" sz="1700" kern="0" spc="100" dirty="0">
                <a:solidFill>
                  <a:srgbClr val="00286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TABLE · DATACITE ↔ DC</a:t>
            </a:r>
            <a:endParaRPr lang="en-US" sz="1700" dirty="0"/>
          </a:p>
        </p:txBody>
      </p:sp>
      <p:sp>
        <p:nvSpPr>
          <p:cNvPr id="51" name="Shape 45"/>
          <p:cNvSpPr/>
          <p:nvPr/>
        </p:nvSpPr>
        <p:spPr>
          <a:xfrm>
            <a:off x="15174514" y="9838514"/>
            <a:ext cx="4205160" cy="3223597"/>
          </a:xfrm>
          <a:prstGeom prst="rect">
            <a:avLst/>
          </a:prstGeom>
          <a:solidFill>
            <a:srgbClr val="CDEEFB"/>
          </a:solidFill>
          <a:ln w="9525">
            <a:solidFill>
              <a:srgbClr val="14C8FF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15230577" y="12277233"/>
            <a:ext cx="4093035" cy="728813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/>
          </a:bodyPr>
          <a:lstStyle/>
          <a:p>
            <a:pPr algn="ctr"/>
            <a:r>
              <a:rPr lang="en-US" sz="1700" kern="0" spc="100" dirty="0">
                <a:solidFill>
                  <a:srgbClr val="00286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TEXT · </a:t>
            </a:r>
            <a:r>
              <a:rPr lang="en-US" sz="1700" kern="0" spc="100" dirty="0" err="1">
                <a:solidFill>
                  <a:srgbClr val="00286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DataCite</a:t>
            </a:r>
            <a:r>
              <a:rPr lang="en-US" sz="1700" kern="0" spc="100" dirty="0">
                <a:solidFill>
                  <a:srgbClr val="00286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↔ MARC  </a:t>
            </a:r>
            <a:endParaRPr lang="en-US" sz="1700" dirty="0"/>
          </a:p>
        </p:txBody>
      </p:sp>
      <p:sp>
        <p:nvSpPr>
          <p:cNvPr id="54" name="Shape 47"/>
          <p:cNvSpPr/>
          <p:nvPr/>
        </p:nvSpPr>
        <p:spPr>
          <a:xfrm>
            <a:off x="19815019" y="6953159"/>
            <a:ext cx="10459477" cy="769832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15589" dirty="0"/>
          </a:p>
        </p:txBody>
      </p:sp>
      <p:sp>
        <p:nvSpPr>
          <p:cNvPr id="55" name="Shape 48"/>
          <p:cNvSpPr/>
          <p:nvPr/>
        </p:nvSpPr>
        <p:spPr>
          <a:xfrm>
            <a:off x="19884236" y="14707548"/>
            <a:ext cx="9269009" cy="28031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56" name="Shape 49"/>
          <p:cNvSpPr/>
          <p:nvPr/>
        </p:nvSpPr>
        <p:spPr>
          <a:xfrm>
            <a:off x="19884236" y="7037254"/>
            <a:ext cx="9269009" cy="84094"/>
          </a:xfrm>
          <a:prstGeom prst="rect">
            <a:avLst/>
          </a:prstGeom>
          <a:solidFill>
            <a:srgbClr val="50C8AA"/>
          </a:solidFill>
          <a:ln/>
        </p:spPr>
      </p:sp>
      <p:sp>
        <p:nvSpPr>
          <p:cNvPr id="57" name="Shape 50"/>
          <p:cNvSpPr/>
          <p:nvPr/>
        </p:nvSpPr>
        <p:spPr>
          <a:xfrm>
            <a:off x="19884237" y="7037253"/>
            <a:ext cx="28031" cy="7698322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58" name="Shape 51"/>
          <p:cNvSpPr/>
          <p:nvPr/>
        </p:nvSpPr>
        <p:spPr>
          <a:xfrm>
            <a:off x="29125216" y="7037253"/>
            <a:ext cx="28031" cy="7698322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59" name="Text 52"/>
          <p:cNvSpPr/>
          <p:nvPr/>
        </p:nvSpPr>
        <p:spPr>
          <a:xfrm>
            <a:off x="20276674" y="7401661"/>
            <a:ext cx="2993741" cy="476532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lnSpcReduction="10000"/>
          </a:bodyPr>
          <a:lstStyle/>
          <a:p>
            <a:r>
              <a:rPr lang="en-US" sz="2207" b="1" kern="0" spc="353" dirty="0">
                <a:solidFill>
                  <a:srgbClr val="50C8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APPROACH</a:t>
            </a:r>
            <a:endParaRPr lang="en-US" sz="2207" dirty="0">
              <a:solidFill>
                <a:srgbClr val="50C8AA"/>
              </a:solidFill>
            </a:endParaRPr>
          </a:p>
        </p:txBody>
      </p:sp>
      <p:sp>
        <p:nvSpPr>
          <p:cNvPr id="61" name="Text 54"/>
          <p:cNvSpPr/>
          <p:nvPr/>
        </p:nvSpPr>
        <p:spPr>
          <a:xfrm>
            <a:off x="20276675" y="7934255"/>
            <a:ext cx="8738658" cy="1242720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fontScale="92500" lnSpcReduction="20000"/>
          </a:bodyPr>
          <a:lstStyle/>
          <a:p>
            <a:pPr>
              <a:lnSpc>
                <a:spcPct val="112037"/>
              </a:lnSpc>
            </a:pPr>
            <a:r>
              <a:rPr lang="en-US" sz="3973" b="1" dirty="0">
                <a:solidFill>
                  <a:srgbClr val="0028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Deterministic first, LLM only when needed</a:t>
            </a:r>
            <a:endParaRPr lang="en-US" sz="3973" dirty="0"/>
          </a:p>
        </p:txBody>
      </p:sp>
      <p:sp>
        <p:nvSpPr>
          <p:cNvPr id="62" name="Text 55"/>
          <p:cNvSpPr/>
          <p:nvPr/>
        </p:nvSpPr>
        <p:spPr>
          <a:xfrm>
            <a:off x="20276675" y="9024758"/>
            <a:ext cx="8738658" cy="1058646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pPr>
              <a:lnSpc>
                <a:spcPct val="135066"/>
              </a:lnSpc>
            </a:pPr>
            <a:r>
              <a:rPr lang="en-US" sz="2600" dirty="0">
                <a:solidFill>
                  <a:srgbClr val="0A16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Format-specific parsers carry the load. LLMs are reserved for artifacts that genuinely resist structure.</a:t>
            </a:r>
            <a:endParaRPr lang="en-US" sz="2600" dirty="0"/>
          </a:p>
        </p:txBody>
      </p:sp>
      <p:sp>
        <p:nvSpPr>
          <p:cNvPr id="64" name="Text 57"/>
          <p:cNvSpPr/>
          <p:nvPr/>
        </p:nvSpPr>
        <p:spPr>
          <a:xfrm>
            <a:off x="19995756" y="10306692"/>
            <a:ext cx="9073397" cy="4043508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pPr marL="457200" indent="-457200">
              <a:lnSpc>
                <a:spcPct val="138056"/>
              </a:lnSpc>
              <a:buClr>
                <a:srgbClr val="50C8AA"/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28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Deterministic first. </a:t>
            </a:r>
            <a:r>
              <a:rPr lang="en-US" sz="2400" dirty="0">
                <a:solidFill>
                  <a:srgbClr val="0A16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Format-specific parsers handle structured artifacts without any model call —&gt; reproducible, auditable- Parsers were coded with Gen-AI (</a:t>
            </a:r>
            <a:r>
              <a:rPr lang="en-US" sz="2400" dirty="0" err="1">
                <a:solidFill>
                  <a:srgbClr val="0A16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Blablador</a:t>
            </a:r>
            <a:r>
              <a:rPr lang="en-US" sz="2400" dirty="0">
                <a:solidFill>
                  <a:srgbClr val="0A16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).</a:t>
            </a:r>
          </a:p>
          <a:p>
            <a:pPr marL="457200" indent="-457200">
              <a:lnSpc>
                <a:spcPct val="138056"/>
              </a:lnSpc>
              <a:buClr>
                <a:srgbClr val="50C8AA"/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28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 as fallback. </a:t>
            </a:r>
            <a:r>
              <a:rPr lang="en-US" sz="2400" dirty="0" err="1">
                <a:solidFill>
                  <a:srgbClr val="0A16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Blablador</a:t>
            </a:r>
            <a:r>
              <a:rPr lang="en-US" sz="2400" dirty="0">
                <a:solidFill>
                  <a:srgbClr val="0A16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(Helmholtz-AI infrastructure) is invoked only when an artifact resists deterministic parsing.</a:t>
            </a:r>
          </a:p>
          <a:p>
            <a:pPr marL="457200" indent="-457200">
              <a:lnSpc>
                <a:spcPct val="138056"/>
              </a:lnSpc>
              <a:buClr>
                <a:srgbClr val="50C8AA"/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28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SSSOM as target. </a:t>
            </a:r>
            <a:r>
              <a:rPr lang="en-US" sz="2400" dirty="0">
                <a:solidFill>
                  <a:srgbClr val="0A16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rule is a row in a TSV as Simple Standard for Sharing Ontological Mappings (SSSOM) — community standard, diff-friendly, version-controlled.</a:t>
            </a:r>
            <a:endParaRPr lang="en-US" sz="2400" dirty="0"/>
          </a:p>
          <a:p>
            <a:pPr marL="457200" indent="-457200">
              <a:lnSpc>
                <a:spcPct val="138056"/>
              </a:lnSpc>
              <a:buClr>
                <a:srgbClr val="50C8AA"/>
              </a:buClr>
              <a:buSzPct val="2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457200" indent="-457200">
              <a:lnSpc>
                <a:spcPct val="138056"/>
              </a:lnSpc>
              <a:buClr>
                <a:srgbClr val="50C8AA"/>
              </a:buClr>
              <a:buSzPct val="200000"/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  <p:sp>
        <p:nvSpPr>
          <p:cNvPr id="66" name="Text 59"/>
          <p:cNvSpPr/>
          <p:nvPr/>
        </p:nvSpPr>
        <p:spPr>
          <a:xfrm>
            <a:off x="20669113" y="11909091"/>
            <a:ext cx="8334448" cy="1048835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/>
          </a:bodyPr>
          <a:lstStyle/>
          <a:p>
            <a:pPr>
              <a:lnSpc>
                <a:spcPct val="138056"/>
              </a:lnSpc>
            </a:pPr>
            <a:endParaRPr lang="en-US" sz="2649" dirty="0"/>
          </a:p>
        </p:txBody>
      </p:sp>
      <p:sp>
        <p:nvSpPr>
          <p:cNvPr id="68" name="Text 61"/>
          <p:cNvSpPr/>
          <p:nvPr/>
        </p:nvSpPr>
        <p:spPr>
          <a:xfrm>
            <a:off x="20669113" y="13021934"/>
            <a:ext cx="8334448" cy="1040895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pPr>
              <a:lnSpc>
                <a:spcPct val="138056"/>
              </a:lnSpc>
            </a:pPr>
            <a:endParaRPr lang="en-US" sz="2354" dirty="0"/>
          </a:p>
        </p:txBody>
      </p:sp>
      <p:sp>
        <p:nvSpPr>
          <p:cNvPr id="70" name="Shape 63"/>
          <p:cNvSpPr/>
          <p:nvPr/>
        </p:nvSpPr>
        <p:spPr>
          <a:xfrm flipV="1">
            <a:off x="1150001" y="17138693"/>
            <a:ext cx="27891121" cy="45719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71" name="Shape 64"/>
          <p:cNvSpPr/>
          <p:nvPr/>
        </p:nvSpPr>
        <p:spPr>
          <a:xfrm>
            <a:off x="1121967" y="14847704"/>
            <a:ext cx="28031279" cy="84094"/>
          </a:xfrm>
          <a:prstGeom prst="rect">
            <a:avLst/>
          </a:prstGeom>
          <a:solidFill>
            <a:srgbClr val="50C8AA"/>
          </a:solidFill>
          <a:ln/>
        </p:spPr>
      </p:sp>
      <p:sp>
        <p:nvSpPr>
          <p:cNvPr id="72" name="Shape 65"/>
          <p:cNvSpPr/>
          <p:nvPr/>
        </p:nvSpPr>
        <p:spPr>
          <a:xfrm>
            <a:off x="1121968" y="14847704"/>
            <a:ext cx="28031" cy="5457224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74" name="Text 67"/>
          <p:cNvSpPr/>
          <p:nvPr/>
        </p:nvSpPr>
        <p:spPr>
          <a:xfrm>
            <a:off x="1514405" y="15212111"/>
            <a:ext cx="2567665" cy="476532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lnSpcReduction="10000"/>
          </a:bodyPr>
          <a:lstStyle/>
          <a:p>
            <a:r>
              <a:rPr lang="en-US" sz="2207" b="1" kern="0" spc="353" dirty="0">
                <a:solidFill>
                  <a:srgbClr val="50C8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METHOD</a:t>
            </a:r>
            <a:endParaRPr lang="en-US" sz="2207" dirty="0">
              <a:solidFill>
                <a:srgbClr val="50C8AA"/>
              </a:solidFill>
            </a:endParaRPr>
          </a:p>
        </p:txBody>
      </p:sp>
      <p:sp>
        <p:nvSpPr>
          <p:cNvPr id="76" name="Text 69"/>
          <p:cNvSpPr/>
          <p:nvPr/>
        </p:nvSpPr>
        <p:spPr>
          <a:xfrm>
            <a:off x="1514406" y="15744704"/>
            <a:ext cx="28063795" cy="677424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fontScale="92500" lnSpcReduction="20000"/>
          </a:bodyPr>
          <a:lstStyle/>
          <a:p>
            <a:pPr>
              <a:lnSpc>
                <a:spcPct val="112037"/>
              </a:lnSpc>
            </a:pPr>
            <a:r>
              <a:rPr lang="en-US" sz="3973" b="1" dirty="0">
                <a:solidFill>
                  <a:srgbClr val="0028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</a:t>
            </a:r>
            <a:endParaRPr lang="en-US" sz="3973" dirty="0"/>
          </a:p>
        </p:txBody>
      </p:sp>
      <p:sp>
        <p:nvSpPr>
          <p:cNvPr id="77" name="Text 70"/>
          <p:cNvSpPr/>
          <p:nvPr/>
        </p:nvSpPr>
        <p:spPr>
          <a:xfrm>
            <a:off x="1878206" y="14256707"/>
            <a:ext cx="28063795" cy="585387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fontScale="92500" lnSpcReduction="20000"/>
          </a:bodyPr>
          <a:lstStyle/>
          <a:p>
            <a:pPr>
              <a:lnSpc>
                <a:spcPct val="135066"/>
              </a:lnSpc>
            </a:pPr>
            <a:endParaRPr lang="en-US" sz="2760" dirty="0"/>
          </a:p>
        </p:txBody>
      </p:sp>
      <p:sp>
        <p:nvSpPr>
          <p:cNvPr id="82" name="Shape 75"/>
          <p:cNvSpPr/>
          <p:nvPr/>
        </p:nvSpPr>
        <p:spPr>
          <a:xfrm>
            <a:off x="4670138" y="15092980"/>
            <a:ext cx="3307691" cy="2099530"/>
          </a:xfrm>
          <a:prstGeom prst="rect">
            <a:avLst/>
          </a:prstGeom>
          <a:solidFill>
            <a:srgbClr val="CDEEFB"/>
          </a:solidFill>
          <a:ln/>
        </p:spPr>
        <p:txBody>
          <a:bodyPr/>
          <a:lstStyle/>
          <a:p>
            <a:endParaRPr lang="de-DE" sz="15589" dirty="0"/>
          </a:p>
        </p:txBody>
      </p:sp>
      <p:sp>
        <p:nvSpPr>
          <p:cNvPr id="81" name="Text 74"/>
          <p:cNvSpPr/>
          <p:nvPr/>
        </p:nvSpPr>
        <p:spPr>
          <a:xfrm>
            <a:off x="4659202" y="15777295"/>
            <a:ext cx="3346660" cy="1424801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fontScale="55000" lnSpcReduction="20000"/>
          </a:bodyPr>
          <a:lstStyle/>
          <a:p>
            <a:pPr>
              <a:lnSpc>
                <a:spcPct val="128000"/>
              </a:lnSpc>
            </a:pPr>
            <a:r>
              <a:rPr lang="en-US" sz="3600" dirty="0">
                <a:solidFill>
                  <a:srgbClr val="002864">
                    <a:alpha val="9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harvest of mapping documentation and artifact URLs. </a:t>
            </a:r>
            <a:r>
              <a:rPr lang="en-US" sz="2207" dirty="0">
                <a:solidFill>
                  <a:srgbClr val="002864">
                    <a:alpha val="9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PDF · XSL · HTML · XML · DOC · RTF</a:t>
            </a:r>
            <a:endParaRPr lang="en-US" sz="2207" dirty="0"/>
          </a:p>
        </p:txBody>
      </p:sp>
      <p:sp>
        <p:nvSpPr>
          <p:cNvPr id="84" name="Text 77"/>
          <p:cNvSpPr/>
          <p:nvPr/>
        </p:nvSpPr>
        <p:spPr>
          <a:xfrm>
            <a:off x="4677065" y="15077243"/>
            <a:ext cx="3293836" cy="494856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pPr algn="ctr">
              <a:lnSpc>
                <a:spcPct val="111944"/>
              </a:lnSpc>
            </a:pPr>
            <a:r>
              <a:rPr lang="en-US" sz="2500" b="1" dirty="0">
                <a:solidFill>
                  <a:srgbClr val="0028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Sync &amp; artifact fetch</a:t>
            </a:r>
            <a:endParaRPr lang="en-US" sz="2500" dirty="0"/>
          </a:p>
        </p:txBody>
      </p:sp>
      <p:sp>
        <p:nvSpPr>
          <p:cNvPr id="86" name="Shape 79"/>
          <p:cNvSpPr/>
          <p:nvPr/>
        </p:nvSpPr>
        <p:spPr>
          <a:xfrm>
            <a:off x="8296554" y="15092980"/>
            <a:ext cx="3307691" cy="2090895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88" name="Text 81"/>
          <p:cNvSpPr/>
          <p:nvPr/>
        </p:nvSpPr>
        <p:spPr>
          <a:xfrm>
            <a:off x="8286943" y="15078044"/>
            <a:ext cx="3293836" cy="454554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pPr algn="ctr">
              <a:lnSpc>
                <a:spcPct val="111944"/>
              </a:lnSpc>
            </a:pPr>
            <a:r>
              <a:rPr lang="en-US" sz="2500" b="1" dirty="0">
                <a:solidFill>
                  <a:srgbClr val="0028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Convert to text</a:t>
            </a:r>
            <a:endParaRPr lang="en-US" sz="2500" dirty="0"/>
          </a:p>
        </p:txBody>
      </p:sp>
      <p:sp>
        <p:nvSpPr>
          <p:cNvPr id="89" name="Text 82"/>
          <p:cNvSpPr/>
          <p:nvPr/>
        </p:nvSpPr>
        <p:spPr>
          <a:xfrm>
            <a:off x="8333929" y="15709197"/>
            <a:ext cx="3246849" cy="1459944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/>
          </a:bodyPr>
          <a:lstStyle/>
          <a:p>
            <a:r>
              <a:rPr lang="en-US" sz="2207" dirty="0">
                <a:solidFill>
                  <a:srgbClr val="002864">
                    <a:alpha val="9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6"/>
              </a:rPr>
              <a:t>MarkItDown</a:t>
            </a:r>
            <a:r>
              <a:rPr lang="en-US" sz="2207" dirty="0">
                <a:solidFill>
                  <a:srgbClr val="002864">
                    <a:alpha val="9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normalises every artifact to markdown.</a:t>
            </a:r>
            <a:endParaRPr lang="en-US" sz="2207" dirty="0"/>
          </a:p>
        </p:txBody>
      </p:sp>
      <p:sp>
        <p:nvSpPr>
          <p:cNvPr id="90" name="Shape 83"/>
          <p:cNvSpPr/>
          <p:nvPr/>
        </p:nvSpPr>
        <p:spPr>
          <a:xfrm>
            <a:off x="11933607" y="15103866"/>
            <a:ext cx="2670023" cy="2081316"/>
          </a:xfrm>
          <a:prstGeom prst="rect">
            <a:avLst/>
          </a:prstGeom>
          <a:solidFill>
            <a:srgbClr val="002864"/>
          </a:solidFill>
          <a:ln/>
        </p:spPr>
      </p:sp>
      <p:sp>
        <p:nvSpPr>
          <p:cNvPr id="93" name="Text 86"/>
          <p:cNvSpPr/>
          <p:nvPr/>
        </p:nvSpPr>
        <p:spPr>
          <a:xfrm>
            <a:off x="11948091" y="15103866"/>
            <a:ext cx="2687589" cy="420464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pPr algn="ctr">
              <a:lnSpc>
                <a:spcPct val="111944"/>
              </a:lnSpc>
            </a:pPr>
            <a:r>
              <a:rPr lang="en-US" sz="2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Deterministic</a:t>
            </a:r>
            <a:endParaRPr lang="en-US" sz="2500" dirty="0"/>
          </a:p>
        </p:txBody>
      </p:sp>
      <p:sp>
        <p:nvSpPr>
          <p:cNvPr id="94" name="Text 87"/>
          <p:cNvSpPr/>
          <p:nvPr/>
        </p:nvSpPr>
        <p:spPr>
          <a:xfrm>
            <a:off x="11984622" y="15643462"/>
            <a:ext cx="2651058" cy="1536565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Format-specific parsers extract rules where structure permits.</a:t>
            </a:r>
            <a:endParaRPr lang="en-US" sz="2000" dirty="0"/>
          </a:p>
        </p:txBody>
      </p:sp>
      <p:sp>
        <p:nvSpPr>
          <p:cNvPr id="95" name="Shape 88"/>
          <p:cNvSpPr/>
          <p:nvPr/>
        </p:nvSpPr>
        <p:spPr>
          <a:xfrm>
            <a:off x="14915686" y="15087284"/>
            <a:ext cx="2567245" cy="2087009"/>
          </a:xfrm>
          <a:prstGeom prst="rect">
            <a:avLst/>
          </a:prstGeom>
          <a:solidFill>
            <a:srgbClr val="002864"/>
          </a:solidFill>
          <a:ln/>
        </p:spPr>
      </p:sp>
      <p:sp>
        <p:nvSpPr>
          <p:cNvPr id="98" name="Text 91"/>
          <p:cNvSpPr/>
          <p:nvPr/>
        </p:nvSpPr>
        <p:spPr>
          <a:xfrm>
            <a:off x="14910440" y="15093825"/>
            <a:ext cx="2544564" cy="382697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pPr algn="ctr">
              <a:lnSpc>
                <a:spcPct val="111944"/>
              </a:lnSpc>
            </a:pPr>
            <a:r>
              <a:rPr lang="en-US" sz="2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 fallback</a:t>
            </a:r>
            <a:endParaRPr lang="en-US" sz="2500" dirty="0"/>
          </a:p>
        </p:txBody>
      </p:sp>
      <p:sp>
        <p:nvSpPr>
          <p:cNvPr id="99" name="Text 92"/>
          <p:cNvSpPr/>
          <p:nvPr/>
        </p:nvSpPr>
        <p:spPr>
          <a:xfrm>
            <a:off x="14915687" y="15632576"/>
            <a:ext cx="2539318" cy="1569520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r>
              <a:rPr lang="en-US" sz="2000" dirty="0" err="1">
                <a:solidFill>
                  <a:srgbClr val="FFFFFF">
                    <a:alpha val="9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BlaBlador</a:t>
            </a:r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targeted only on artifacts the parsers can’t handle.</a:t>
            </a:r>
            <a:endParaRPr lang="en-US" sz="2000" dirty="0"/>
          </a:p>
        </p:txBody>
      </p:sp>
      <p:sp>
        <p:nvSpPr>
          <p:cNvPr id="113" name="Shape 106"/>
          <p:cNvSpPr/>
          <p:nvPr/>
        </p:nvSpPr>
        <p:spPr>
          <a:xfrm>
            <a:off x="1121967" y="28263943"/>
            <a:ext cx="9269009" cy="28031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114" name="Shape 107"/>
          <p:cNvSpPr/>
          <p:nvPr/>
        </p:nvSpPr>
        <p:spPr>
          <a:xfrm>
            <a:off x="1162012" y="17276826"/>
            <a:ext cx="9172901" cy="149524"/>
          </a:xfrm>
          <a:prstGeom prst="rect">
            <a:avLst/>
          </a:prstGeom>
          <a:solidFill>
            <a:srgbClr val="F0781E"/>
          </a:solidFill>
          <a:ln/>
        </p:spPr>
      </p:sp>
      <p:sp>
        <p:nvSpPr>
          <p:cNvPr id="115" name="Shape 108"/>
          <p:cNvSpPr/>
          <p:nvPr/>
        </p:nvSpPr>
        <p:spPr>
          <a:xfrm>
            <a:off x="1121968" y="20417051"/>
            <a:ext cx="28031" cy="7874921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117" name="Text 110"/>
          <p:cNvSpPr/>
          <p:nvPr/>
        </p:nvSpPr>
        <p:spPr>
          <a:xfrm>
            <a:off x="1458342" y="17706662"/>
            <a:ext cx="2780703" cy="476532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lnSpcReduction="10000"/>
          </a:bodyPr>
          <a:lstStyle/>
          <a:p>
            <a:r>
              <a:rPr lang="en-US" sz="2207" b="1" kern="0" spc="353" dirty="0">
                <a:solidFill>
                  <a:srgbClr val="F078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RESULTS</a:t>
            </a:r>
            <a:endParaRPr lang="en-US" sz="2207" dirty="0"/>
          </a:p>
        </p:txBody>
      </p:sp>
      <p:sp>
        <p:nvSpPr>
          <p:cNvPr id="119" name="Text 112"/>
          <p:cNvSpPr/>
          <p:nvPr/>
        </p:nvSpPr>
        <p:spPr>
          <a:xfrm>
            <a:off x="1458343" y="18239255"/>
            <a:ext cx="8738658" cy="677424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fontScale="92500" lnSpcReduction="20000"/>
          </a:bodyPr>
          <a:lstStyle/>
          <a:p>
            <a:pPr>
              <a:lnSpc>
                <a:spcPct val="112037"/>
              </a:lnSpc>
            </a:pPr>
            <a:r>
              <a:rPr lang="en-US" sz="3973" b="1" dirty="0">
                <a:solidFill>
                  <a:srgbClr val="0028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Crosswalk outcome distribution</a:t>
            </a:r>
            <a:endParaRPr lang="en-US" sz="3973" dirty="0"/>
          </a:p>
        </p:txBody>
      </p:sp>
      <p:sp>
        <p:nvSpPr>
          <p:cNvPr id="120" name="Text 113"/>
          <p:cNvSpPr/>
          <p:nvPr/>
        </p:nvSpPr>
        <p:spPr>
          <a:xfrm>
            <a:off x="1498426" y="24615053"/>
            <a:ext cx="8647472" cy="448501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pPr>
              <a:lnSpc>
                <a:spcPct val="135066"/>
              </a:lnSpc>
            </a:pPr>
            <a:r>
              <a:rPr lang="en-US" sz="2000" dirty="0">
                <a:solidFill>
                  <a:srgbClr val="0A16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51% of crosswalks have authoritative SSSOM output; 30% blocked by unreachable artifacts.</a:t>
            </a:r>
            <a:endParaRPr lang="en-US" sz="2000" dirty="0"/>
          </a:p>
        </p:txBody>
      </p:sp>
      <p:sp>
        <p:nvSpPr>
          <p:cNvPr id="132" name="Shape 124"/>
          <p:cNvSpPr/>
          <p:nvPr/>
        </p:nvSpPr>
        <p:spPr>
          <a:xfrm>
            <a:off x="10503102" y="28263943"/>
            <a:ext cx="9269009" cy="28031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133" name="Shape 125"/>
          <p:cNvSpPr/>
          <p:nvPr/>
        </p:nvSpPr>
        <p:spPr>
          <a:xfrm>
            <a:off x="10447039" y="17276826"/>
            <a:ext cx="9269009" cy="177359"/>
          </a:xfrm>
          <a:prstGeom prst="rect">
            <a:avLst/>
          </a:prstGeom>
          <a:solidFill>
            <a:srgbClr val="8CD600"/>
          </a:solidFill>
          <a:ln/>
        </p:spPr>
      </p:sp>
      <p:sp>
        <p:nvSpPr>
          <p:cNvPr id="135" name="Shape 127"/>
          <p:cNvSpPr/>
          <p:nvPr/>
        </p:nvSpPr>
        <p:spPr>
          <a:xfrm>
            <a:off x="19705546" y="17615905"/>
            <a:ext cx="45719" cy="7808498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136" name="Text 128"/>
          <p:cNvSpPr/>
          <p:nvPr/>
        </p:nvSpPr>
        <p:spPr>
          <a:xfrm>
            <a:off x="10839477" y="17706662"/>
            <a:ext cx="3206778" cy="476532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lnSpcReduction="10000"/>
          </a:bodyPr>
          <a:lstStyle/>
          <a:p>
            <a:r>
              <a:rPr lang="en-US" sz="2207" b="1" kern="0" spc="353" dirty="0">
                <a:solidFill>
                  <a:srgbClr val="8CD6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BENCHMARK</a:t>
            </a:r>
            <a:endParaRPr lang="en-US" sz="2207" dirty="0"/>
          </a:p>
        </p:txBody>
      </p:sp>
      <p:sp>
        <p:nvSpPr>
          <p:cNvPr id="138" name="Text 130"/>
          <p:cNvSpPr/>
          <p:nvPr/>
        </p:nvSpPr>
        <p:spPr>
          <a:xfrm>
            <a:off x="10754263" y="18127360"/>
            <a:ext cx="8738658" cy="677424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fontScale="92500" lnSpcReduction="20000"/>
          </a:bodyPr>
          <a:lstStyle/>
          <a:p>
            <a:pPr>
              <a:lnSpc>
                <a:spcPct val="112037"/>
              </a:lnSpc>
            </a:pPr>
            <a:r>
              <a:rPr lang="en-US" sz="3973" b="1" dirty="0">
                <a:solidFill>
                  <a:srgbClr val="0028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DataCite → Dublin Core</a:t>
            </a:r>
            <a:endParaRPr lang="en-US" sz="3973" dirty="0"/>
          </a:p>
        </p:txBody>
      </p:sp>
      <p:sp>
        <p:nvSpPr>
          <p:cNvPr id="139" name="Text 131"/>
          <p:cNvSpPr/>
          <p:nvPr/>
        </p:nvSpPr>
        <p:spPr>
          <a:xfrm>
            <a:off x="10495456" y="18672285"/>
            <a:ext cx="9064981" cy="606236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pPr>
              <a:lnSpc>
                <a:spcPct val="135066"/>
              </a:lnSpc>
            </a:pPr>
            <a:r>
              <a:rPr lang="en-US" sz="2600" dirty="0">
                <a:solidFill>
                  <a:srgbClr val="0A16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Applying the extracted rules end-to-end on a real n=1000 harvest.</a:t>
            </a:r>
            <a:endParaRPr lang="en-US" sz="2600" dirty="0"/>
          </a:p>
        </p:txBody>
      </p:sp>
      <p:sp>
        <p:nvSpPr>
          <p:cNvPr id="141" name="Text 132"/>
          <p:cNvSpPr/>
          <p:nvPr/>
        </p:nvSpPr>
        <p:spPr>
          <a:xfrm>
            <a:off x="10568637" y="24343205"/>
            <a:ext cx="8991801" cy="1081197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n-US" sz="1600" dirty="0">
                <a:latin typeface="IBM Plex Sans" pitchFamily="34" charset="0"/>
              </a:rPr>
              <a:t>Lower overlap is expected: Dublin Core is a deliberately broad  target schema, so rich </a:t>
            </a:r>
            <a:r>
              <a:rPr lang="en-US" sz="1600" dirty="0" err="1">
                <a:latin typeface="IBM Plex Sans" pitchFamily="34" charset="0"/>
              </a:rPr>
              <a:t>DataCite</a:t>
            </a:r>
            <a:r>
              <a:rPr lang="en-US" sz="1600" dirty="0">
                <a:latin typeface="IBM Plex Sans" pitchFamily="34" charset="0"/>
              </a:rPr>
              <a:t> metadata is compressed into fewer, less specific fields. The benchmark quantifies this semantic loss rather than indicating pipeline failure.</a:t>
            </a:r>
          </a:p>
        </p:txBody>
      </p:sp>
      <p:sp>
        <p:nvSpPr>
          <p:cNvPr id="142" name="Shape 133"/>
          <p:cNvSpPr/>
          <p:nvPr/>
        </p:nvSpPr>
        <p:spPr>
          <a:xfrm>
            <a:off x="19884236" y="20417052"/>
            <a:ext cx="9269009" cy="64446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3" name="Shape 134"/>
          <p:cNvSpPr/>
          <p:nvPr/>
        </p:nvSpPr>
        <p:spPr>
          <a:xfrm flipV="1">
            <a:off x="19925405" y="26931098"/>
            <a:ext cx="9199812" cy="45719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144" name="Shape 135"/>
          <p:cNvSpPr/>
          <p:nvPr/>
        </p:nvSpPr>
        <p:spPr>
          <a:xfrm>
            <a:off x="19828174" y="17276826"/>
            <a:ext cx="9269009" cy="149524"/>
          </a:xfrm>
          <a:prstGeom prst="rect">
            <a:avLst/>
          </a:prstGeom>
          <a:solidFill>
            <a:srgbClr val="14C8FF"/>
          </a:solidFill>
          <a:ln/>
        </p:spPr>
      </p:sp>
      <p:sp>
        <p:nvSpPr>
          <p:cNvPr id="145" name="Shape 136"/>
          <p:cNvSpPr/>
          <p:nvPr/>
        </p:nvSpPr>
        <p:spPr>
          <a:xfrm>
            <a:off x="19884237" y="20417051"/>
            <a:ext cx="28031" cy="7874921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146" name="Shape 137"/>
          <p:cNvSpPr/>
          <p:nvPr/>
        </p:nvSpPr>
        <p:spPr>
          <a:xfrm>
            <a:off x="29023432" y="17454186"/>
            <a:ext cx="45720" cy="18967990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147" name="Text 138"/>
          <p:cNvSpPr/>
          <p:nvPr/>
        </p:nvSpPr>
        <p:spPr>
          <a:xfrm>
            <a:off x="20220611" y="17706662"/>
            <a:ext cx="2567665" cy="476532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lnSpcReduction="10000"/>
          </a:bodyPr>
          <a:lstStyle/>
          <a:p>
            <a:r>
              <a:rPr lang="en-US" sz="2207" b="1" kern="0" spc="353" dirty="0">
                <a:solidFill>
                  <a:srgbClr val="14C8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CORPUS</a:t>
            </a:r>
            <a:endParaRPr lang="en-US" sz="2207" dirty="0"/>
          </a:p>
        </p:txBody>
      </p:sp>
      <p:sp>
        <p:nvSpPr>
          <p:cNvPr id="149" name="Text 140"/>
          <p:cNvSpPr/>
          <p:nvPr/>
        </p:nvSpPr>
        <p:spPr>
          <a:xfrm>
            <a:off x="20220613" y="18239255"/>
            <a:ext cx="8738658" cy="677424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fontScale="92500" lnSpcReduction="20000"/>
          </a:bodyPr>
          <a:lstStyle/>
          <a:p>
            <a:pPr>
              <a:lnSpc>
                <a:spcPct val="112037"/>
              </a:lnSpc>
            </a:pPr>
            <a:r>
              <a:rPr lang="en-US" sz="3973" b="1" dirty="0">
                <a:solidFill>
                  <a:srgbClr val="0028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Artifact formats &amp; hosts</a:t>
            </a:r>
            <a:endParaRPr lang="en-US" sz="3973" dirty="0"/>
          </a:p>
        </p:txBody>
      </p:sp>
      <p:sp>
        <p:nvSpPr>
          <p:cNvPr id="150" name="Text 141"/>
          <p:cNvSpPr/>
          <p:nvPr/>
        </p:nvSpPr>
        <p:spPr>
          <a:xfrm>
            <a:off x="20220613" y="18915620"/>
            <a:ext cx="8738658" cy="1240752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fontScale="92500"/>
          </a:bodyPr>
          <a:lstStyle/>
          <a:p>
            <a:pPr>
              <a:lnSpc>
                <a:spcPct val="135066"/>
              </a:lnSpc>
            </a:pPr>
            <a:r>
              <a:rPr lang="en-US" sz="2760" dirty="0">
                <a:solidFill>
                  <a:srgbClr val="0A16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Heterogeneous landscape: XSL and HTML dominate. NASA / NOAA endpoints account for most fetch failures.</a:t>
            </a:r>
            <a:endParaRPr lang="en-US" sz="2760" dirty="0"/>
          </a:p>
        </p:txBody>
      </p:sp>
      <p:sp>
        <p:nvSpPr>
          <p:cNvPr id="153" name="Shape 142"/>
          <p:cNvSpPr/>
          <p:nvPr/>
        </p:nvSpPr>
        <p:spPr>
          <a:xfrm>
            <a:off x="1194709" y="26171773"/>
            <a:ext cx="18594082" cy="105656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15589" dirty="0"/>
          </a:p>
        </p:txBody>
      </p:sp>
      <p:sp>
        <p:nvSpPr>
          <p:cNvPr id="154" name="Shape 143"/>
          <p:cNvSpPr/>
          <p:nvPr/>
        </p:nvSpPr>
        <p:spPr>
          <a:xfrm>
            <a:off x="1121967" y="36559332"/>
            <a:ext cx="18650144" cy="28031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155" name="Shape 144"/>
          <p:cNvSpPr/>
          <p:nvPr/>
        </p:nvSpPr>
        <p:spPr>
          <a:xfrm>
            <a:off x="1167961" y="25559884"/>
            <a:ext cx="18538021" cy="141892"/>
          </a:xfrm>
          <a:prstGeom prst="rect">
            <a:avLst/>
          </a:prstGeom>
          <a:solidFill>
            <a:srgbClr val="A0235A"/>
          </a:solidFill>
          <a:ln/>
        </p:spPr>
      </p:sp>
      <p:sp>
        <p:nvSpPr>
          <p:cNvPr id="156" name="Shape 145"/>
          <p:cNvSpPr/>
          <p:nvPr/>
        </p:nvSpPr>
        <p:spPr>
          <a:xfrm>
            <a:off x="1121968" y="28404096"/>
            <a:ext cx="28031" cy="8183265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157" name="Shape 146"/>
          <p:cNvSpPr/>
          <p:nvPr/>
        </p:nvSpPr>
        <p:spPr>
          <a:xfrm>
            <a:off x="19726393" y="26234106"/>
            <a:ext cx="45719" cy="10353255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158" name="Text 147"/>
          <p:cNvSpPr/>
          <p:nvPr/>
        </p:nvSpPr>
        <p:spPr>
          <a:xfrm>
            <a:off x="1291711" y="25701777"/>
            <a:ext cx="2354627" cy="476532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lnSpcReduction="10000"/>
          </a:bodyPr>
          <a:lstStyle/>
          <a:p>
            <a:r>
              <a:rPr lang="en-US" sz="2207" b="1" kern="0" spc="353" dirty="0">
                <a:solidFill>
                  <a:srgbClr val="A023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· GRAPH</a:t>
            </a:r>
            <a:endParaRPr lang="en-US" sz="2207" dirty="0">
              <a:solidFill>
                <a:srgbClr val="A0235A"/>
              </a:solidFill>
            </a:endParaRPr>
          </a:p>
        </p:txBody>
      </p:sp>
      <p:sp>
        <p:nvSpPr>
          <p:cNvPr id="160" name="Text 149"/>
          <p:cNvSpPr/>
          <p:nvPr/>
        </p:nvSpPr>
        <p:spPr>
          <a:xfrm>
            <a:off x="1436718" y="26327427"/>
            <a:ext cx="18401226" cy="677421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fontScale="92500" lnSpcReduction="20000"/>
          </a:bodyPr>
          <a:lstStyle/>
          <a:p>
            <a:pPr>
              <a:lnSpc>
                <a:spcPct val="112037"/>
              </a:lnSpc>
            </a:pPr>
            <a:r>
              <a:rPr lang="en-US" sz="3973" b="1" dirty="0">
                <a:solidFill>
                  <a:srgbClr val="0028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Crosswalks as a knowledge graph</a:t>
            </a:r>
            <a:endParaRPr lang="en-US" sz="3973" dirty="0"/>
          </a:p>
        </p:txBody>
      </p:sp>
      <p:sp>
        <p:nvSpPr>
          <p:cNvPr id="161" name="Text 150"/>
          <p:cNvSpPr/>
          <p:nvPr/>
        </p:nvSpPr>
        <p:spPr>
          <a:xfrm>
            <a:off x="1409775" y="26861671"/>
            <a:ext cx="18401226" cy="1058649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fontScale="92500" lnSpcReduction="20000"/>
          </a:bodyPr>
          <a:lstStyle/>
          <a:p>
            <a:pPr>
              <a:lnSpc>
                <a:spcPct val="135066"/>
              </a:lnSpc>
            </a:pPr>
            <a:r>
              <a:rPr lang="en-US" sz="2760" dirty="0">
                <a:solidFill>
                  <a:srgbClr val="0A16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Standards are nodes; mapping rules are weighted edges. Direct mappings cover the easy pairs; transitive paths will unlock the long tail.</a:t>
            </a:r>
            <a:endParaRPr lang="en-US" sz="2760" dirty="0"/>
          </a:p>
        </p:txBody>
      </p:sp>
      <p:sp>
        <p:nvSpPr>
          <p:cNvPr id="167" name="Shape 155"/>
          <p:cNvSpPr/>
          <p:nvPr/>
        </p:nvSpPr>
        <p:spPr>
          <a:xfrm>
            <a:off x="19884237" y="27525470"/>
            <a:ext cx="9103066" cy="906189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168" name="Shape 156"/>
          <p:cNvSpPr/>
          <p:nvPr/>
        </p:nvSpPr>
        <p:spPr>
          <a:xfrm>
            <a:off x="19884236" y="36559332"/>
            <a:ext cx="9269009" cy="28031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169" name="Shape 157"/>
          <p:cNvSpPr/>
          <p:nvPr/>
        </p:nvSpPr>
        <p:spPr>
          <a:xfrm>
            <a:off x="19898252" y="27096286"/>
            <a:ext cx="9117081" cy="172704"/>
          </a:xfrm>
          <a:prstGeom prst="rect">
            <a:avLst/>
          </a:prstGeom>
          <a:solidFill>
            <a:srgbClr val="002864"/>
          </a:solidFill>
          <a:ln/>
        </p:spPr>
      </p:sp>
      <p:sp>
        <p:nvSpPr>
          <p:cNvPr id="170" name="Shape 158"/>
          <p:cNvSpPr/>
          <p:nvPr/>
        </p:nvSpPr>
        <p:spPr>
          <a:xfrm>
            <a:off x="19884237" y="28404096"/>
            <a:ext cx="28031" cy="8183265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172" name="Text 160"/>
          <p:cNvSpPr/>
          <p:nvPr/>
        </p:nvSpPr>
        <p:spPr>
          <a:xfrm>
            <a:off x="20213121" y="27434034"/>
            <a:ext cx="3206778" cy="476532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lnSpcReduction="10000"/>
          </a:bodyPr>
          <a:lstStyle/>
          <a:p>
            <a:r>
              <a:rPr lang="en-US" sz="2207" b="1" kern="0" spc="353" dirty="0">
                <a:solidFill>
                  <a:srgbClr val="00286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· TAKEAWAYS</a:t>
            </a:r>
            <a:endParaRPr lang="en-US" sz="2207" dirty="0"/>
          </a:p>
        </p:txBody>
      </p:sp>
      <p:sp>
        <p:nvSpPr>
          <p:cNvPr id="174" name="Text 162"/>
          <p:cNvSpPr/>
          <p:nvPr/>
        </p:nvSpPr>
        <p:spPr>
          <a:xfrm>
            <a:off x="20220611" y="27881571"/>
            <a:ext cx="8738658" cy="677421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fontScale="92500" lnSpcReduction="20000"/>
          </a:bodyPr>
          <a:lstStyle/>
          <a:p>
            <a:pPr>
              <a:lnSpc>
                <a:spcPct val="112037"/>
              </a:lnSpc>
            </a:pPr>
            <a:r>
              <a:rPr lang="en-US" sz="3973" b="1" dirty="0">
                <a:solidFill>
                  <a:srgbClr val="0028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Conclusions</a:t>
            </a:r>
            <a:endParaRPr lang="en-US" sz="3973" dirty="0"/>
          </a:p>
        </p:txBody>
      </p:sp>
      <p:sp>
        <p:nvSpPr>
          <p:cNvPr id="175" name="Text 163"/>
          <p:cNvSpPr/>
          <p:nvPr/>
        </p:nvSpPr>
        <p:spPr>
          <a:xfrm>
            <a:off x="20190472" y="28643774"/>
            <a:ext cx="8727071" cy="7778401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pPr marL="523248" indent="-523248">
              <a:lnSpc>
                <a:spcPct val="137971"/>
              </a:lnSpc>
              <a:buSzPct val="100000"/>
              <a:buFont typeface="+mj-lt"/>
              <a:buAutoNum type="arabicPeriod"/>
              <a:tabLst>
                <a:tab pos="523248" algn="l"/>
              </a:tabLst>
            </a:pPr>
            <a:r>
              <a:rPr lang="en-US" sz="2400" dirty="0">
                <a:latin typeface="IBM Plex Sans" panose="020B0503050203000203" pitchFamily="34" charset="0"/>
              </a:rPr>
              <a:t>Structure beats guesswork: parse what is structured, use LLMs only where documents break down.</a:t>
            </a:r>
          </a:p>
          <a:p>
            <a:pPr marL="523248" indent="-523248">
              <a:lnSpc>
                <a:spcPct val="137971"/>
              </a:lnSpc>
              <a:buSzPct val="100000"/>
              <a:buFont typeface="+mj-lt"/>
              <a:buAutoNum type="arabicPeriod"/>
              <a:tabLst>
                <a:tab pos="523248" algn="l"/>
              </a:tabLst>
            </a:pPr>
            <a:r>
              <a:rPr lang="en-US" sz="2400" dirty="0">
                <a:latin typeface="IBM Plex Sans" panose="020B0503050203000203" pitchFamily="34" charset="0"/>
              </a:rPr>
              <a:t>The main bottleneck is not only AI accuracy, but fragile metadata infrastructure: dead links, old formats, and implicit semantics.</a:t>
            </a:r>
          </a:p>
          <a:p>
            <a:pPr marL="523248" indent="-523248">
              <a:lnSpc>
                <a:spcPct val="137971"/>
              </a:lnSpc>
              <a:buSzPct val="100000"/>
              <a:buFont typeface="+mj-lt"/>
              <a:buAutoNum type="arabicPeriod"/>
              <a:tabLst>
                <a:tab pos="523248" algn="l"/>
              </a:tabLst>
            </a:pPr>
            <a:r>
              <a:rPr lang="en-US" sz="2400" dirty="0">
                <a:latin typeface="IBM Plex Sans" panose="020B0503050203000203" pitchFamily="34" charset="0"/>
              </a:rPr>
              <a:t>Crosswalks become more useful when they stop being static documents and become executable, versioned SSSOM mappings.</a:t>
            </a:r>
          </a:p>
          <a:p>
            <a:pPr marL="523248" indent="-523248">
              <a:lnSpc>
                <a:spcPct val="137971"/>
              </a:lnSpc>
              <a:buSzPct val="100000"/>
              <a:buFont typeface="+mj-lt"/>
              <a:buAutoNum type="arabicPeriod"/>
              <a:tabLst>
                <a:tab pos="523248" algn="l"/>
              </a:tabLst>
            </a:pPr>
            <a:r>
              <a:rPr lang="en-US" sz="2400" dirty="0">
                <a:latin typeface="IBM Plex Sans" panose="020B0503050203000203" pitchFamily="34" charset="0"/>
              </a:rPr>
              <a:t>The graph turns isolated mappings into an interoperability network: standards as nodes, crosswalks as navigable edges.</a:t>
            </a:r>
          </a:p>
          <a:p>
            <a:pPr marL="523248" indent="-523248">
              <a:lnSpc>
                <a:spcPct val="137971"/>
              </a:lnSpc>
              <a:buSzPct val="100000"/>
              <a:buFont typeface="+mj-lt"/>
              <a:buAutoNum type="arabicPeriod"/>
              <a:tabLst>
                <a:tab pos="523248" algn="l"/>
              </a:tabLst>
            </a:pPr>
            <a:r>
              <a:rPr lang="en-US" sz="2400" dirty="0">
                <a:latin typeface="IBM Plex Sans" panose="020B0503050203000203" pitchFamily="34" charset="0"/>
              </a:rPr>
              <a:t>Provenance is the difference between “the model said so” and an inspectable mapping rule.</a:t>
            </a:r>
          </a:p>
          <a:p>
            <a:pPr marL="523248" indent="-523248">
              <a:lnSpc>
                <a:spcPct val="137971"/>
              </a:lnSpc>
              <a:buSzPct val="100000"/>
              <a:buFont typeface="+mj-lt"/>
              <a:buAutoNum type="arabicPeriod"/>
              <a:tabLst>
                <a:tab pos="523248" algn="l"/>
              </a:tabLst>
            </a:pPr>
            <a:r>
              <a:rPr lang="en-US" sz="2400" dirty="0">
                <a:latin typeface="IBM Plex Sans" panose="020B0503050203000203" pitchFamily="34" charset="0"/>
              </a:rPr>
              <a:t>The benchmark shows the system can run on real records, and makes the remaining semantic gaps measurable.</a:t>
            </a:r>
          </a:p>
        </p:txBody>
      </p:sp>
      <p:sp>
        <p:nvSpPr>
          <p:cNvPr id="176" name="Shape 164"/>
          <p:cNvSpPr/>
          <p:nvPr/>
        </p:nvSpPr>
        <p:spPr>
          <a:xfrm>
            <a:off x="1121967" y="36699487"/>
            <a:ext cx="28031279" cy="47555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7" name="Shape 165"/>
          <p:cNvSpPr/>
          <p:nvPr/>
        </p:nvSpPr>
        <p:spPr>
          <a:xfrm>
            <a:off x="1121967" y="41426963"/>
            <a:ext cx="28031279" cy="28031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178" name="Shape 166"/>
          <p:cNvSpPr/>
          <p:nvPr/>
        </p:nvSpPr>
        <p:spPr>
          <a:xfrm>
            <a:off x="1121967" y="36699488"/>
            <a:ext cx="28031279" cy="84094"/>
          </a:xfrm>
          <a:prstGeom prst="rect">
            <a:avLst/>
          </a:prstGeom>
          <a:solidFill>
            <a:srgbClr val="50C8AA"/>
          </a:solidFill>
          <a:ln/>
        </p:spPr>
      </p:sp>
      <p:sp>
        <p:nvSpPr>
          <p:cNvPr id="179" name="Shape 167"/>
          <p:cNvSpPr/>
          <p:nvPr/>
        </p:nvSpPr>
        <p:spPr>
          <a:xfrm>
            <a:off x="1121968" y="36699487"/>
            <a:ext cx="28031" cy="4755506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180" name="Shape 168"/>
          <p:cNvSpPr/>
          <p:nvPr/>
        </p:nvSpPr>
        <p:spPr>
          <a:xfrm>
            <a:off x="29125216" y="36699487"/>
            <a:ext cx="28031" cy="4755506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181" name="Text 169"/>
          <p:cNvSpPr/>
          <p:nvPr/>
        </p:nvSpPr>
        <p:spPr>
          <a:xfrm>
            <a:off x="1514404" y="37063895"/>
            <a:ext cx="3632854" cy="476532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lnSpcReduction="10000"/>
          </a:bodyPr>
          <a:lstStyle/>
          <a:p>
            <a:r>
              <a:rPr lang="en-US" sz="2207" b="1" kern="0" spc="353" dirty="0">
                <a:solidFill>
                  <a:srgbClr val="50C8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· FUTURE WORK</a:t>
            </a:r>
            <a:endParaRPr lang="en-US" sz="2207" dirty="0">
              <a:solidFill>
                <a:srgbClr val="50C8AA"/>
              </a:solidFill>
            </a:endParaRPr>
          </a:p>
        </p:txBody>
      </p:sp>
      <p:sp>
        <p:nvSpPr>
          <p:cNvPr id="182" name="Shape 170"/>
          <p:cNvSpPr/>
          <p:nvPr/>
        </p:nvSpPr>
        <p:spPr>
          <a:xfrm>
            <a:off x="5203321" y="37316177"/>
            <a:ext cx="23557487" cy="28031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183" name="Text 171"/>
          <p:cNvSpPr/>
          <p:nvPr/>
        </p:nvSpPr>
        <p:spPr>
          <a:xfrm>
            <a:off x="1514406" y="37596490"/>
            <a:ext cx="28063795" cy="677421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fontScale="92500" lnSpcReduction="20000"/>
          </a:bodyPr>
          <a:lstStyle/>
          <a:p>
            <a:pPr>
              <a:lnSpc>
                <a:spcPct val="112037"/>
              </a:lnSpc>
            </a:pPr>
            <a:r>
              <a:rPr lang="en-US" sz="3973" b="1" dirty="0">
                <a:solidFill>
                  <a:srgbClr val="0028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Graph-RAG over the crosswalk graph</a:t>
            </a:r>
            <a:endParaRPr lang="en-US" sz="3973" dirty="0"/>
          </a:p>
        </p:txBody>
      </p:sp>
      <p:sp>
        <p:nvSpPr>
          <p:cNvPr id="184" name="Text 172"/>
          <p:cNvSpPr/>
          <p:nvPr/>
        </p:nvSpPr>
        <p:spPr>
          <a:xfrm>
            <a:off x="1514406" y="38329972"/>
            <a:ext cx="18762269" cy="585387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fontScale="92500" lnSpcReduction="20000"/>
          </a:bodyPr>
          <a:lstStyle/>
          <a:p>
            <a:pPr>
              <a:lnSpc>
                <a:spcPct val="135066"/>
              </a:lnSpc>
            </a:pPr>
            <a:r>
              <a:rPr lang="en-US" sz="2760" dirty="0">
                <a:solidFill>
                  <a:srgbClr val="0A16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evidence chunks that justify extracted rules can propose new ones: retrieval-grounded, not hallucinated.</a:t>
            </a:r>
            <a:endParaRPr lang="en-US" sz="2760" dirty="0"/>
          </a:p>
        </p:txBody>
      </p:sp>
      <p:sp>
        <p:nvSpPr>
          <p:cNvPr id="185" name="Shape 173"/>
          <p:cNvSpPr/>
          <p:nvPr/>
        </p:nvSpPr>
        <p:spPr>
          <a:xfrm>
            <a:off x="1514406" y="39027486"/>
            <a:ext cx="6685461" cy="2091133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186" name="Shape 174"/>
          <p:cNvSpPr/>
          <p:nvPr/>
        </p:nvSpPr>
        <p:spPr>
          <a:xfrm>
            <a:off x="1514406" y="39027486"/>
            <a:ext cx="84094" cy="2091133"/>
          </a:xfrm>
          <a:prstGeom prst="rect">
            <a:avLst/>
          </a:prstGeom>
          <a:solidFill>
            <a:srgbClr val="50C8AA"/>
          </a:solidFill>
          <a:ln/>
        </p:spPr>
      </p:sp>
      <p:sp>
        <p:nvSpPr>
          <p:cNvPr id="187" name="Text 175"/>
          <p:cNvSpPr/>
          <p:nvPr/>
        </p:nvSpPr>
        <p:spPr>
          <a:xfrm>
            <a:off x="1598499" y="39080286"/>
            <a:ext cx="6545303" cy="532594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r>
              <a:rPr lang="en-US" sz="2800" b="1" dirty="0">
                <a:solidFill>
                  <a:srgbClr val="0028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Transitive paths</a:t>
            </a:r>
            <a:endParaRPr lang="en-US" sz="2800" dirty="0"/>
          </a:p>
        </p:txBody>
      </p:sp>
      <p:sp>
        <p:nvSpPr>
          <p:cNvPr id="188" name="Text 176"/>
          <p:cNvSpPr/>
          <p:nvPr/>
        </p:nvSpPr>
        <p:spPr>
          <a:xfrm>
            <a:off x="1623007" y="39728265"/>
            <a:ext cx="6502991" cy="1020771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/>
          </a:bodyPr>
          <a:lstStyle/>
          <a:p>
            <a:pPr>
              <a:lnSpc>
                <a:spcPct val="132064"/>
              </a:lnSpc>
            </a:pPr>
            <a:r>
              <a:rPr lang="en-US" sz="2000" dirty="0">
                <a:solidFill>
                  <a:srgbClr val="0A16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Discover A → B → C routes through the graph when no direct crosswalk exists.</a:t>
            </a:r>
            <a:endParaRPr lang="en-US" sz="2000" dirty="0"/>
          </a:p>
        </p:txBody>
      </p:sp>
      <p:sp>
        <p:nvSpPr>
          <p:cNvPr id="189" name="Shape 177"/>
          <p:cNvSpPr/>
          <p:nvPr/>
        </p:nvSpPr>
        <p:spPr>
          <a:xfrm>
            <a:off x="8368055" y="39027486"/>
            <a:ext cx="6685461" cy="2091133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190" name="Shape 178"/>
          <p:cNvSpPr/>
          <p:nvPr/>
        </p:nvSpPr>
        <p:spPr>
          <a:xfrm>
            <a:off x="8368055" y="39027486"/>
            <a:ext cx="84094" cy="2091133"/>
          </a:xfrm>
          <a:prstGeom prst="rect">
            <a:avLst/>
          </a:prstGeom>
          <a:solidFill>
            <a:srgbClr val="50C8AA"/>
          </a:solidFill>
          <a:ln/>
        </p:spPr>
      </p:sp>
      <p:sp>
        <p:nvSpPr>
          <p:cNvPr id="191" name="Text 179"/>
          <p:cNvSpPr/>
          <p:nvPr/>
        </p:nvSpPr>
        <p:spPr>
          <a:xfrm>
            <a:off x="8500514" y="39081569"/>
            <a:ext cx="6533843" cy="600977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/>
          </a:bodyPr>
          <a:lstStyle/>
          <a:p>
            <a:r>
              <a:rPr lang="en-US" sz="2800" b="1" dirty="0">
                <a:solidFill>
                  <a:srgbClr val="0028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Graph-RAG candidates</a:t>
            </a:r>
            <a:endParaRPr lang="en-US" sz="2800" dirty="0"/>
          </a:p>
        </p:txBody>
      </p:sp>
      <p:sp>
        <p:nvSpPr>
          <p:cNvPr id="192" name="Text 180"/>
          <p:cNvSpPr/>
          <p:nvPr/>
        </p:nvSpPr>
        <p:spPr>
          <a:xfrm>
            <a:off x="8500515" y="39672512"/>
            <a:ext cx="6496937" cy="1278226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/>
          </a:bodyPr>
          <a:lstStyle/>
          <a:p>
            <a:pPr>
              <a:lnSpc>
                <a:spcPct val="132064"/>
              </a:lnSpc>
            </a:pPr>
            <a:r>
              <a:rPr lang="en-US" sz="2000" dirty="0">
                <a:solidFill>
                  <a:srgbClr val="0A16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Retrieve evidence chunks from the graph to propose mappings for uncharted standard pairs.</a:t>
            </a:r>
            <a:endParaRPr lang="en-US" sz="2000" dirty="0"/>
          </a:p>
        </p:txBody>
      </p:sp>
      <p:sp>
        <p:nvSpPr>
          <p:cNvPr id="193" name="Shape 181"/>
          <p:cNvSpPr/>
          <p:nvPr/>
        </p:nvSpPr>
        <p:spPr>
          <a:xfrm>
            <a:off x="15221702" y="39027487"/>
            <a:ext cx="6685461" cy="2091132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194" name="Shape 182"/>
          <p:cNvSpPr/>
          <p:nvPr/>
        </p:nvSpPr>
        <p:spPr>
          <a:xfrm>
            <a:off x="15221701" y="39027486"/>
            <a:ext cx="84094" cy="2091133"/>
          </a:xfrm>
          <a:prstGeom prst="rect">
            <a:avLst/>
          </a:prstGeom>
          <a:solidFill>
            <a:srgbClr val="50C8AA"/>
          </a:solidFill>
          <a:ln/>
        </p:spPr>
      </p:sp>
      <p:sp>
        <p:nvSpPr>
          <p:cNvPr id="195" name="Text 183"/>
          <p:cNvSpPr/>
          <p:nvPr/>
        </p:nvSpPr>
        <p:spPr>
          <a:xfrm>
            <a:off x="15354067" y="39127121"/>
            <a:ext cx="6497032" cy="601143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/>
          </a:bodyPr>
          <a:lstStyle/>
          <a:p>
            <a:r>
              <a:rPr lang="en-US" sz="2800" b="1" dirty="0">
                <a:solidFill>
                  <a:srgbClr val="0028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Confidence from retrieval</a:t>
            </a:r>
            <a:endParaRPr lang="en-US" sz="2800" dirty="0"/>
          </a:p>
        </p:txBody>
      </p:sp>
      <p:sp>
        <p:nvSpPr>
          <p:cNvPr id="196" name="Text 184"/>
          <p:cNvSpPr/>
          <p:nvPr/>
        </p:nvSpPr>
        <p:spPr>
          <a:xfrm>
            <a:off x="15305795" y="39728266"/>
            <a:ext cx="6545304" cy="1020770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/>
          </a:bodyPr>
          <a:lstStyle/>
          <a:p>
            <a:pPr>
              <a:lnSpc>
                <a:spcPct val="132064"/>
              </a:lnSpc>
            </a:pPr>
            <a:r>
              <a:rPr lang="en-US" sz="2000" dirty="0">
                <a:solidFill>
                  <a:srgbClr val="0A16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 candidate rules by retrieval quality, not just model self-report.</a:t>
            </a:r>
            <a:endParaRPr lang="en-US" sz="2000" dirty="0"/>
          </a:p>
        </p:txBody>
      </p:sp>
      <p:sp>
        <p:nvSpPr>
          <p:cNvPr id="197" name="Shape 185"/>
          <p:cNvSpPr/>
          <p:nvPr/>
        </p:nvSpPr>
        <p:spPr>
          <a:xfrm>
            <a:off x="22075351" y="39027486"/>
            <a:ext cx="6685461" cy="2091133"/>
          </a:xfrm>
          <a:prstGeom prst="rect">
            <a:avLst/>
          </a:prstGeom>
          <a:solidFill>
            <a:srgbClr val="CDEEFB"/>
          </a:solidFill>
          <a:ln/>
        </p:spPr>
      </p:sp>
      <p:sp>
        <p:nvSpPr>
          <p:cNvPr id="198" name="Shape 186"/>
          <p:cNvSpPr/>
          <p:nvPr/>
        </p:nvSpPr>
        <p:spPr>
          <a:xfrm>
            <a:off x="22075350" y="39027486"/>
            <a:ext cx="84094" cy="2091133"/>
          </a:xfrm>
          <a:prstGeom prst="rect">
            <a:avLst/>
          </a:prstGeom>
          <a:solidFill>
            <a:srgbClr val="50C8AA"/>
          </a:solidFill>
          <a:ln/>
        </p:spPr>
      </p:sp>
      <p:sp>
        <p:nvSpPr>
          <p:cNvPr id="199" name="Text 187"/>
          <p:cNvSpPr/>
          <p:nvPr/>
        </p:nvSpPr>
        <p:spPr>
          <a:xfrm>
            <a:off x="22175017" y="39116806"/>
            <a:ext cx="6529728" cy="611459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/>
          </a:bodyPr>
          <a:lstStyle/>
          <a:p>
            <a:r>
              <a:rPr lang="en-US" sz="2800" b="1" dirty="0">
                <a:solidFill>
                  <a:srgbClr val="0028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Curator feedback loop</a:t>
            </a:r>
            <a:endParaRPr lang="en-US" sz="2800" dirty="0"/>
          </a:p>
        </p:txBody>
      </p:sp>
      <p:sp>
        <p:nvSpPr>
          <p:cNvPr id="200" name="Text 188"/>
          <p:cNvSpPr/>
          <p:nvPr/>
        </p:nvSpPr>
        <p:spPr>
          <a:xfrm>
            <a:off x="22159444" y="39692288"/>
            <a:ext cx="6491018" cy="1040113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/>
          </a:bodyPr>
          <a:lstStyle/>
          <a:p>
            <a:pPr>
              <a:lnSpc>
                <a:spcPct val="132064"/>
              </a:lnSpc>
            </a:pPr>
            <a:r>
              <a:rPr lang="en-US" sz="2000" dirty="0">
                <a:solidFill>
                  <a:srgbClr val="0A16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Accepted / rejected decisions feed back as supervised signal for the extractors.</a:t>
            </a:r>
            <a:endParaRPr lang="en-US" sz="2000" dirty="0"/>
          </a:p>
        </p:txBody>
      </p:sp>
      <p:sp>
        <p:nvSpPr>
          <p:cNvPr id="201" name="Shape 189"/>
          <p:cNvSpPr/>
          <p:nvPr/>
        </p:nvSpPr>
        <p:spPr>
          <a:xfrm>
            <a:off x="717" y="41906764"/>
            <a:ext cx="3784223" cy="84094"/>
          </a:xfrm>
          <a:prstGeom prst="rect">
            <a:avLst/>
          </a:prstGeom>
          <a:solidFill>
            <a:srgbClr val="002864"/>
          </a:solidFill>
          <a:ln/>
        </p:spPr>
      </p:sp>
      <p:sp>
        <p:nvSpPr>
          <p:cNvPr id="202" name="Shape 190"/>
          <p:cNvSpPr/>
          <p:nvPr/>
        </p:nvSpPr>
        <p:spPr>
          <a:xfrm>
            <a:off x="3784939" y="41906764"/>
            <a:ext cx="3784223" cy="84094"/>
          </a:xfrm>
          <a:prstGeom prst="rect">
            <a:avLst/>
          </a:prstGeom>
          <a:solidFill>
            <a:srgbClr val="14C8FF"/>
          </a:solidFill>
          <a:ln/>
        </p:spPr>
      </p:sp>
      <p:sp>
        <p:nvSpPr>
          <p:cNvPr id="203" name="Shape 191"/>
          <p:cNvSpPr/>
          <p:nvPr/>
        </p:nvSpPr>
        <p:spPr>
          <a:xfrm>
            <a:off x="7569162" y="41906764"/>
            <a:ext cx="3784223" cy="84094"/>
          </a:xfrm>
          <a:prstGeom prst="rect">
            <a:avLst/>
          </a:prstGeom>
          <a:solidFill>
            <a:srgbClr val="50C8AA"/>
          </a:solidFill>
          <a:ln/>
        </p:spPr>
      </p:sp>
      <p:sp>
        <p:nvSpPr>
          <p:cNvPr id="204" name="Shape 192"/>
          <p:cNvSpPr/>
          <p:nvPr/>
        </p:nvSpPr>
        <p:spPr>
          <a:xfrm>
            <a:off x="11353385" y="41906764"/>
            <a:ext cx="3784223" cy="84094"/>
          </a:xfrm>
          <a:prstGeom prst="rect">
            <a:avLst/>
          </a:prstGeom>
          <a:solidFill>
            <a:srgbClr val="8CD600"/>
          </a:solidFill>
          <a:ln/>
        </p:spPr>
      </p:sp>
      <p:sp>
        <p:nvSpPr>
          <p:cNvPr id="205" name="Shape 193"/>
          <p:cNvSpPr/>
          <p:nvPr/>
        </p:nvSpPr>
        <p:spPr>
          <a:xfrm>
            <a:off x="15137607" y="41906764"/>
            <a:ext cx="3784223" cy="84094"/>
          </a:xfrm>
          <a:prstGeom prst="rect">
            <a:avLst/>
          </a:prstGeom>
          <a:solidFill>
            <a:srgbClr val="FFD228"/>
          </a:solidFill>
          <a:ln/>
        </p:spPr>
      </p:sp>
      <p:sp>
        <p:nvSpPr>
          <p:cNvPr id="206" name="Shape 194"/>
          <p:cNvSpPr/>
          <p:nvPr/>
        </p:nvSpPr>
        <p:spPr>
          <a:xfrm>
            <a:off x="18921830" y="41906764"/>
            <a:ext cx="3784223" cy="84094"/>
          </a:xfrm>
          <a:prstGeom prst="rect">
            <a:avLst/>
          </a:prstGeom>
          <a:solidFill>
            <a:srgbClr val="F0781E"/>
          </a:solidFill>
          <a:ln/>
        </p:spPr>
      </p:sp>
      <p:sp>
        <p:nvSpPr>
          <p:cNvPr id="207" name="Shape 195"/>
          <p:cNvSpPr/>
          <p:nvPr/>
        </p:nvSpPr>
        <p:spPr>
          <a:xfrm>
            <a:off x="22706053" y="41906764"/>
            <a:ext cx="3784223" cy="84094"/>
          </a:xfrm>
          <a:prstGeom prst="rect">
            <a:avLst/>
          </a:prstGeom>
          <a:solidFill>
            <a:srgbClr val="A0235A"/>
          </a:solidFill>
          <a:ln/>
        </p:spPr>
      </p:sp>
      <p:sp>
        <p:nvSpPr>
          <p:cNvPr id="208" name="Shape 196"/>
          <p:cNvSpPr/>
          <p:nvPr/>
        </p:nvSpPr>
        <p:spPr>
          <a:xfrm>
            <a:off x="26490275" y="41906764"/>
            <a:ext cx="3784223" cy="84094"/>
          </a:xfrm>
          <a:prstGeom prst="rect">
            <a:avLst/>
          </a:prstGeom>
          <a:solidFill>
            <a:srgbClr val="5E3B99"/>
          </a:solidFill>
          <a:ln/>
        </p:spPr>
      </p:sp>
      <p:sp>
        <p:nvSpPr>
          <p:cNvPr id="209" name="Shape 197"/>
          <p:cNvSpPr/>
          <p:nvPr/>
        </p:nvSpPr>
        <p:spPr>
          <a:xfrm>
            <a:off x="716" y="41990858"/>
            <a:ext cx="30273781" cy="812907"/>
          </a:xfrm>
          <a:prstGeom prst="rect">
            <a:avLst/>
          </a:prstGeom>
          <a:solidFill>
            <a:srgbClr val="002864"/>
          </a:solidFill>
          <a:ln/>
        </p:spPr>
      </p:sp>
      <p:sp>
        <p:nvSpPr>
          <p:cNvPr id="210" name="Text 198"/>
          <p:cNvSpPr/>
          <p:nvPr/>
        </p:nvSpPr>
        <p:spPr>
          <a:xfrm>
            <a:off x="1121967" y="42215108"/>
            <a:ext cx="5841718" cy="476532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lnSpcReduction="10000"/>
          </a:bodyPr>
          <a:lstStyle/>
          <a:p>
            <a:r>
              <a:rPr lang="en-US" sz="2207" kern="0" spc="177" dirty="0">
                <a:solidFill>
                  <a:srgbClr val="50C8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CONTACT</a:t>
            </a:r>
            <a:r>
              <a:rPr lang="en-US" sz="2207" kern="0" spc="177" dirty="0">
                <a:solidFill>
                  <a:srgbClr val="05E5B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r>
              <a:rPr lang="en-US" sz="2207" kern="0" spc="177" dirty="0">
                <a:solidFill>
                  <a:srgbClr val="CDEEF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santiago.casas@dlr.de</a:t>
            </a:r>
            <a:endParaRPr lang="en-US" sz="2207" dirty="0"/>
          </a:p>
        </p:txBody>
      </p:sp>
      <p:sp>
        <p:nvSpPr>
          <p:cNvPr id="211" name="Text 199"/>
          <p:cNvSpPr/>
          <p:nvPr/>
        </p:nvSpPr>
        <p:spPr>
          <a:xfrm>
            <a:off x="8796932" y="42215108"/>
            <a:ext cx="11976195" cy="476532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fontScale="92500"/>
          </a:bodyPr>
          <a:lstStyle/>
          <a:p>
            <a:r>
              <a:rPr lang="en-US" sz="2207" kern="0" spc="177" dirty="0">
                <a:solidFill>
                  <a:srgbClr val="14C8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HELMHOLTZ METADATA COLLABORATION · DLR, SCIENTIFIC INFORMATION</a:t>
            </a:r>
            <a:endParaRPr lang="en-US" sz="2207" dirty="0"/>
          </a:p>
        </p:txBody>
      </p:sp>
      <p:sp>
        <p:nvSpPr>
          <p:cNvPr id="212" name="Text 200"/>
          <p:cNvSpPr/>
          <p:nvPr/>
        </p:nvSpPr>
        <p:spPr>
          <a:xfrm>
            <a:off x="22481801" y="42215108"/>
            <a:ext cx="6895695" cy="476532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lnSpcReduction="10000"/>
          </a:bodyPr>
          <a:lstStyle/>
          <a:p>
            <a:r>
              <a:rPr lang="en-US" sz="2207" kern="0" spc="177" dirty="0">
                <a:solidFill>
                  <a:srgbClr val="CDEEF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M²S³OM-graph</a:t>
            </a:r>
            <a:endParaRPr lang="en-US" sz="2207" dirty="0"/>
          </a:p>
        </p:txBody>
      </p:sp>
      <p:pic>
        <p:nvPicPr>
          <p:cNvPr id="390" name="Grafik 389">
            <a:extLst>
              <a:ext uri="{FF2B5EF4-FFF2-40B4-BE49-F238E27FC236}">
                <a16:creationId xmlns:a16="http://schemas.microsoft.com/office/drawing/2014/main" id="{4F98C7E9-EA88-E61E-5127-E595F04D45E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997" t="2137" r="37853" b="1814"/>
          <a:stretch/>
        </p:blipFill>
        <p:spPr>
          <a:xfrm>
            <a:off x="11415642" y="32078071"/>
            <a:ext cx="3032272" cy="4125726"/>
          </a:xfrm>
          <a:prstGeom prst="rect">
            <a:avLst/>
          </a:prstGeom>
        </p:spPr>
      </p:pic>
      <p:sp>
        <p:nvSpPr>
          <p:cNvPr id="79" name="Text 6">
            <a:extLst>
              <a:ext uri="{FF2B5EF4-FFF2-40B4-BE49-F238E27FC236}">
                <a16:creationId xmlns:a16="http://schemas.microsoft.com/office/drawing/2014/main" id="{70393296-08DE-FD19-39D9-664784C0655A}"/>
              </a:ext>
            </a:extLst>
          </p:cNvPr>
          <p:cNvSpPr/>
          <p:nvPr/>
        </p:nvSpPr>
        <p:spPr>
          <a:xfrm>
            <a:off x="1194709" y="4392739"/>
            <a:ext cx="12050784" cy="560626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lnSpcReduction="10000"/>
          </a:bodyPr>
          <a:lstStyle/>
          <a:p>
            <a:endParaRPr lang="en-US" sz="2760" dirty="0"/>
          </a:p>
        </p:txBody>
      </p:sp>
      <p:sp>
        <p:nvSpPr>
          <p:cNvPr id="83" name="Text 6">
            <a:extLst>
              <a:ext uri="{FF2B5EF4-FFF2-40B4-BE49-F238E27FC236}">
                <a16:creationId xmlns:a16="http://schemas.microsoft.com/office/drawing/2014/main" id="{07C749B7-F17B-6F58-FCC3-3348BAD6FB59}"/>
              </a:ext>
            </a:extLst>
          </p:cNvPr>
          <p:cNvSpPr/>
          <p:nvPr/>
        </p:nvSpPr>
        <p:spPr>
          <a:xfrm>
            <a:off x="4884700" y="4295329"/>
            <a:ext cx="12050784" cy="560626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lnSpcReduction="10000"/>
          </a:bodyPr>
          <a:lstStyle/>
          <a:p>
            <a:endParaRPr lang="en-US" sz="2760" dirty="0"/>
          </a:p>
        </p:txBody>
      </p:sp>
      <p:sp>
        <p:nvSpPr>
          <p:cNvPr id="87" name="Text 6">
            <a:extLst>
              <a:ext uri="{FF2B5EF4-FFF2-40B4-BE49-F238E27FC236}">
                <a16:creationId xmlns:a16="http://schemas.microsoft.com/office/drawing/2014/main" id="{1C2BA1F0-4C1C-E4A2-3C98-97280D7C5D4E}"/>
              </a:ext>
            </a:extLst>
          </p:cNvPr>
          <p:cNvSpPr/>
          <p:nvPr/>
        </p:nvSpPr>
        <p:spPr>
          <a:xfrm>
            <a:off x="1591027" y="4161468"/>
            <a:ext cx="5897781" cy="482556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r>
              <a:rPr lang="en-US" sz="2800" dirty="0">
                <a:solidFill>
                  <a:srgbClr val="A8C2F0"/>
                </a:solidFill>
                <a:latin typeface="IBM Plex Sans" pitchFamily="34" charset="0"/>
              </a:rPr>
              <a:t> orcid.org/0000-0002-4751-5138</a:t>
            </a:r>
            <a:endParaRPr lang="en-US" sz="2800" dirty="0"/>
          </a:p>
        </p:txBody>
      </p:sp>
      <p:sp>
        <p:nvSpPr>
          <p:cNvPr id="165" name="Shape 75">
            <a:extLst>
              <a:ext uri="{FF2B5EF4-FFF2-40B4-BE49-F238E27FC236}">
                <a16:creationId xmlns:a16="http://schemas.microsoft.com/office/drawing/2014/main" id="{24796C7E-B1E0-5971-B326-8310BAB2C00A}"/>
              </a:ext>
            </a:extLst>
          </p:cNvPr>
          <p:cNvSpPr/>
          <p:nvPr/>
        </p:nvSpPr>
        <p:spPr>
          <a:xfrm>
            <a:off x="17751894" y="15080497"/>
            <a:ext cx="3307691" cy="2099530"/>
          </a:xfrm>
          <a:prstGeom prst="rect">
            <a:avLst/>
          </a:prstGeom>
          <a:solidFill>
            <a:srgbClr val="CDEEFB"/>
          </a:solidFill>
          <a:ln/>
        </p:spPr>
        <p:txBody>
          <a:bodyPr/>
          <a:lstStyle/>
          <a:p>
            <a:endParaRPr lang="de-DE" sz="15589" dirty="0"/>
          </a:p>
        </p:txBody>
      </p:sp>
      <p:pic>
        <p:nvPicPr>
          <p:cNvPr id="92" name="Grafik 91">
            <a:extLst>
              <a:ext uri="{FF2B5EF4-FFF2-40B4-BE49-F238E27FC236}">
                <a16:creationId xmlns:a16="http://schemas.microsoft.com/office/drawing/2014/main" id="{2B38CC29-D557-93CA-1DAA-63C8470B99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3015" y="4259436"/>
            <a:ext cx="406034" cy="406034"/>
          </a:xfrm>
          <a:prstGeom prst="rect">
            <a:avLst/>
          </a:prstGeom>
        </p:spPr>
      </p:pic>
      <p:sp>
        <p:nvSpPr>
          <p:cNvPr id="162" name="Text 6">
            <a:extLst>
              <a:ext uri="{FF2B5EF4-FFF2-40B4-BE49-F238E27FC236}">
                <a16:creationId xmlns:a16="http://schemas.microsoft.com/office/drawing/2014/main" id="{C9E860AD-124C-5A03-E5E3-55B5CBA48501}"/>
              </a:ext>
            </a:extLst>
          </p:cNvPr>
          <p:cNvSpPr/>
          <p:nvPr/>
        </p:nvSpPr>
        <p:spPr>
          <a:xfrm>
            <a:off x="7655617" y="4142988"/>
            <a:ext cx="3343706" cy="482556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r>
              <a:rPr lang="en-US" sz="2800" dirty="0">
                <a:solidFill>
                  <a:srgbClr val="A8C2F0"/>
                </a:solidFill>
                <a:latin typeface="IBM Plex Sans" pitchFamily="34" charset="0"/>
              </a:rPr>
              <a:t> ror.org/04bwf3e34</a:t>
            </a:r>
            <a:endParaRPr lang="en-US" sz="2800" dirty="0"/>
          </a:p>
        </p:txBody>
      </p:sp>
      <p:sp>
        <p:nvSpPr>
          <p:cNvPr id="102" name="Text 95"/>
          <p:cNvSpPr/>
          <p:nvPr/>
        </p:nvSpPr>
        <p:spPr>
          <a:xfrm>
            <a:off x="17785161" y="15068407"/>
            <a:ext cx="3139503" cy="545957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pPr algn="ctr">
              <a:lnSpc>
                <a:spcPct val="111944"/>
              </a:lnSpc>
            </a:pPr>
            <a:r>
              <a:rPr lang="en-US" sz="2500" b="1" dirty="0">
                <a:solidFill>
                  <a:srgbClr val="0028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SSSOM export</a:t>
            </a:r>
            <a:endParaRPr lang="en-US" sz="2500" dirty="0"/>
          </a:p>
        </p:txBody>
      </p:sp>
      <p:sp>
        <p:nvSpPr>
          <p:cNvPr id="103" name="Text 96"/>
          <p:cNvSpPr/>
          <p:nvPr/>
        </p:nvSpPr>
        <p:spPr>
          <a:xfrm>
            <a:off x="17785161" y="15548481"/>
            <a:ext cx="3307691" cy="1590769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 lnSpcReduction="10000"/>
          </a:bodyPr>
          <a:lstStyle/>
          <a:p>
            <a:pPr>
              <a:lnSpc>
                <a:spcPct val="128000"/>
              </a:lnSpc>
            </a:pPr>
            <a:r>
              <a:rPr lang="en-US" sz="2000" dirty="0">
                <a:solidFill>
                  <a:srgbClr val="002864">
                    <a:alpha val="9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Rules emitted as TSV with confidence level using the SKOS vocabulary, graph-ready</a:t>
            </a:r>
            <a:endParaRPr lang="en-US" sz="2000" dirty="0"/>
          </a:p>
        </p:txBody>
      </p:sp>
      <p:sp>
        <p:nvSpPr>
          <p:cNvPr id="166" name="Shape 75">
            <a:extLst>
              <a:ext uri="{FF2B5EF4-FFF2-40B4-BE49-F238E27FC236}">
                <a16:creationId xmlns:a16="http://schemas.microsoft.com/office/drawing/2014/main" id="{FDF7DAF9-2E81-B72E-5239-3A3A2AC08246}"/>
              </a:ext>
            </a:extLst>
          </p:cNvPr>
          <p:cNvSpPr/>
          <p:nvPr/>
        </p:nvSpPr>
        <p:spPr>
          <a:xfrm>
            <a:off x="21383721" y="15080817"/>
            <a:ext cx="3307691" cy="2099530"/>
          </a:xfrm>
          <a:prstGeom prst="rect">
            <a:avLst/>
          </a:prstGeom>
          <a:solidFill>
            <a:srgbClr val="CDEEFB"/>
          </a:solidFill>
          <a:ln/>
        </p:spPr>
        <p:txBody>
          <a:bodyPr/>
          <a:lstStyle/>
          <a:p>
            <a:endParaRPr lang="de-DE" sz="15589" dirty="0"/>
          </a:p>
        </p:txBody>
      </p:sp>
      <p:sp>
        <p:nvSpPr>
          <p:cNvPr id="106" name="Text 99"/>
          <p:cNvSpPr/>
          <p:nvPr/>
        </p:nvSpPr>
        <p:spPr>
          <a:xfrm>
            <a:off x="21383721" y="15093824"/>
            <a:ext cx="3307691" cy="489697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pPr algn="ctr">
              <a:lnSpc>
                <a:spcPct val="111944"/>
              </a:lnSpc>
            </a:pPr>
            <a:r>
              <a:rPr lang="en-US" sz="2500" b="1" dirty="0">
                <a:solidFill>
                  <a:srgbClr val="0028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Graph load</a:t>
            </a:r>
            <a:endParaRPr lang="en-US" sz="2500" dirty="0"/>
          </a:p>
        </p:txBody>
      </p:sp>
      <p:sp>
        <p:nvSpPr>
          <p:cNvPr id="107" name="Text 100"/>
          <p:cNvSpPr/>
          <p:nvPr/>
        </p:nvSpPr>
        <p:spPr>
          <a:xfrm>
            <a:off x="21383721" y="15637856"/>
            <a:ext cx="3307691" cy="1485425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/>
          </a:bodyPr>
          <a:lstStyle/>
          <a:p>
            <a:r>
              <a:rPr lang="en-US" sz="2000" dirty="0">
                <a:solidFill>
                  <a:srgbClr val="002864">
                    <a:alpha val="9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SurrealDB stores standards as nodes, rules as edges.</a:t>
            </a:r>
            <a:endParaRPr lang="en-US" sz="2000" dirty="0"/>
          </a:p>
        </p:txBody>
      </p:sp>
      <p:sp>
        <p:nvSpPr>
          <p:cNvPr id="213" name="Shape 75">
            <a:extLst>
              <a:ext uri="{FF2B5EF4-FFF2-40B4-BE49-F238E27FC236}">
                <a16:creationId xmlns:a16="http://schemas.microsoft.com/office/drawing/2014/main" id="{27143566-20C2-AB53-44F6-93617F6FF644}"/>
              </a:ext>
            </a:extLst>
          </p:cNvPr>
          <p:cNvSpPr/>
          <p:nvPr/>
        </p:nvSpPr>
        <p:spPr>
          <a:xfrm>
            <a:off x="25036146" y="15109625"/>
            <a:ext cx="3307691" cy="2099530"/>
          </a:xfrm>
          <a:prstGeom prst="rect">
            <a:avLst/>
          </a:prstGeom>
          <a:solidFill>
            <a:srgbClr val="CDEEFB"/>
          </a:solidFill>
          <a:ln/>
        </p:spPr>
        <p:txBody>
          <a:bodyPr/>
          <a:lstStyle/>
          <a:p>
            <a:endParaRPr lang="de-DE" sz="15589" dirty="0"/>
          </a:p>
        </p:txBody>
      </p:sp>
      <p:sp>
        <p:nvSpPr>
          <p:cNvPr id="111" name="Text 104"/>
          <p:cNvSpPr/>
          <p:nvPr/>
        </p:nvSpPr>
        <p:spPr>
          <a:xfrm>
            <a:off x="25016496" y="15605829"/>
            <a:ext cx="3346660" cy="1547327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/>
          </a:bodyPr>
          <a:lstStyle/>
          <a:p>
            <a:r>
              <a:rPr lang="en-US" sz="2000" dirty="0">
                <a:solidFill>
                  <a:srgbClr val="002864">
                    <a:alpha val="9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Conversion engine transforms harvested OAI-PMH records on demand.</a:t>
            </a:r>
            <a:endParaRPr lang="en-US" sz="2000" dirty="0"/>
          </a:p>
        </p:txBody>
      </p:sp>
      <p:sp>
        <p:nvSpPr>
          <p:cNvPr id="110" name="Text 103"/>
          <p:cNvSpPr/>
          <p:nvPr/>
        </p:nvSpPr>
        <p:spPr>
          <a:xfrm>
            <a:off x="25025170" y="15071524"/>
            <a:ext cx="3307691" cy="504761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pPr algn="ctr">
              <a:lnSpc>
                <a:spcPct val="111944"/>
              </a:lnSpc>
            </a:pPr>
            <a:r>
              <a:rPr lang="en-US" sz="2500" b="1" dirty="0">
                <a:solidFill>
                  <a:srgbClr val="0028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Apply at runtime</a:t>
            </a:r>
            <a:endParaRPr lang="en-US" sz="2500" dirty="0"/>
          </a:p>
        </p:txBody>
      </p:sp>
      <p:sp>
        <p:nvSpPr>
          <p:cNvPr id="214" name="Pfeil: nach rechts 213">
            <a:extLst>
              <a:ext uri="{FF2B5EF4-FFF2-40B4-BE49-F238E27FC236}">
                <a16:creationId xmlns:a16="http://schemas.microsoft.com/office/drawing/2014/main" id="{05E3F3EB-F96D-A7C2-C648-042B5BABE5BE}"/>
              </a:ext>
            </a:extLst>
          </p:cNvPr>
          <p:cNvSpPr/>
          <p:nvPr/>
        </p:nvSpPr>
        <p:spPr>
          <a:xfrm>
            <a:off x="24744860" y="15886156"/>
            <a:ext cx="230343" cy="254720"/>
          </a:xfrm>
          <a:prstGeom prst="rightArrow">
            <a:avLst/>
          </a:prstGeom>
          <a:solidFill>
            <a:srgbClr val="F078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15" name="Pfeil: nach rechts 214">
            <a:extLst>
              <a:ext uri="{FF2B5EF4-FFF2-40B4-BE49-F238E27FC236}">
                <a16:creationId xmlns:a16="http://schemas.microsoft.com/office/drawing/2014/main" id="{0D409EC1-4B3A-00E7-83E7-60E769E84A04}"/>
              </a:ext>
            </a:extLst>
          </p:cNvPr>
          <p:cNvSpPr/>
          <p:nvPr/>
        </p:nvSpPr>
        <p:spPr>
          <a:xfrm>
            <a:off x="21114981" y="15886156"/>
            <a:ext cx="230343" cy="254720"/>
          </a:xfrm>
          <a:prstGeom prst="rightArrow">
            <a:avLst/>
          </a:prstGeom>
          <a:solidFill>
            <a:srgbClr val="FFD2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16" name="Shape 15">
            <a:extLst>
              <a:ext uri="{FF2B5EF4-FFF2-40B4-BE49-F238E27FC236}">
                <a16:creationId xmlns:a16="http://schemas.microsoft.com/office/drawing/2014/main" id="{13435C3B-9527-1FFB-9AC5-7BAB34885017}"/>
              </a:ext>
            </a:extLst>
          </p:cNvPr>
          <p:cNvSpPr/>
          <p:nvPr/>
        </p:nvSpPr>
        <p:spPr>
          <a:xfrm>
            <a:off x="24576657" y="5200601"/>
            <a:ext cx="4520526" cy="1706978"/>
          </a:xfrm>
          <a:prstGeom prst="rect">
            <a:avLst/>
          </a:prstGeom>
          <a:solidFill>
            <a:srgbClr val="A0235A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217" name="Pfeil: nach rechts 216">
            <a:extLst>
              <a:ext uri="{FF2B5EF4-FFF2-40B4-BE49-F238E27FC236}">
                <a16:creationId xmlns:a16="http://schemas.microsoft.com/office/drawing/2014/main" id="{77382FBF-42C4-FADE-4B58-B5BFB063242B}"/>
              </a:ext>
            </a:extLst>
          </p:cNvPr>
          <p:cNvSpPr/>
          <p:nvPr/>
        </p:nvSpPr>
        <p:spPr>
          <a:xfrm>
            <a:off x="17523976" y="15890893"/>
            <a:ext cx="230343" cy="254720"/>
          </a:xfrm>
          <a:prstGeom prst="rightArrow">
            <a:avLst/>
          </a:prstGeom>
          <a:solidFill>
            <a:srgbClr val="8CD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18" name="Pfeil: nach rechts 217">
            <a:extLst>
              <a:ext uri="{FF2B5EF4-FFF2-40B4-BE49-F238E27FC236}">
                <a16:creationId xmlns:a16="http://schemas.microsoft.com/office/drawing/2014/main" id="{7CDEF9B4-D4D4-0E4D-EBB3-FD94C696707B}"/>
              </a:ext>
            </a:extLst>
          </p:cNvPr>
          <p:cNvSpPr/>
          <p:nvPr/>
        </p:nvSpPr>
        <p:spPr>
          <a:xfrm>
            <a:off x="14650802" y="15943156"/>
            <a:ext cx="230343" cy="254720"/>
          </a:xfrm>
          <a:prstGeom prst="rightArrow">
            <a:avLst/>
          </a:prstGeom>
          <a:solidFill>
            <a:srgbClr val="05E5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19" name="Pfeil: nach rechts 218">
            <a:extLst>
              <a:ext uri="{FF2B5EF4-FFF2-40B4-BE49-F238E27FC236}">
                <a16:creationId xmlns:a16="http://schemas.microsoft.com/office/drawing/2014/main" id="{2D802930-7416-91BF-3F7D-0A04DF3FE9CA}"/>
              </a:ext>
            </a:extLst>
          </p:cNvPr>
          <p:cNvSpPr/>
          <p:nvPr/>
        </p:nvSpPr>
        <p:spPr>
          <a:xfrm>
            <a:off x="11656193" y="15956056"/>
            <a:ext cx="230343" cy="254720"/>
          </a:xfrm>
          <a:prstGeom prst="rightArrow">
            <a:avLst/>
          </a:prstGeom>
          <a:solidFill>
            <a:srgbClr val="14C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20" name="Pfeil: nach rechts 219">
            <a:extLst>
              <a:ext uri="{FF2B5EF4-FFF2-40B4-BE49-F238E27FC236}">
                <a16:creationId xmlns:a16="http://schemas.microsoft.com/office/drawing/2014/main" id="{A586389B-4387-2B76-C222-26A9842873B2}"/>
              </a:ext>
            </a:extLst>
          </p:cNvPr>
          <p:cNvSpPr/>
          <p:nvPr/>
        </p:nvSpPr>
        <p:spPr>
          <a:xfrm>
            <a:off x="8015804" y="16011067"/>
            <a:ext cx="230343" cy="254720"/>
          </a:xfrm>
          <a:prstGeom prst="rightArrow">
            <a:avLst/>
          </a:prstGeom>
          <a:solidFill>
            <a:srgbClr val="002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226" name="Grafik 222">
            <a:extLst>
              <a:ext uri="{FF2B5EF4-FFF2-40B4-BE49-F238E27FC236}">
                <a16:creationId xmlns:a16="http://schemas.microsoft.com/office/drawing/2014/main" id="{686A0F35-E988-7C19-C082-F76F49637B01}"/>
              </a:ext>
            </a:extLst>
          </p:cNvPr>
          <p:cNvGrpSpPr/>
          <p:nvPr/>
        </p:nvGrpSpPr>
        <p:grpSpPr>
          <a:xfrm>
            <a:off x="1551097" y="27940791"/>
            <a:ext cx="9377183" cy="7993359"/>
            <a:chOff x="1687770" y="28130098"/>
            <a:chExt cx="9377183" cy="7993359"/>
          </a:xfrm>
        </p:grpSpPr>
        <p:sp>
          <p:nvSpPr>
            <p:cNvPr id="227" name="Freihandform: Form 226">
              <a:extLst>
                <a:ext uri="{FF2B5EF4-FFF2-40B4-BE49-F238E27FC236}">
                  <a16:creationId xmlns:a16="http://schemas.microsoft.com/office/drawing/2014/main" id="{08764B3F-96CD-E767-3F49-80108D69D434}"/>
                </a:ext>
              </a:extLst>
            </p:cNvPr>
            <p:cNvSpPr/>
            <p:nvPr/>
          </p:nvSpPr>
          <p:spPr>
            <a:xfrm>
              <a:off x="1692912" y="28130098"/>
              <a:ext cx="9372041" cy="7991261"/>
            </a:xfrm>
            <a:custGeom>
              <a:avLst/>
              <a:gdLst>
                <a:gd name="connsiteX0" fmla="*/ 0 w 9372041"/>
                <a:gd name="connsiteY0" fmla="*/ 0 h 7991261"/>
                <a:gd name="connsiteX1" fmla="*/ 9372042 w 9372041"/>
                <a:gd name="connsiteY1" fmla="*/ 0 h 7991261"/>
                <a:gd name="connsiteX2" fmla="*/ 9372042 w 9372041"/>
                <a:gd name="connsiteY2" fmla="*/ 7991262 h 7991261"/>
                <a:gd name="connsiteX3" fmla="*/ 0 w 9372041"/>
                <a:gd name="connsiteY3" fmla="*/ 7991262 h 7991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72041" h="7991261">
                  <a:moveTo>
                    <a:pt x="0" y="0"/>
                  </a:moveTo>
                  <a:lnTo>
                    <a:pt x="9372042" y="0"/>
                  </a:lnTo>
                  <a:lnTo>
                    <a:pt x="9372042" y="7991262"/>
                  </a:lnTo>
                  <a:lnTo>
                    <a:pt x="0" y="7991262"/>
                  </a:lnTo>
                  <a:close/>
                </a:path>
              </a:pathLst>
            </a:custGeom>
            <a:solidFill>
              <a:srgbClr val="FFFFFF"/>
            </a:solidFill>
            <a:ln w="11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grpSp>
          <p:nvGrpSpPr>
            <p:cNvPr id="228" name="Grafik 222">
              <a:extLst>
                <a:ext uri="{FF2B5EF4-FFF2-40B4-BE49-F238E27FC236}">
                  <a16:creationId xmlns:a16="http://schemas.microsoft.com/office/drawing/2014/main" id="{7ABA807A-09E0-737B-1660-E10005440ED4}"/>
                </a:ext>
              </a:extLst>
            </p:cNvPr>
            <p:cNvGrpSpPr/>
            <p:nvPr/>
          </p:nvGrpSpPr>
          <p:grpSpPr>
            <a:xfrm>
              <a:off x="1687770" y="28160296"/>
              <a:ext cx="9364581" cy="7963161"/>
              <a:chOff x="1687770" y="28160296"/>
              <a:chExt cx="9364581" cy="7963161"/>
            </a:xfrm>
          </p:grpSpPr>
          <p:sp>
            <p:nvSpPr>
              <p:cNvPr id="229" name="Freihandform: Form 228">
                <a:extLst>
                  <a:ext uri="{FF2B5EF4-FFF2-40B4-BE49-F238E27FC236}">
                    <a16:creationId xmlns:a16="http://schemas.microsoft.com/office/drawing/2014/main" id="{8CE3CE76-70C4-33B3-5B32-6E362535E7CA}"/>
                  </a:ext>
                </a:extLst>
              </p:cNvPr>
              <p:cNvSpPr/>
              <p:nvPr/>
            </p:nvSpPr>
            <p:spPr>
              <a:xfrm>
                <a:off x="7267486" y="32976177"/>
                <a:ext cx="729079" cy="683296"/>
              </a:xfrm>
              <a:custGeom>
                <a:avLst/>
                <a:gdLst>
                  <a:gd name="connsiteX0" fmla="*/ 729577 w 729079"/>
                  <a:gd name="connsiteY0" fmla="*/ 401509 h 683296"/>
                  <a:gd name="connsiteX1" fmla="*/ 246304 w 729079"/>
                  <a:gd name="connsiteY1" fmla="*/ 200433 h 683296"/>
                  <a:gd name="connsiteX2" fmla="*/ 229908 w 729079"/>
                  <a:gd name="connsiteY2" fmla="*/ 683706 h 683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29079" h="683296">
                    <a:moveTo>
                      <a:pt x="729577" y="401509"/>
                    </a:moveTo>
                    <a:cubicBezTo>
                      <a:pt x="729577" y="-54723"/>
                      <a:pt x="568485" y="-121748"/>
                      <a:pt x="246304" y="200433"/>
                    </a:cubicBezTo>
                    <a:cubicBezTo>
                      <a:pt x="-75878" y="522615"/>
                      <a:pt x="-81344" y="683706"/>
                      <a:pt x="229908" y="683706"/>
                    </a:cubicBezTo>
                  </a:path>
                </a:pathLst>
              </a:custGeom>
              <a:noFill/>
              <a:ln w="155252" cap="flat">
                <a:solidFill>
                  <a:srgbClr val="50C878">
                    <a:alpha val="7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30" name="Freihandform: Form 229">
                <a:extLst>
                  <a:ext uri="{FF2B5EF4-FFF2-40B4-BE49-F238E27FC236}">
                    <a16:creationId xmlns:a16="http://schemas.microsoft.com/office/drawing/2014/main" id="{718CF5E5-54AE-2CE0-686B-0FB669AE05C1}"/>
                  </a:ext>
                </a:extLst>
              </p:cNvPr>
              <p:cNvSpPr/>
              <p:nvPr/>
            </p:nvSpPr>
            <p:spPr>
              <a:xfrm>
                <a:off x="7442097" y="33520089"/>
                <a:ext cx="272272" cy="270106"/>
              </a:xfrm>
              <a:custGeom>
                <a:avLst/>
                <a:gdLst>
                  <a:gd name="connsiteX0" fmla="*/ 496 w 272272"/>
                  <a:gd name="connsiteY0" fmla="*/ 270525 h 270106"/>
                  <a:gd name="connsiteX1" fmla="*/ 272768 w 272272"/>
                  <a:gd name="connsiteY1" fmla="*/ 139804 h 270106"/>
                  <a:gd name="connsiteX2" fmla="*/ 4828 w 272272"/>
                  <a:gd name="connsiteY2" fmla="*/ 419 h 270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2272" h="270106">
                    <a:moveTo>
                      <a:pt x="496" y="270525"/>
                    </a:moveTo>
                    <a:lnTo>
                      <a:pt x="272768" y="139804"/>
                    </a:lnTo>
                    <a:lnTo>
                      <a:pt x="4828" y="419"/>
                    </a:lnTo>
                    <a:close/>
                  </a:path>
                </a:pathLst>
              </a:custGeom>
              <a:solidFill>
                <a:srgbClr val="FFFFFF"/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31" name="Freihandform: Form 230">
                <a:extLst>
                  <a:ext uri="{FF2B5EF4-FFF2-40B4-BE49-F238E27FC236}">
                    <a16:creationId xmlns:a16="http://schemas.microsoft.com/office/drawing/2014/main" id="{C35A28C9-94F4-3554-5F51-9EF83CD1A7CB}"/>
                  </a:ext>
                </a:extLst>
              </p:cNvPr>
              <p:cNvSpPr/>
              <p:nvPr/>
            </p:nvSpPr>
            <p:spPr>
              <a:xfrm>
                <a:off x="7442097" y="33520089"/>
                <a:ext cx="272272" cy="270106"/>
              </a:xfrm>
              <a:custGeom>
                <a:avLst/>
                <a:gdLst>
                  <a:gd name="connsiteX0" fmla="*/ 496 w 272272"/>
                  <a:gd name="connsiteY0" fmla="*/ 270525 h 270106"/>
                  <a:gd name="connsiteX1" fmla="*/ 272768 w 272272"/>
                  <a:gd name="connsiteY1" fmla="*/ 139804 h 270106"/>
                  <a:gd name="connsiteX2" fmla="*/ 4828 w 272272"/>
                  <a:gd name="connsiteY2" fmla="*/ 419 h 270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2272" h="270106">
                    <a:moveTo>
                      <a:pt x="496" y="270525"/>
                    </a:moveTo>
                    <a:lnTo>
                      <a:pt x="272768" y="139804"/>
                    </a:lnTo>
                    <a:lnTo>
                      <a:pt x="4828" y="419"/>
                    </a:lnTo>
                    <a:close/>
                  </a:path>
                </a:pathLst>
              </a:custGeom>
              <a:solidFill>
                <a:srgbClr val="50C878">
                  <a:alpha val="7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32" name="Freihandform: Form 231">
                <a:extLst>
                  <a:ext uri="{FF2B5EF4-FFF2-40B4-BE49-F238E27FC236}">
                    <a16:creationId xmlns:a16="http://schemas.microsoft.com/office/drawing/2014/main" id="{1DF17571-15D7-21D6-112E-7E294B7F84D5}"/>
                  </a:ext>
                </a:extLst>
              </p:cNvPr>
              <p:cNvSpPr/>
              <p:nvPr/>
            </p:nvSpPr>
            <p:spPr>
              <a:xfrm>
                <a:off x="3773401" y="29810121"/>
                <a:ext cx="1150016" cy="2192431"/>
              </a:xfrm>
              <a:custGeom>
                <a:avLst/>
                <a:gdLst>
                  <a:gd name="connsiteX0" fmla="*/ 402 w 1150016"/>
                  <a:gd name="connsiteY0" fmla="*/ 2192771 h 2192431"/>
                  <a:gd name="connsiteX1" fmla="*/ 1150419 w 1150016"/>
                  <a:gd name="connsiteY1" fmla="*/ 339 h 2192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50016" h="2192431">
                    <a:moveTo>
                      <a:pt x="402" y="2192771"/>
                    </a:moveTo>
                    <a:lnTo>
                      <a:pt x="1150419" y="339"/>
                    </a:lnTo>
                  </a:path>
                </a:pathLst>
              </a:custGeom>
              <a:noFill/>
              <a:ln w="59685" cap="flat">
                <a:solidFill>
                  <a:srgbClr val="50C878">
                    <a:alpha val="7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33" name="Freihandform: Form 232">
                <a:extLst>
                  <a:ext uri="{FF2B5EF4-FFF2-40B4-BE49-F238E27FC236}">
                    <a16:creationId xmlns:a16="http://schemas.microsoft.com/office/drawing/2014/main" id="{90B55367-A3F9-9AE6-01CA-A895F231DB5B}"/>
                  </a:ext>
                </a:extLst>
              </p:cNvPr>
              <p:cNvSpPr/>
              <p:nvPr/>
            </p:nvSpPr>
            <p:spPr>
              <a:xfrm>
                <a:off x="4858573" y="29736094"/>
                <a:ext cx="103679" cy="127739"/>
              </a:xfrm>
              <a:custGeom>
                <a:avLst/>
                <a:gdLst>
                  <a:gd name="connsiteX0" fmla="*/ 101613 w 103679"/>
                  <a:gd name="connsiteY0" fmla="*/ 128047 h 127739"/>
                  <a:gd name="connsiteX1" fmla="*/ 104098 w 103679"/>
                  <a:gd name="connsiteY1" fmla="*/ 307 h 127739"/>
                  <a:gd name="connsiteX2" fmla="*/ 419 w 103679"/>
                  <a:gd name="connsiteY2" fmla="*/ 74956 h 12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3679" h="127739">
                    <a:moveTo>
                      <a:pt x="101613" y="128047"/>
                    </a:moveTo>
                    <a:lnTo>
                      <a:pt x="104098" y="307"/>
                    </a:lnTo>
                    <a:lnTo>
                      <a:pt x="419" y="74956"/>
                    </a:lnTo>
                    <a:close/>
                  </a:path>
                </a:pathLst>
              </a:custGeom>
              <a:solidFill>
                <a:srgbClr val="FFFFFF"/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34" name="Freihandform: Form 233">
                <a:extLst>
                  <a:ext uri="{FF2B5EF4-FFF2-40B4-BE49-F238E27FC236}">
                    <a16:creationId xmlns:a16="http://schemas.microsoft.com/office/drawing/2014/main" id="{0DA28F08-CC91-45D0-C970-8DBE818783C2}"/>
                  </a:ext>
                </a:extLst>
              </p:cNvPr>
              <p:cNvSpPr/>
              <p:nvPr/>
            </p:nvSpPr>
            <p:spPr>
              <a:xfrm>
                <a:off x="4858573" y="29736094"/>
                <a:ext cx="103679" cy="127739"/>
              </a:xfrm>
              <a:custGeom>
                <a:avLst/>
                <a:gdLst>
                  <a:gd name="connsiteX0" fmla="*/ 101613 w 103679"/>
                  <a:gd name="connsiteY0" fmla="*/ 128047 h 127739"/>
                  <a:gd name="connsiteX1" fmla="*/ 104098 w 103679"/>
                  <a:gd name="connsiteY1" fmla="*/ 307 h 127739"/>
                  <a:gd name="connsiteX2" fmla="*/ 419 w 103679"/>
                  <a:gd name="connsiteY2" fmla="*/ 74956 h 12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3679" h="127739">
                    <a:moveTo>
                      <a:pt x="101613" y="128047"/>
                    </a:moveTo>
                    <a:lnTo>
                      <a:pt x="104098" y="307"/>
                    </a:lnTo>
                    <a:lnTo>
                      <a:pt x="419" y="74956"/>
                    </a:lnTo>
                    <a:close/>
                  </a:path>
                </a:pathLst>
              </a:custGeom>
              <a:solidFill>
                <a:srgbClr val="50C878">
                  <a:alpha val="7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35" name="Freihandform: Form 234">
                <a:extLst>
                  <a:ext uri="{FF2B5EF4-FFF2-40B4-BE49-F238E27FC236}">
                    <a16:creationId xmlns:a16="http://schemas.microsoft.com/office/drawing/2014/main" id="{59467B71-FD18-F830-01F7-7EDC13367F15}"/>
                  </a:ext>
                </a:extLst>
              </p:cNvPr>
              <p:cNvSpPr/>
              <p:nvPr/>
            </p:nvSpPr>
            <p:spPr>
              <a:xfrm>
                <a:off x="9732743" y="32617353"/>
                <a:ext cx="739493" cy="1175885"/>
              </a:xfrm>
              <a:custGeom>
                <a:avLst/>
                <a:gdLst>
                  <a:gd name="connsiteX0" fmla="*/ 740063 w 739493"/>
                  <a:gd name="connsiteY0" fmla="*/ 1176291 h 1175885"/>
                  <a:gd name="connsiteX1" fmla="*/ 569 w 739493"/>
                  <a:gd name="connsiteY1" fmla="*/ 406 h 1175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39493" h="1175885">
                    <a:moveTo>
                      <a:pt x="740063" y="1176291"/>
                    </a:moveTo>
                    <a:cubicBezTo>
                      <a:pt x="343934" y="841026"/>
                      <a:pt x="97431" y="449064"/>
                      <a:pt x="569" y="406"/>
                    </a:cubicBezTo>
                  </a:path>
                </a:pathLst>
              </a:custGeom>
              <a:noFill/>
              <a:ln w="66585" cap="flat">
                <a:solidFill>
                  <a:srgbClr val="FFB84D">
                    <a:alpha val="7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36" name="Freihandform: Form 235">
                <a:extLst>
                  <a:ext uri="{FF2B5EF4-FFF2-40B4-BE49-F238E27FC236}">
                    <a16:creationId xmlns:a16="http://schemas.microsoft.com/office/drawing/2014/main" id="{C7F50ED2-DD5C-58EB-738C-CDF05BDB9956}"/>
                  </a:ext>
                </a:extLst>
              </p:cNvPr>
              <p:cNvSpPr/>
              <p:nvPr/>
            </p:nvSpPr>
            <p:spPr>
              <a:xfrm>
                <a:off x="9680877" y="32526182"/>
                <a:ext cx="122682" cy="137253"/>
              </a:xfrm>
              <a:custGeom>
                <a:avLst/>
                <a:gdLst>
                  <a:gd name="connsiteX0" fmla="*/ 123241 w 122682"/>
                  <a:gd name="connsiteY0" fmla="*/ 108499 h 137253"/>
                  <a:gd name="connsiteX1" fmla="*/ 32748 w 122682"/>
                  <a:gd name="connsiteY1" fmla="*/ 388 h 137253"/>
                  <a:gd name="connsiteX2" fmla="*/ 559 w 122682"/>
                  <a:gd name="connsiteY2" fmla="*/ 137642 h 137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682" h="137253">
                    <a:moveTo>
                      <a:pt x="123241" y="108499"/>
                    </a:moveTo>
                    <a:lnTo>
                      <a:pt x="32748" y="388"/>
                    </a:lnTo>
                    <a:lnTo>
                      <a:pt x="559" y="137642"/>
                    </a:lnTo>
                    <a:close/>
                  </a:path>
                </a:pathLst>
              </a:custGeom>
              <a:solidFill>
                <a:srgbClr val="FFFFFF"/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37" name="Freihandform: Form 236">
                <a:extLst>
                  <a:ext uri="{FF2B5EF4-FFF2-40B4-BE49-F238E27FC236}">
                    <a16:creationId xmlns:a16="http://schemas.microsoft.com/office/drawing/2014/main" id="{DA5A9470-9E81-2643-CE5F-DB148DC5BCD1}"/>
                  </a:ext>
                </a:extLst>
              </p:cNvPr>
              <p:cNvSpPr/>
              <p:nvPr/>
            </p:nvSpPr>
            <p:spPr>
              <a:xfrm>
                <a:off x="9680877" y="32526182"/>
                <a:ext cx="122682" cy="137253"/>
              </a:xfrm>
              <a:custGeom>
                <a:avLst/>
                <a:gdLst>
                  <a:gd name="connsiteX0" fmla="*/ 123241 w 122682"/>
                  <a:gd name="connsiteY0" fmla="*/ 108499 h 137253"/>
                  <a:gd name="connsiteX1" fmla="*/ 32748 w 122682"/>
                  <a:gd name="connsiteY1" fmla="*/ 388 h 137253"/>
                  <a:gd name="connsiteX2" fmla="*/ 559 w 122682"/>
                  <a:gd name="connsiteY2" fmla="*/ 137642 h 137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682" h="137253">
                    <a:moveTo>
                      <a:pt x="123241" y="108499"/>
                    </a:moveTo>
                    <a:lnTo>
                      <a:pt x="32748" y="388"/>
                    </a:lnTo>
                    <a:lnTo>
                      <a:pt x="559" y="137642"/>
                    </a:lnTo>
                    <a:close/>
                  </a:path>
                </a:pathLst>
              </a:custGeom>
              <a:solidFill>
                <a:srgbClr val="FFB84D">
                  <a:alpha val="7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38" name="Freihandform: Form 237">
                <a:extLst>
                  <a:ext uri="{FF2B5EF4-FFF2-40B4-BE49-F238E27FC236}">
                    <a16:creationId xmlns:a16="http://schemas.microsoft.com/office/drawing/2014/main" id="{D7D12188-8B61-42EA-32F9-8E1B94A876A6}"/>
                  </a:ext>
                </a:extLst>
              </p:cNvPr>
              <p:cNvSpPr/>
              <p:nvPr/>
            </p:nvSpPr>
            <p:spPr>
              <a:xfrm>
                <a:off x="2883075" y="28833081"/>
                <a:ext cx="1863085" cy="515117"/>
              </a:xfrm>
              <a:custGeom>
                <a:avLst/>
                <a:gdLst>
                  <a:gd name="connsiteX0" fmla="*/ 387 w 1863085"/>
                  <a:gd name="connsiteY0" fmla="*/ 287 h 515117"/>
                  <a:gd name="connsiteX1" fmla="*/ 1863473 w 1863085"/>
                  <a:gd name="connsiteY1" fmla="*/ 515404 h 515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63085" h="515117">
                    <a:moveTo>
                      <a:pt x="387" y="287"/>
                    </a:moveTo>
                    <a:lnTo>
                      <a:pt x="1863473" y="515404"/>
                    </a:lnTo>
                  </a:path>
                </a:pathLst>
              </a:custGeom>
              <a:noFill/>
              <a:ln w="40365" cap="flat">
                <a:solidFill>
                  <a:srgbClr val="FFB84D">
                    <a:alpha val="7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39" name="Freihandform: Form 238">
                <a:extLst>
                  <a:ext uri="{FF2B5EF4-FFF2-40B4-BE49-F238E27FC236}">
                    <a16:creationId xmlns:a16="http://schemas.microsoft.com/office/drawing/2014/main" id="{23210E87-4058-44F5-4936-B0781F82D4DD}"/>
                  </a:ext>
                </a:extLst>
              </p:cNvPr>
              <p:cNvSpPr/>
              <p:nvPr/>
            </p:nvSpPr>
            <p:spPr>
              <a:xfrm>
                <a:off x="4685354" y="29284596"/>
                <a:ext cx="115312" cy="101314"/>
              </a:xfrm>
              <a:custGeom>
                <a:avLst/>
                <a:gdLst>
                  <a:gd name="connsiteX0" fmla="*/ 414 w 115312"/>
                  <a:gd name="connsiteY0" fmla="*/ 101609 h 101314"/>
                  <a:gd name="connsiteX1" fmla="*/ 115726 w 115312"/>
                  <a:gd name="connsiteY1" fmla="*/ 78964 h 101314"/>
                  <a:gd name="connsiteX2" fmla="*/ 28426 w 115312"/>
                  <a:gd name="connsiteY2" fmla="*/ 294 h 101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5312" h="101314">
                    <a:moveTo>
                      <a:pt x="414" y="101609"/>
                    </a:moveTo>
                    <a:lnTo>
                      <a:pt x="115726" y="78964"/>
                    </a:lnTo>
                    <a:lnTo>
                      <a:pt x="28426" y="294"/>
                    </a:lnTo>
                    <a:close/>
                  </a:path>
                </a:pathLst>
              </a:custGeom>
              <a:solidFill>
                <a:srgbClr val="FFFFFF"/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40" name="Freihandform: Form 239">
                <a:extLst>
                  <a:ext uri="{FF2B5EF4-FFF2-40B4-BE49-F238E27FC236}">
                    <a16:creationId xmlns:a16="http://schemas.microsoft.com/office/drawing/2014/main" id="{20A49F15-127B-7960-0704-F4FB5BD3C0FA}"/>
                  </a:ext>
                </a:extLst>
              </p:cNvPr>
              <p:cNvSpPr/>
              <p:nvPr/>
            </p:nvSpPr>
            <p:spPr>
              <a:xfrm>
                <a:off x="4685354" y="29284596"/>
                <a:ext cx="115312" cy="101314"/>
              </a:xfrm>
              <a:custGeom>
                <a:avLst/>
                <a:gdLst>
                  <a:gd name="connsiteX0" fmla="*/ 414 w 115312"/>
                  <a:gd name="connsiteY0" fmla="*/ 101609 h 101314"/>
                  <a:gd name="connsiteX1" fmla="*/ 115726 w 115312"/>
                  <a:gd name="connsiteY1" fmla="*/ 78964 h 101314"/>
                  <a:gd name="connsiteX2" fmla="*/ 28426 w 115312"/>
                  <a:gd name="connsiteY2" fmla="*/ 294 h 101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5312" h="101314">
                    <a:moveTo>
                      <a:pt x="414" y="101609"/>
                    </a:moveTo>
                    <a:lnTo>
                      <a:pt x="115726" y="78964"/>
                    </a:lnTo>
                    <a:lnTo>
                      <a:pt x="28426" y="294"/>
                    </a:lnTo>
                    <a:close/>
                  </a:path>
                </a:pathLst>
              </a:custGeom>
              <a:solidFill>
                <a:srgbClr val="FFB84D">
                  <a:alpha val="7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41" name="Freihandform: Form 240">
                <a:extLst>
                  <a:ext uri="{FF2B5EF4-FFF2-40B4-BE49-F238E27FC236}">
                    <a16:creationId xmlns:a16="http://schemas.microsoft.com/office/drawing/2014/main" id="{D13484CE-111B-006A-0197-97E23B78967A}"/>
                  </a:ext>
                </a:extLst>
              </p:cNvPr>
              <p:cNvSpPr/>
              <p:nvPr/>
            </p:nvSpPr>
            <p:spPr>
              <a:xfrm>
                <a:off x="6839938" y="32917617"/>
                <a:ext cx="919091" cy="589503"/>
              </a:xfrm>
              <a:custGeom>
                <a:avLst/>
                <a:gdLst>
                  <a:gd name="connsiteX0" fmla="*/ 919580 w 919091"/>
                  <a:gd name="connsiteY0" fmla="*/ 589909 h 589503"/>
                  <a:gd name="connsiteX1" fmla="*/ 488 w 919091"/>
                  <a:gd name="connsiteY1" fmla="*/ 406 h 589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19091" h="589503">
                    <a:moveTo>
                      <a:pt x="919580" y="589909"/>
                    </a:moveTo>
                    <a:lnTo>
                      <a:pt x="488" y="406"/>
                    </a:lnTo>
                  </a:path>
                </a:pathLst>
              </a:custGeom>
              <a:noFill/>
              <a:ln w="144729" cap="flat">
                <a:solidFill>
                  <a:srgbClr val="FFB84D">
                    <a:alpha val="7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42" name="Freihandform: Form 241">
                <a:extLst>
                  <a:ext uri="{FF2B5EF4-FFF2-40B4-BE49-F238E27FC236}">
                    <a16:creationId xmlns:a16="http://schemas.microsoft.com/office/drawing/2014/main" id="{5C86B41C-09D6-C8A6-4AC3-D9634ADE95A0}"/>
                  </a:ext>
                </a:extLst>
              </p:cNvPr>
              <p:cNvSpPr/>
              <p:nvPr/>
            </p:nvSpPr>
            <p:spPr>
              <a:xfrm>
                <a:off x="6669290" y="32808164"/>
                <a:ext cx="281927" cy="243652"/>
              </a:xfrm>
              <a:custGeom>
                <a:avLst/>
                <a:gdLst>
                  <a:gd name="connsiteX0" fmla="*/ 282401 w 281927"/>
                  <a:gd name="connsiteY0" fmla="*/ 30582 h 243652"/>
                  <a:gd name="connsiteX1" fmla="*/ 474 w 281927"/>
                  <a:gd name="connsiteY1" fmla="*/ 398 h 243652"/>
                  <a:gd name="connsiteX2" fmla="*/ 145483 w 281927"/>
                  <a:gd name="connsiteY2" fmla="*/ 244050 h 243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1927" h="243652">
                    <a:moveTo>
                      <a:pt x="282401" y="30582"/>
                    </a:moveTo>
                    <a:lnTo>
                      <a:pt x="474" y="398"/>
                    </a:lnTo>
                    <a:lnTo>
                      <a:pt x="145483" y="244050"/>
                    </a:lnTo>
                    <a:close/>
                  </a:path>
                </a:pathLst>
              </a:custGeom>
              <a:solidFill>
                <a:srgbClr val="FFFFFF"/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43" name="Freihandform: Form 242">
                <a:extLst>
                  <a:ext uri="{FF2B5EF4-FFF2-40B4-BE49-F238E27FC236}">
                    <a16:creationId xmlns:a16="http://schemas.microsoft.com/office/drawing/2014/main" id="{4D4079EE-DBBB-C334-35E8-AAB88F2E9BEF}"/>
                  </a:ext>
                </a:extLst>
              </p:cNvPr>
              <p:cNvSpPr/>
              <p:nvPr/>
            </p:nvSpPr>
            <p:spPr>
              <a:xfrm>
                <a:off x="6669290" y="32808164"/>
                <a:ext cx="281927" cy="243652"/>
              </a:xfrm>
              <a:custGeom>
                <a:avLst/>
                <a:gdLst>
                  <a:gd name="connsiteX0" fmla="*/ 282401 w 281927"/>
                  <a:gd name="connsiteY0" fmla="*/ 30582 h 243652"/>
                  <a:gd name="connsiteX1" fmla="*/ 474 w 281927"/>
                  <a:gd name="connsiteY1" fmla="*/ 398 h 243652"/>
                  <a:gd name="connsiteX2" fmla="*/ 145483 w 281927"/>
                  <a:gd name="connsiteY2" fmla="*/ 244050 h 243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1927" h="243652">
                    <a:moveTo>
                      <a:pt x="282401" y="30582"/>
                    </a:moveTo>
                    <a:lnTo>
                      <a:pt x="474" y="398"/>
                    </a:lnTo>
                    <a:lnTo>
                      <a:pt x="145483" y="244050"/>
                    </a:lnTo>
                    <a:close/>
                  </a:path>
                </a:pathLst>
              </a:custGeom>
              <a:solidFill>
                <a:srgbClr val="FFB84D">
                  <a:alpha val="7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44" name="Freihandform: Form 243">
                <a:extLst>
                  <a:ext uri="{FF2B5EF4-FFF2-40B4-BE49-F238E27FC236}">
                    <a16:creationId xmlns:a16="http://schemas.microsoft.com/office/drawing/2014/main" id="{728442D3-F2F8-AD0A-4DA4-65307AFC1C73}"/>
                  </a:ext>
                </a:extLst>
              </p:cNvPr>
              <p:cNvSpPr/>
              <p:nvPr/>
            </p:nvSpPr>
            <p:spPr>
              <a:xfrm>
                <a:off x="5277346" y="29870840"/>
                <a:ext cx="926744" cy="2369797"/>
              </a:xfrm>
              <a:custGeom>
                <a:avLst/>
                <a:gdLst>
                  <a:gd name="connsiteX0" fmla="*/ 927188 w 926744"/>
                  <a:gd name="connsiteY0" fmla="*/ 2370141 h 2369797"/>
                  <a:gd name="connsiteX1" fmla="*/ 443 w 926744"/>
                  <a:gd name="connsiteY1" fmla="*/ 344 h 2369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26744" h="2369797">
                    <a:moveTo>
                      <a:pt x="927188" y="2370141"/>
                    </a:moveTo>
                    <a:lnTo>
                      <a:pt x="443" y="344"/>
                    </a:lnTo>
                  </a:path>
                </a:pathLst>
              </a:custGeom>
              <a:noFill/>
              <a:ln w="91944" cap="flat">
                <a:solidFill>
                  <a:srgbClr val="FFB84D">
                    <a:alpha val="7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45" name="Freihandform: Form 244">
                <a:extLst>
                  <a:ext uri="{FF2B5EF4-FFF2-40B4-BE49-F238E27FC236}">
                    <a16:creationId xmlns:a16="http://schemas.microsoft.com/office/drawing/2014/main" id="{1F11AACB-7F5A-FF42-8398-429FC4BA8AC3}"/>
                  </a:ext>
                </a:extLst>
              </p:cNvPr>
              <p:cNvSpPr/>
              <p:nvPr/>
            </p:nvSpPr>
            <p:spPr>
              <a:xfrm>
                <a:off x="5213347" y="29750903"/>
                <a:ext cx="157011" cy="187699"/>
              </a:xfrm>
              <a:custGeom>
                <a:avLst/>
                <a:gdLst>
                  <a:gd name="connsiteX0" fmla="*/ 157442 w 157011"/>
                  <a:gd name="connsiteY0" fmla="*/ 126615 h 187699"/>
                  <a:gd name="connsiteX1" fmla="*/ 17534 w 157011"/>
                  <a:gd name="connsiteY1" fmla="*/ 309 h 187699"/>
                  <a:gd name="connsiteX2" fmla="*/ 430 w 157011"/>
                  <a:gd name="connsiteY2" fmla="*/ 188008 h 187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7011" h="187699">
                    <a:moveTo>
                      <a:pt x="157442" y="126615"/>
                    </a:moveTo>
                    <a:lnTo>
                      <a:pt x="17534" y="309"/>
                    </a:lnTo>
                    <a:lnTo>
                      <a:pt x="430" y="188008"/>
                    </a:lnTo>
                    <a:close/>
                  </a:path>
                </a:pathLst>
              </a:custGeom>
              <a:solidFill>
                <a:srgbClr val="FFFFFF"/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46" name="Freihandform: Form 245">
                <a:extLst>
                  <a:ext uri="{FF2B5EF4-FFF2-40B4-BE49-F238E27FC236}">
                    <a16:creationId xmlns:a16="http://schemas.microsoft.com/office/drawing/2014/main" id="{D700CF35-CC59-F1D1-2DD8-4D48DCEC8A3D}"/>
                  </a:ext>
                </a:extLst>
              </p:cNvPr>
              <p:cNvSpPr/>
              <p:nvPr/>
            </p:nvSpPr>
            <p:spPr>
              <a:xfrm>
                <a:off x="5213347" y="29750903"/>
                <a:ext cx="157011" cy="187699"/>
              </a:xfrm>
              <a:custGeom>
                <a:avLst/>
                <a:gdLst>
                  <a:gd name="connsiteX0" fmla="*/ 157442 w 157011"/>
                  <a:gd name="connsiteY0" fmla="*/ 126615 h 187699"/>
                  <a:gd name="connsiteX1" fmla="*/ 17534 w 157011"/>
                  <a:gd name="connsiteY1" fmla="*/ 309 h 187699"/>
                  <a:gd name="connsiteX2" fmla="*/ 430 w 157011"/>
                  <a:gd name="connsiteY2" fmla="*/ 188008 h 187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7011" h="187699">
                    <a:moveTo>
                      <a:pt x="157442" y="126615"/>
                    </a:moveTo>
                    <a:lnTo>
                      <a:pt x="17534" y="309"/>
                    </a:lnTo>
                    <a:lnTo>
                      <a:pt x="430" y="188008"/>
                    </a:lnTo>
                    <a:close/>
                  </a:path>
                </a:pathLst>
              </a:custGeom>
              <a:solidFill>
                <a:srgbClr val="FFB84D">
                  <a:alpha val="7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47" name="Freihandform: Form 246">
                <a:extLst>
                  <a:ext uri="{FF2B5EF4-FFF2-40B4-BE49-F238E27FC236}">
                    <a16:creationId xmlns:a16="http://schemas.microsoft.com/office/drawing/2014/main" id="{684249DC-887D-D23F-7235-28F7D23A1D0C}"/>
                  </a:ext>
                </a:extLst>
              </p:cNvPr>
              <p:cNvSpPr/>
              <p:nvPr/>
            </p:nvSpPr>
            <p:spPr>
              <a:xfrm>
                <a:off x="2497526" y="32718970"/>
                <a:ext cx="3480139" cy="572245"/>
              </a:xfrm>
              <a:custGeom>
                <a:avLst/>
                <a:gdLst>
                  <a:gd name="connsiteX0" fmla="*/ 3480539 w 3480139"/>
                  <a:gd name="connsiteY0" fmla="*/ 400 h 572245"/>
                  <a:gd name="connsiteX1" fmla="*/ 399 w 3480139"/>
                  <a:gd name="connsiteY1" fmla="*/ 572642 h 572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480139" h="572245">
                    <a:moveTo>
                      <a:pt x="3480539" y="400"/>
                    </a:moveTo>
                    <a:cubicBezTo>
                      <a:pt x="2301797" y="382919"/>
                      <a:pt x="1141752" y="573665"/>
                      <a:pt x="399" y="572642"/>
                    </a:cubicBezTo>
                  </a:path>
                </a:pathLst>
              </a:custGeom>
              <a:noFill/>
              <a:ln w="105572" cap="flat">
                <a:solidFill>
                  <a:srgbClr val="FFB84D">
                    <a:alpha val="7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48" name="Freihandform: Form 247">
                <a:extLst>
                  <a:ext uri="{FF2B5EF4-FFF2-40B4-BE49-F238E27FC236}">
                    <a16:creationId xmlns:a16="http://schemas.microsoft.com/office/drawing/2014/main" id="{11EC27BE-E982-E2FF-B47C-448E54862461}"/>
                  </a:ext>
                </a:extLst>
              </p:cNvPr>
              <p:cNvSpPr/>
              <p:nvPr/>
            </p:nvSpPr>
            <p:spPr>
              <a:xfrm>
                <a:off x="2349645" y="33193559"/>
                <a:ext cx="191945" cy="190906"/>
              </a:xfrm>
              <a:custGeom>
                <a:avLst/>
                <a:gdLst>
                  <a:gd name="connsiteX0" fmla="*/ 190221 w 191945"/>
                  <a:gd name="connsiteY0" fmla="*/ 408 h 190906"/>
                  <a:gd name="connsiteX1" fmla="*/ 347 w 191945"/>
                  <a:gd name="connsiteY1" fmla="*/ 97928 h 190906"/>
                  <a:gd name="connsiteX2" fmla="*/ 192293 w 191945"/>
                  <a:gd name="connsiteY2" fmla="*/ 191315 h 190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1945" h="190906">
                    <a:moveTo>
                      <a:pt x="190221" y="408"/>
                    </a:moveTo>
                    <a:lnTo>
                      <a:pt x="347" y="97928"/>
                    </a:lnTo>
                    <a:lnTo>
                      <a:pt x="192293" y="191315"/>
                    </a:lnTo>
                    <a:close/>
                  </a:path>
                </a:pathLst>
              </a:custGeom>
              <a:solidFill>
                <a:srgbClr val="FFFFFF"/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49" name="Freihandform: Form 248">
                <a:extLst>
                  <a:ext uri="{FF2B5EF4-FFF2-40B4-BE49-F238E27FC236}">
                    <a16:creationId xmlns:a16="http://schemas.microsoft.com/office/drawing/2014/main" id="{DA08357E-3E45-3C99-BBFF-16CDD14B507E}"/>
                  </a:ext>
                </a:extLst>
              </p:cNvPr>
              <p:cNvSpPr/>
              <p:nvPr/>
            </p:nvSpPr>
            <p:spPr>
              <a:xfrm>
                <a:off x="2349645" y="33193559"/>
                <a:ext cx="191945" cy="190906"/>
              </a:xfrm>
              <a:custGeom>
                <a:avLst/>
                <a:gdLst>
                  <a:gd name="connsiteX0" fmla="*/ 190221 w 191945"/>
                  <a:gd name="connsiteY0" fmla="*/ 408 h 190906"/>
                  <a:gd name="connsiteX1" fmla="*/ 347 w 191945"/>
                  <a:gd name="connsiteY1" fmla="*/ 97928 h 190906"/>
                  <a:gd name="connsiteX2" fmla="*/ 192293 w 191945"/>
                  <a:gd name="connsiteY2" fmla="*/ 191315 h 190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1945" h="190906">
                    <a:moveTo>
                      <a:pt x="190221" y="408"/>
                    </a:moveTo>
                    <a:lnTo>
                      <a:pt x="347" y="97928"/>
                    </a:lnTo>
                    <a:lnTo>
                      <a:pt x="192293" y="191315"/>
                    </a:lnTo>
                    <a:close/>
                  </a:path>
                </a:pathLst>
              </a:custGeom>
              <a:solidFill>
                <a:srgbClr val="FFB84D">
                  <a:alpha val="7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50" name="Freihandform: Form 249">
                <a:extLst>
                  <a:ext uri="{FF2B5EF4-FFF2-40B4-BE49-F238E27FC236}">
                    <a16:creationId xmlns:a16="http://schemas.microsoft.com/office/drawing/2014/main" id="{9AAF4242-0189-F13C-C0A1-572F3F3EB14D}"/>
                  </a:ext>
                </a:extLst>
              </p:cNvPr>
              <p:cNvSpPr/>
              <p:nvPr/>
            </p:nvSpPr>
            <p:spPr>
              <a:xfrm>
                <a:off x="2433803" y="32814416"/>
                <a:ext cx="3590173" cy="1735507"/>
              </a:xfrm>
              <a:custGeom>
                <a:avLst/>
                <a:gdLst>
                  <a:gd name="connsiteX0" fmla="*/ 3590573 w 3590173"/>
                  <a:gd name="connsiteY0" fmla="*/ 420 h 1735507"/>
                  <a:gd name="connsiteX1" fmla="*/ 399 w 3590173"/>
                  <a:gd name="connsiteY1" fmla="*/ 1735927 h 1735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590173" h="1735507">
                    <a:moveTo>
                      <a:pt x="3590573" y="420"/>
                    </a:moveTo>
                    <a:cubicBezTo>
                      <a:pt x="2440478" y="769932"/>
                      <a:pt x="1243757" y="1348433"/>
                      <a:pt x="399" y="1735927"/>
                    </a:cubicBezTo>
                  </a:path>
                </a:pathLst>
              </a:custGeom>
              <a:noFill/>
              <a:ln w="87977" cap="flat">
                <a:solidFill>
                  <a:srgbClr val="FFB84D">
                    <a:alpha val="7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51" name="Freihandform: Form 250">
                <a:extLst>
                  <a:ext uri="{FF2B5EF4-FFF2-40B4-BE49-F238E27FC236}">
                    <a16:creationId xmlns:a16="http://schemas.microsoft.com/office/drawing/2014/main" id="{4E975CB7-49AE-C87A-0A84-AF4BC10CA55F}"/>
                  </a:ext>
                </a:extLst>
              </p:cNvPr>
              <p:cNvSpPr/>
              <p:nvPr/>
            </p:nvSpPr>
            <p:spPr>
              <a:xfrm>
                <a:off x="2316161" y="34459551"/>
                <a:ext cx="179104" cy="154129"/>
              </a:xfrm>
              <a:custGeom>
                <a:avLst/>
                <a:gdLst>
                  <a:gd name="connsiteX0" fmla="*/ 129483 w 179104"/>
                  <a:gd name="connsiteY0" fmla="*/ 445 h 154129"/>
                  <a:gd name="connsiteX1" fmla="*/ 346 w 179104"/>
                  <a:gd name="connsiteY1" fmla="*/ 127476 h 154129"/>
                  <a:gd name="connsiteX2" fmla="*/ 179450 w 179104"/>
                  <a:gd name="connsiteY2" fmla="*/ 154574 h 154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9104" h="154129">
                    <a:moveTo>
                      <a:pt x="129483" y="445"/>
                    </a:moveTo>
                    <a:lnTo>
                      <a:pt x="346" y="127476"/>
                    </a:lnTo>
                    <a:lnTo>
                      <a:pt x="179450" y="154574"/>
                    </a:lnTo>
                    <a:close/>
                  </a:path>
                </a:pathLst>
              </a:custGeom>
              <a:solidFill>
                <a:srgbClr val="FFFFFF"/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52" name="Freihandform: Form 251">
                <a:extLst>
                  <a:ext uri="{FF2B5EF4-FFF2-40B4-BE49-F238E27FC236}">
                    <a16:creationId xmlns:a16="http://schemas.microsoft.com/office/drawing/2014/main" id="{3C04C4BF-54DA-5DA8-CFA1-90C662AFC0CE}"/>
                  </a:ext>
                </a:extLst>
              </p:cNvPr>
              <p:cNvSpPr/>
              <p:nvPr/>
            </p:nvSpPr>
            <p:spPr>
              <a:xfrm>
                <a:off x="2316161" y="34459551"/>
                <a:ext cx="179104" cy="154129"/>
              </a:xfrm>
              <a:custGeom>
                <a:avLst/>
                <a:gdLst>
                  <a:gd name="connsiteX0" fmla="*/ 129483 w 179104"/>
                  <a:gd name="connsiteY0" fmla="*/ 445 h 154129"/>
                  <a:gd name="connsiteX1" fmla="*/ 346 w 179104"/>
                  <a:gd name="connsiteY1" fmla="*/ 127476 h 154129"/>
                  <a:gd name="connsiteX2" fmla="*/ 179450 w 179104"/>
                  <a:gd name="connsiteY2" fmla="*/ 154574 h 154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9104" h="154129">
                    <a:moveTo>
                      <a:pt x="129483" y="445"/>
                    </a:moveTo>
                    <a:lnTo>
                      <a:pt x="346" y="127476"/>
                    </a:lnTo>
                    <a:lnTo>
                      <a:pt x="179450" y="154574"/>
                    </a:lnTo>
                    <a:close/>
                  </a:path>
                </a:pathLst>
              </a:custGeom>
              <a:solidFill>
                <a:srgbClr val="FFB84D">
                  <a:alpha val="7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53" name="Freihandform: Form 252">
                <a:extLst>
                  <a:ext uri="{FF2B5EF4-FFF2-40B4-BE49-F238E27FC236}">
                    <a16:creationId xmlns:a16="http://schemas.microsoft.com/office/drawing/2014/main" id="{440BA5F3-C8A2-D626-DF1D-DC89D493B8DA}"/>
                  </a:ext>
                </a:extLst>
              </p:cNvPr>
              <p:cNvSpPr/>
              <p:nvPr/>
            </p:nvSpPr>
            <p:spPr>
              <a:xfrm>
                <a:off x="6422520" y="29505814"/>
                <a:ext cx="560330" cy="2716285"/>
              </a:xfrm>
              <a:custGeom>
                <a:avLst/>
                <a:gdLst>
                  <a:gd name="connsiteX0" fmla="*/ 471 w 560330"/>
                  <a:gd name="connsiteY0" fmla="*/ 2716624 h 2716285"/>
                  <a:gd name="connsiteX1" fmla="*/ 560801 w 560330"/>
                  <a:gd name="connsiteY1" fmla="*/ 338 h 2716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60330" h="2716285">
                    <a:moveTo>
                      <a:pt x="471" y="2716624"/>
                    </a:moveTo>
                    <a:lnTo>
                      <a:pt x="560801" y="338"/>
                    </a:lnTo>
                  </a:path>
                </a:pathLst>
              </a:custGeom>
              <a:noFill/>
              <a:ln w="56408" cap="flat">
                <a:solidFill>
                  <a:srgbClr val="FFB84D">
                    <a:alpha val="7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54" name="Freihandform: Form 253">
                <a:extLst>
                  <a:ext uri="{FF2B5EF4-FFF2-40B4-BE49-F238E27FC236}">
                    <a16:creationId xmlns:a16="http://schemas.microsoft.com/office/drawing/2014/main" id="{1173C532-2BE4-83F9-AE78-2CE9B3CFCFEC}"/>
                  </a:ext>
                </a:extLst>
              </p:cNvPr>
              <p:cNvSpPr/>
              <p:nvPr/>
            </p:nvSpPr>
            <p:spPr>
              <a:xfrm>
                <a:off x="6923688" y="29428422"/>
                <a:ext cx="106370" cy="117348"/>
              </a:xfrm>
              <a:custGeom>
                <a:avLst/>
                <a:gdLst>
                  <a:gd name="connsiteX0" fmla="*/ 106849 w 106370"/>
                  <a:gd name="connsiteY0" fmla="*/ 117647 h 117348"/>
                  <a:gd name="connsiteX1" fmla="*/ 75605 w 106370"/>
                  <a:gd name="connsiteY1" fmla="*/ 298 h 117348"/>
                  <a:gd name="connsiteX2" fmla="*/ 479 w 106370"/>
                  <a:gd name="connsiteY2" fmla="*/ 95710 h 117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6370" h="117348">
                    <a:moveTo>
                      <a:pt x="106849" y="117647"/>
                    </a:moveTo>
                    <a:lnTo>
                      <a:pt x="75605" y="298"/>
                    </a:lnTo>
                    <a:lnTo>
                      <a:pt x="479" y="95710"/>
                    </a:lnTo>
                    <a:close/>
                  </a:path>
                </a:pathLst>
              </a:custGeom>
              <a:solidFill>
                <a:srgbClr val="FFFFFF"/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55" name="Freihandform: Form 254">
                <a:extLst>
                  <a:ext uri="{FF2B5EF4-FFF2-40B4-BE49-F238E27FC236}">
                    <a16:creationId xmlns:a16="http://schemas.microsoft.com/office/drawing/2014/main" id="{DF7C6131-1A08-1BB4-4AAE-4E4D91691ED7}"/>
                  </a:ext>
                </a:extLst>
              </p:cNvPr>
              <p:cNvSpPr/>
              <p:nvPr/>
            </p:nvSpPr>
            <p:spPr>
              <a:xfrm>
                <a:off x="6923688" y="29428422"/>
                <a:ext cx="106370" cy="117348"/>
              </a:xfrm>
              <a:custGeom>
                <a:avLst/>
                <a:gdLst>
                  <a:gd name="connsiteX0" fmla="*/ 106849 w 106370"/>
                  <a:gd name="connsiteY0" fmla="*/ 117647 h 117348"/>
                  <a:gd name="connsiteX1" fmla="*/ 75605 w 106370"/>
                  <a:gd name="connsiteY1" fmla="*/ 298 h 117348"/>
                  <a:gd name="connsiteX2" fmla="*/ 479 w 106370"/>
                  <a:gd name="connsiteY2" fmla="*/ 95710 h 117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6370" h="117348">
                    <a:moveTo>
                      <a:pt x="106849" y="117647"/>
                    </a:moveTo>
                    <a:lnTo>
                      <a:pt x="75605" y="298"/>
                    </a:lnTo>
                    <a:lnTo>
                      <a:pt x="479" y="95710"/>
                    </a:lnTo>
                    <a:close/>
                  </a:path>
                </a:pathLst>
              </a:custGeom>
              <a:solidFill>
                <a:srgbClr val="FFB84D">
                  <a:alpha val="7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4" name="Freihandform: Form 383">
                <a:extLst>
                  <a:ext uri="{FF2B5EF4-FFF2-40B4-BE49-F238E27FC236}">
                    <a16:creationId xmlns:a16="http://schemas.microsoft.com/office/drawing/2014/main" id="{19114238-85D3-0487-0014-886B17F223E0}"/>
                  </a:ext>
                </a:extLst>
              </p:cNvPr>
              <p:cNvSpPr/>
              <p:nvPr/>
            </p:nvSpPr>
            <p:spPr>
              <a:xfrm>
                <a:off x="7978909" y="28628243"/>
                <a:ext cx="192002" cy="2599987"/>
              </a:xfrm>
              <a:custGeom>
                <a:avLst/>
                <a:gdLst>
                  <a:gd name="connsiteX0" fmla="*/ 192513 w 192002"/>
                  <a:gd name="connsiteY0" fmla="*/ 311 h 2599987"/>
                  <a:gd name="connsiteX1" fmla="*/ 510 w 192002"/>
                  <a:gd name="connsiteY1" fmla="*/ 2600298 h 2599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2002" h="2599987">
                    <a:moveTo>
                      <a:pt x="192513" y="311"/>
                    </a:moveTo>
                    <a:lnTo>
                      <a:pt x="510" y="2600298"/>
                    </a:lnTo>
                  </a:path>
                </a:pathLst>
              </a:custGeom>
              <a:noFill/>
              <a:ln w="88667" cap="flat">
                <a:solidFill>
                  <a:srgbClr val="FFB84D">
                    <a:alpha val="7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5" name="Freihandform: Form 384">
                <a:extLst>
                  <a:ext uri="{FF2B5EF4-FFF2-40B4-BE49-F238E27FC236}">
                    <a16:creationId xmlns:a16="http://schemas.microsoft.com/office/drawing/2014/main" id="{113640B3-3C29-5A67-A484-5F788E4DF1BB}"/>
                  </a:ext>
                </a:extLst>
              </p:cNvPr>
              <p:cNvSpPr/>
              <p:nvPr/>
            </p:nvSpPr>
            <p:spPr>
              <a:xfrm>
                <a:off x="7900417" y="31183360"/>
                <a:ext cx="162726" cy="168734"/>
              </a:xfrm>
              <a:custGeom>
                <a:avLst/>
                <a:gdLst>
                  <a:gd name="connsiteX0" fmla="*/ 508 w 162726"/>
                  <a:gd name="connsiteY0" fmla="*/ 350 h 168734"/>
                  <a:gd name="connsiteX1" fmla="*/ 69854 w 162726"/>
                  <a:gd name="connsiteY1" fmla="*/ 169085 h 168734"/>
                  <a:gd name="connsiteX2" fmla="*/ 163234 w 162726"/>
                  <a:gd name="connsiteY2" fmla="*/ 12366 h 168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2726" h="168734">
                    <a:moveTo>
                      <a:pt x="508" y="350"/>
                    </a:moveTo>
                    <a:lnTo>
                      <a:pt x="69854" y="169085"/>
                    </a:lnTo>
                    <a:lnTo>
                      <a:pt x="163234" y="12366"/>
                    </a:lnTo>
                    <a:close/>
                  </a:path>
                </a:pathLst>
              </a:custGeom>
              <a:solidFill>
                <a:srgbClr val="FFFFFF"/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6" name="Freihandform: Form 385">
                <a:extLst>
                  <a:ext uri="{FF2B5EF4-FFF2-40B4-BE49-F238E27FC236}">
                    <a16:creationId xmlns:a16="http://schemas.microsoft.com/office/drawing/2014/main" id="{69AA7E41-577A-1B80-D8DC-542B516BF625}"/>
                  </a:ext>
                </a:extLst>
              </p:cNvPr>
              <p:cNvSpPr/>
              <p:nvPr/>
            </p:nvSpPr>
            <p:spPr>
              <a:xfrm>
                <a:off x="7900417" y="31183360"/>
                <a:ext cx="162726" cy="168734"/>
              </a:xfrm>
              <a:custGeom>
                <a:avLst/>
                <a:gdLst>
                  <a:gd name="connsiteX0" fmla="*/ 508 w 162726"/>
                  <a:gd name="connsiteY0" fmla="*/ 350 h 168734"/>
                  <a:gd name="connsiteX1" fmla="*/ 69854 w 162726"/>
                  <a:gd name="connsiteY1" fmla="*/ 169085 h 168734"/>
                  <a:gd name="connsiteX2" fmla="*/ 163234 w 162726"/>
                  <a:gd name="connsiteY2" fmla="*/ 12366 h 168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2726" h="168734">
                    <a:moveTo>
                      <a:pt x="508" y="350"/>
                    </a:moveTo>
                    <a:lnTo>
                      <a:pt x="69854" y="169085"/>
                    </a:lnTo>
                    <a:lnTo>
                      <a:pt x="163234" y="12366"/>
                    </a:lnTo>
                    <a:close/>
                  </a:path>
                </a:pathLst>
              </a:custGeom>
              <a:solidFill>
                <a:srgbClr val="FFB84D">
                  <a:alpha val="7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7" name="Freihandform: Form 386">
                <a:extLst>
                  <a:ext uri="{FF2B5EF4-FFF2-40B4-BE49-F238E27FC236}">
                    <a16:creationId xmlns:a16="http://schemas.microsoft.com/office/drawing/2014/main" id="{4BD9FA41-5BF0-C60C-7A0A-463AE438EAC5}"/>
                  </a:ext>
                </a:extLst>
              </p:cNvPr>
              <p:cNvSpPr/>
              <p:nvPr/>
            </p:nvSpPr>
            <p:spPr>
              <a:xfrm>
                <a:off x="5143687" y="31634571"/>
                <a:ext cx="2523098" cy="9353"/>
              </a:xfrm>
              <a:custGeom>
                <a:avLst/>
                <a:gdLst>
                  <a:gd name="connsiteX0" fmla="*/ 2523561 w 2523098"/>
                  <a:gd name="connsiteY0" fmla="*/ 361 h 9353"/>
                  <a:gd name="connsiteX1" fmla="*/ 462 w 2523098"/>
                  <a:gd name="connsiteY1" fmla="*/ 9714 h 9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23098" h="9353">
                    <a:moveTo>
                      <a:pt x="2523561" y="361"/>
                    </a:moveTo>
                    <a:lnTo>
                      <a:pt x="462" y="9714"/>
                    </a:lnTo>
                  </a:path>
                </a:pathLst>
              </a:custGeom>
              <a:noFill/>
              <a:ln w="91082" cap="flat">
                <a:solidFill>
                  <a:srgbClr val="FFB84D">
                    <a:alpha val="7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9" name="Freihandform: Form 388">
                <a:extLst>
                  <a:ext uri="{FF2B5EF4-FFF2-40B4-BE49-F238E27FC236}">
                    <a16:creationId xmlns:a16="http://schemas.microsoft.com/office/drawing/2014/main" id="{9D304156-2605-BF6B-FD22-AA5B40304A19}"/>
                  </a:ext>
                </a:extLst>
              </p:cNvPr>
              <p:cNvSpPr/>
              <p:nvPr/>
            </p:nvSpPr>
            <p:spPr>
              <a:xfrm>
                <a:off x="5016103" y="31560197"/>
                <a:ext cx="167471" cy="167162"/>
              </a:xfrm>
              <a:custGeom>
                <a:avLst/>
                <a:gdLst>
                  <a:gd name="connsiteX0" fmla="*/ 167274 w 167471"/>
                  <a:gd name="connsiteY0" fmla="*/ 361 h 167162"/>
                  <a:gd name="connsiteX1" fmla="*/ 424 w 167471"/>
                  <a:gd name="connsiteY1" fmla="*/ 84562 h 167162"/>
                  <a:gd name="connsiteX2" fmla="*/ 167896 w 167471"/>
                  <a:gd name="connsiteY2" fmla="*/ 167523 h 167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471" h="167162">
                    <a:moveTo>
                      <a:pt x="167274" y="361"/>
                    </a:moveTo>
                    <a:lnTo>
                      <a:pt x="424" y="84562"/>
                    </a:lnTo>
                    <a:lnTo>
                      <a:pt x="167896" y="167523"/>
                    </a:lnTo>
                    <a:close/>
                  </a:path>
                </a:pathLst>
              </a:custGeom>
              <a:solidFill>
                <a:srgbClr val="FFFFFF"/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1" name="Freihandform: Form 390">
                <a:extLst>
                  <a:ext uri="{FF2B5EF4-FFF2-40B4-BE49-F238E27FC236}">
                    <a16:creationId xmlns:a16="http://schemas.microsoft.com/office/drawing/2014/main" id="{02AC8BF7-10BA-D8B4-80C6-ECE0A44CCB44}"/>
                  </a:ext>
                </a:extLst>
              </p:cNvPr>
              <p:cNvSpPr/>
              <p:nvPr/>
            </p:nvSpPr>
            <p:spPr>
              <a:xfrm>
                <a:off x="5016103" y="31560197"/>
                <a:ext cx="167471" cy="167162"/>
              </a:xfrm>
              <a:custGeom>
                <a:avLst/>
                <a:gdLst>
                  <a:gd name="connsiteX0" fmla="*/ 167274 w 167471"/>
                  <a:gd name="connsiteY0" fmla="*/ 361 h 167162"/>
                  <a:gd name="connsiteX1" fmla="*/ 424 w 167471"/>
                  <a:gd name="connsiteY1" fmla="*/ 84562 h 167162"/>
                  <a:gd name="connsiteX2" fmla="*/ 167896 w 167471"/>
                  <a:gd name="connsiteY2" fmla="*/ 167523 h 167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471" h="167162">
                    <a:moveTo>
                      <a:pt x="167274" y="361"/>
                    </a:moveTo>
                    <a:lnTo>
                      <a:pt x="424" y="84562"/>
                    </a:lnTo>
                    <a:lnTo>
                      <a:pt x="167896" y="167523"/>
                    </a:lnTo>
                    <a:close/>
                  </a:path>
                </a:pathLst>
              </a:custGeom>
              <a:solidFill>
                <a:srgbClr val="FFB84D">
                  <a:alpha val="7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2" name="Freihandform: Form 391">
                <a:extLst>
                  <a:ext uri="{FF2B5EF4-FFF2-40B4-BE49-F238E27FC236}">
                    <a16:creationId xmlns:a16="http://schemas.microsoft.com/office/drawing/2014/main" id="{73589194-518B-6FE6-894E-C940CB6ACA12}"/>
                  </a:ext>
                </a:extLst>
              </p:cNvPr>
              <p:cNvSpPr/>
              <p:nvPr/>
            </p:nvSpPr>
            <p:spPr>
              <a:xfrm>
                <a:off x="2870389" y="29642166"/>
                <a:ext cx="1816087" cy="821184"/>
              </a:xfrm>
              <a:custGeom>
                <a:avLst/>
                <a:gdLst>
                  <a:gd name="connsiteX0" fmla="*/ 386 w 1816087"/>
                  <a:gd name="connsiteY0" fmla="*/ 821499 h 821184"/>
                  <a:gd name="connsiteX1" fmla="*/ 1816474 w 1816087"/>
                  <a:gd name="connsiteY1" fmla="*/ 315 h 821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16087" h="821184">
                    <a:moveTo>
                      <a:pt x="386" y="821499"/>
                    </a:moveTo>
                    <a:lnTo>
                      <a:pt x="1816474" y="315"/>
                    </a:lnTo>
                  </a:path>
                </a:pathLst>
              </a:custGeom>
              <a:noFill/>
              <a:ln w="102812" cap="flat">
                <a:solidFill>
                  <a:srgbClr val="FFB84D">
                    <a:alpha val="7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3" name="Freihandform: Form 392">
                <a:extLst>
                  <a:ext uri="{FF2B5EF4-FFF2-40B4-BE49-F238E27FC236}">
                    <a16:creationId xmlns:a16="http://schemas.microsoft.com/office/drawing/2014/main" id="{37C5E2E4-862A-2378-AAA0-655F019A1B92}"/>
                  </a:ext>
                </a:extLst>
              </p:cNvPr>
              <p:cNvSpPr/>
              <p:nvPr/>
            </p:nvSpPr>
            <p:spPr>
              <a:xfrm>
                <a:off x="4609446" y="29574715"/>
                <a:ext cx="208256" cy="169853"/>
              </a:xfrm>
              <a:custGeom>
                <a:avLst/>
                <a:gdLst>
                  <a:gd name="connsiteX0" fmla="*/ 77219 w 208256"/>
                  <a:gd name="connsiteY0" fmla="*/ 170156 h 169853"/>
                  <a:gd name="connsiteX1" fmla="*/ 208669 w 208256"/>
                  <a:gd name="connsiteY1" fmla="*/ 8433 h 169853"/>
                  <a:gd name="connsiteX2" fmla="*/ 413 w 208256"/>
                  <a:gd name="connsiteY2" fmla="*/ 303 h 169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8256" h="169853">
                    <a:moveTo>
                      <a:pt x="77219" y="170156"/>
                    </a:moveTo>
                    <a:lnTo>
                      <a:pt x="208669" y="8433"/>
                    </a:lnTo>
                    <a:lnTo>
                      <a:pt x="413" y="303"/>
                    </a:lnTo>
                    <a:close/>
                  </a:path>
                </a:pathLst>
              </a:custGeom>
              <a:solidFill>
                <a:srgbClr val="FFFFFF"/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4" name="Freihandform: Form 393">
                <a:extLst>
                  <a:ext uri="{FF2B5EF4-FFF2-40B4-BE49-F238E27FC236}">
                    <a16:creationId xmlns:a16="http://schemas.microsoft.com/office/drawing/2014/main" id="{E3D62513-EC95-06F5-FEDE-6A2D4EAB34C9}"/>
                  </a:ext>
                </a:extLst>
              </p:cNvPr>
              <p:cNvSpPr/>
              <p:nvPr/>
            </p:nvSpPr>
            <p:spPr>
              <a:xfrm>
                <a:off x="4609446" y="29574715"/>
                <a:ext cx="208256" cy="169853"/>
              </a:xfrm>
              <a:custGeom>
                <a:avLst/>
                <a:gdLst>
                  <a:gd name="connsiteX0" fmla="*/ 77219 w 208256"/>
                  <a:gd name="connsiteY0" fmla="*/ 170156 h 169853"/>
                  <a:gd name="connsiteX1" fmla="*/ 208669 w 208256"/>
                  <a:gd name="connsiteY1" fmla="*/ 8433 h 169853"/>
                  <a:gd name="connsiteX2" fmla="*/ 413 w 208256"/>
                  <a:gd name="connsiteY2" fmla="*/ 303 h 169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8256" h="169853">
                    <a:moveTo>
                      <a:pt x="77219" y="170156"/>
                    </a:moveTo>
                    <a:lnTo>
                      <a:pt x="208669" y="8433"/>
                    </a:lnTo>
                    <a:lnTo>
                      <a:pt x="413" y="303"/>
                    </a:lnTo>
                    <a:close/>
                  </a:path>
                </a:pathLst>
              </a:custGeom>
              <a:solidFill>
                <a:srgbClr val="FFB84D">
                  <a:alpha val="7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5" name="Freihandform: Form 394">
                <a:extLst>
                  <a:ext uri="{FF2B5EF4-FFF2-40B4-BE49-F238E27FC236}">
                    <a16:creationId xmlns:a16="http://schemas.microsoft.com/office/drawing/2014/main" id="{19CE439A-295A-4561-ED65-7B315010EF3A}"/>
                  </a:ext>
                </a:extLst>
              </p:cNvPr>
              <p:cNvSpPr/>
              <p:nvPr/>
            </p:nvSpPr>
            <p:spPr>
              <a:xfrm>
                <a:off x="6378026" y="33074125"/>
                <a:ext cx="159329" cy="2259459"/>
              </a:xfrm>
              <a:custGeom>
                <a:avLst/>
                <a:gdLst>
                  <a:gd name="connsiteX0" fmla="*/ 159793 w 159329"/>
                  <a:gd name="connsiteY0" fmla="*/ 2259894 h 2259459"/>
                  <a:gd name="connsiteX1" fmla="*/ 464 w 159329"/>
                  <a:gd name="connsiteY1" fmla="*/ 435 h 2259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9329" h="2259459">
                    <a:moveTo>
                      <a:pt x="159793" y="2259894"/>
                    </a:moveTo>
                    <a:lnTo>
                      <a:pt x="464" y="435"/>
                    </a:lnTo>
                  </a:path>
                </a:pathLst>
              </a:custGeom>
              <a:noFill/>
              <a:ln w="63998" cap="flat">
                <a:solidFill>
                  <a:srgbClr val="FFB84D">
                    <a:alpha val="7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6" name="Freihandform: Form 395">
                <a:extLst>
                  <a:ext uri="{FF2B5EF4-FFF2-40B4-BE49-F238E27FC236}">
                    <a16:creationId xmlns:a16="http://schemas.microsoft.com/office/drawing/2014/main" id="{3CA1C99C-0FAF-0A0A-D0D7-96EC9F966B96}"/>
                  </a:ext>
                </a:extLst>
              </p:cNvPr>
              <p:cNvSpPr/>
              <p:nvPr/>
            </p:nvSpPr>
            <p:spPr>
              <a:xfrm>
                <a:off x="6319592" y="32984699"/>
                <a:ext cx="121375" cy="125656"/>
              </a:xfrm>
              <a:custGeom>
                <a:avLst/>
                <a:gdLst>
                  <a:gd name="connsiteX0" fmla="*/ 121837 w 121375"/>
                  <a:gd name="connsiteY0" fmla="*/ 117498 h 125656"/>
                  <a:gd name="connsiteX1" fmla="*/ 52589 w 121375"/>
                  <a:gd name="connsiteY1" fmla="*/ 401 h 125656"/>
                  <a:gd name="connsiteX2" fmla="*/ 461 w 121375"/>
                  <a:gd name="connsiteY2" fmla="*/ 126058 h 125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1375" h="125656">
                    <a:moveTo>
                      <a:pt x="121837" y="117498"/>
                    </a:moveTo>
                    <a:lnTo>
                      <a:pt x="52589" y="401"/>
                    </a:lnTo>
                    <a:lnTo>
                      <a:pt x="461" y="126058"/>
                    </a:lnTo>
                    <a:close/>
                  </a:path>
                </a:pathLst>
              </a:custGeom>
              <a:solidFill>
                <a:srgbClr val="FFFFFF"/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7" name="Freihandform: Form 396">
                <a:extLst>
                  <a:ext uri="{FF2B5EF4-FFF2-40B4-BE49-F238E27FC236}">
                    <a16:creationId xmlns:a16="http://schemas.microsoft.com/office/drawing/2014/main" id="{EAA99CE2-6BC4-BA33-CC52-AA6147A82AE2}"/>
                  </a:ext>
                </a:extLst>
              </p:cNvPr>
              <p:cNvSpPr/>
              <p:nvPr/>
            </p:nvSpPr>
            <p:spPr>
              <a:xfrm>
                <a:off x="6319592" y="32984699"/>
                <a:ext cx="121375" cy="125656"/>
              </a:xfrm>
              <a:custGeom>
                <a:avLst/>
                <a:gdLst>
                  <a:gd name="connsiteX0" fmla="*/ 121837 w 121375"/>
                  <a:gd name="connsiteY0" fmla="*/ 117498 h 125656"/>
                  <a:gd name="connsiteX1" fmla="*/ 52589 w 121375"/>
                  <a:gd name="connsiteY1" fmla="*/ 401 h 125656"/>
                  <a:gd name="connsiteX2" fmla="*/ 461 w 121375"/>
                  <a:gd name="connsiteY2" fmla="*/ 126058 h 125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1375" h="125656">
                    <a:moveTo>
                      <a:pt x="121837" y="117498"/>
                    </a:moveTo>
                    <a:lnTo>
                      <a:pt x="52589" y="401"/>
                    </a:lnTo>
                    <a:lnTo>
                      <a:pt x="461" y="126058"/>
                    </a:lnTo>
                    <a:close/>
                  </a:path>
                </a:pathLst>
              </a:custGeom>
              <a:solidFill>
                <a:srgbClr val="FFB84D">
                  <a:alpha val="7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8" name="Freihandform: Form 397">
                <a:extLst>
                  <a:ext uri="{FF2B5EF4-FFF2-40B4-BE49-F238E27FC236}">
                    <a16:creationId xmlns:a16="http://schemas.microsoft.com/office/drawing/2014/main" id="{A25DAA7A-696C-15DD-AFAC-4C5614606246}"/>
                  </a:ext>
                </a:extLst>
              </p:cNvPr>
              <p:cNvSpPr/>
              <p:nvPr/>
            </p:nvSpPr>
            <p:spPr>
              <a:xfrm>
                <a:off x="7360045" y="29347663"/>
                <a:ext cx="1529294" cy="869425"/>
              </a:xfrm>
              <a:custGeom>
                <a:avLst/>
                <a:gdLst>
                  <a:gd name="connsiteX0" fmla="*/ 1529806 w 1529294"/>
                  <a:gd name="connsiteY0" fmla="*/ 869732 h 869425"/>
                  <a:gd name="connsiteX1" fmla="*/ 512 w 1529294"/>
                  <a:gd name="connsiteY1" fmla="*/ 307 h 869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29294" h="869425">
                    <a:moveTo>
                      <a:pt x="1529806" y="869732"/>
                    </a:moveTo>
                    <a:lnTo>
                      <a:pt x="512" y="307"/>
                    </a:lnTo>
                  </a:path>
                </a:pathLst>
              </a:custGeom>
              <a:noFill/>
              <a:ln w="66585" cap="flat">
                <a:solidFill>
                  <a:srgbClr val="FFB84D">
                    <a:alpha val="7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9" name="Freihandform: Form 398">
                <a:extLst>
                  <a:ext uri="{FF2B5EF4-FFF2-40B4-BE49-F238E27FC236}">
                    <a16:creationId xmlns:a16="http://schemas.microsoft.com/office/drawing/2014/main" id="{1AC8B843-DB38-55B0-FC42-FF5776B9F60F}"/>
                  </a:ext>
                </a:extLst>
              </p:cNvPr>
              <p:cNvSpPr/>
              <p:nvPr/>
            </p:nvSpPr>
            <p:spPr>
              <a:xfrm>
                <a:off x="7278961" y="29301562"/>
                <a:ext cx="140779" cy="117141"/>
              </a:xfrm>
              <a:custGeom>
                <a:avLst/>
                <a:gdLst>
                  <a:gd name="connsiteX0" fmla="*/ 141269 w 140779"/>
                  <a:gd name="connsiteY0" fmla="*/ 7803 h 117141"/>
                  <a:gd name="connsiteX1" fmla="*/ 489 w 140779"/>
                  <a:gd name="connsiteY1" fmla="*/ 295 h 117141"/>
                  <a:gd name="connsiteX2" fmla="*/ 78949 w 140779"/>
                  <a:gd name="connsiteY2" fmla="*/ 117437 h 117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0779" h="117141">
                    <a:moveTo>
                      <a:pt x="141269" y="7803"/>
                    </a:moveTo>
                    <a:lnTo>
                      <a:pt x="489" y="295"/>
                    </a:lnTo>
                    <a:lnTo>
                      <a:pt x="78949" y="117437"/>
                    </a:lnTo>
                    <a:close/>
                  </a:path>
                </a:pathLst>
              </a:custGeom>
              <a:solidFill>
                <a:srgbClr val="FFFFFF"/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0" name="Freihandform: Form 399">
                <a:extLst>
                  <a:ext uri="{FF2B5EF4-FFF2-40B4-BE49-F238E27FC236}">
                    <a16:creationId xmlns:a16="http://schemas.microsoft.com/office/drawing/2014/main" id="{280BA29C-3234-7F74-936F-9C82E6A72212}"/>
                  </a:ext>
                </a:extLst>
              </p:cNvPr>
              <p:cNvSpPr/>
              <p:nvPr/>
            </p:nvSpPr>
            <p:spPr>
              <a:xfrm>
                <a:off x="7278961" y="29301562"/>
                <a:ext cx="140779" cy="117141"/>
              </a:xfrm>
              <a:custGeom>
                <a:avLst/>
                <a:gdLst>
                  <a:gd name="connsiteX0" fmla="*/ 141269 w 140779"/>
                  <a:gd name="connsiteY0" fmla="*/ 7803 h 117141"/>
                  <a:gd name="connsiteX1" fmla="*/ 489 w 140779"/>
                  <a:gd name="connsiteY1" fmla="*/ 295 h 117141"/>
                  <a:gd name="connsiteX2" fmla="*/ 78949 w 140779"/>
                  <a:gd name="connsiteY2" fmla="*/ 117437 h 117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0779" h="117141">
                    <a:moveTo>
                      <a:pt x="141269" y="7803"/>
                    </a:moveTo>
                    <a:lnTo>
                      <a:pt x="489" y="295"/>
                    </a:lnTo>
                    <a:lnTo>
                      <a:pt x="78949" y="117437"/>
                    </a:lnTo>
                    <a:close/>
                  </a:path>
                </a:pathLst>
              </a:custGeom>
              <a:solidFill>
                <a:srgbClr val="FFB84D">
                  <a:alpha val="7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1" name="Freihandform: Form 400">
                <a:extLst>
                  <a:ext uri="{FF2B5EF4-FFF2-40B4-BE49-F238E27FC236}">
                    <a16:creationId xmlns:a16="http://schemas.microsoft.com/office/drawing/2014/main" id="{A3DCD13A-A706-9902-9539-DE48D7B507EC}"/>
                  </a:ext>
                </a:extLst>
              </p:cNvPr>
              <p:cNvSpPr/>
              <p:nvPr/>
            </p:nvSpPr>
            <p:spPr>
              <a:xfrm>
                <a:off x="8462256" y="34204700"/>
                <a:ext cx="1896704" cy="1065419"/>
              </a:xfrm>
              <a:custGeom>
                <a:avLst/>
                <a:gdLst>
                  <a:gd name="connsiteX0" fmla="*/ 549 w 1896704"/>
                  <a:gd name="connsiteY0" fmla="*/ 1065870 h 1065419"/>
                  <a:gd name="connsiteX1" fmla="*/ 1897254 w 1896704"/>
                  <a:gd name="connsiteY1" fmla="*/ 450 h 1065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96704" h="1065419">
                    <a:moveTo>
                      <a:pt x="549" y="1065870"/>
                    </a:moveTo>
                    <a:lnTo>
                      <a:pt x="1897254" y="450"/>
                    </a:lnTo>
                  </a:path>
                </a:pathLst>
              </a:custGeom>
              <a:noFill/>
              <a:ln w="63998" cap="flat">
                <a:solidFill>
                  <a:srgbClr val="FFB84D">
                    <a:alpha val="7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2" name="Freihandform: Form 401">
                <a:extLst>
                  <a:ext uri="{FF2B5EF4-FFF2-40B4-BE49-F238E27FC236}">
                    <a16:creationId xmlns:a16="http://schemas.microsoft.com/office/drawing/2014/main" id="{A19BC963-E198-CFD8-6A95-8C04CA06B0F0}"/>
                  </a:ext>
                </a:extLst>
              </p:cNvPr>
              <p:cNvSpPr/>
              <p:nvPr/>
            </p:nvSpPr>
            <p:spPr>
              <a:xfrm>
                <a:off x="10301227" y="34160795"/>
                <a:ext cx="135885" cy="112633"/>
              </a:xfrm>
              <a:custGeom>
                <a:avLst/>
                <a:gdLst>
                  <a:gd name="connsiteX0" fmla="*/ 60175 w 135885"/>
                  <a:gd name="connsiteY0" fmla="*/ 113069 h 112633"/>
                  <a:gd name="connsiteX1" fmla="*/ 136463 w 135885"/>
                  <a:gd name="connsiteY1" fmla="*/ 435 h 112633"/>
                  <a:gd name="connsiteX2" fmla="*/ 577 w 135885"/>
                  <a:gd name="connsiteY2" fmla="*/ 6984 h 112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5885" h="112633">
                    <a:moveTo>
                      <a:pt x="60175" y="113069"/>
                    </a:moveTo>
                    <a:lnTo>
                      <a:pt x="136463" y="435"/>
                    </a:lnTo>
                    <a:lnTo>
                      <a:pt x="577" y="6984"/>
                    </a:lnTo>
                    <a:close/>
                  </a:path>
                </a:pathLst>
              </a:custGeom>
              <a:solidFill>
                <a:srgbClr val="FFFFFF"/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3" name="Freihandform: Form 402">
                <a:extLst>
                  <a:ext uri="{FF2B5EF4-FFF2-40B4-BE49-F238E27FC236}">
                    <a16:creationId xmlns:a16="http://schemas.microsoft.com/office/drawing/2014/main" id="{E4F7D57B-0F26-4A77-4792-582826C2661C}"/>
                  </a:ext>
                </a:extLst>
              </p:cNvPr>
              <p:cNvSpPr/>
              <p:nvPr/>
            </p:nvSpPr>
            <p:spPr>
              <a:xfrm>
                <a:off x="10301227" y="34160795"/>
                <a:ext cx="135885" cy="112633"/>
              </a:xfrm>
              <a:custGeom>
                <a:avLst/>
                <a:gdLst>
                  <a:gd name="connsiteX0" fmla="*/ 60175 w 135885"/>
                  <a:gd name="connsiteY0" fmla="*/ 113069 h 112633"/>
                  <a:gd name="connsiteX1" fmla="*/ 136463 w 135885"/>
                  <a:gd name="connsiteY1" fmla="*/ 435 h 112633"/>
                  <a:gd name="connsiteX2" fmla="*/ 577 w 135885"/>
                  <a:gd name="connsiteY2" fmla="*/ 6984 h 112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5885" h="112633">
                    <a:moveTo>
                      <a:pt x="60175" y="113069"/>
                    </a:moveTo>
                    <a:lnTo>
                      <a:pt x="136463" y="435"/>
                    </a:lnTo>
                    <a:lnTo>
                      <a:pt x="577" y="6984"/>
                    </a:lnTo>
                    <a:close/>
                  </a:path>
                </a:pathLst>
              </a:custGeom>
              <a:solidFill>
                <a:srgbClr val="FFB84D">
                  <a:alpha val="7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4" name="Freihandform: Form 403">
                <a:extLst>
                  <a:ext uri="{FF2B5EF4-FFF2-40B4-BE49-F238E27FC236}">
                    <a16:creationId xmlns:a16="http://schemas.microsoft.com/office/drawing/2014/main" id="{47ACEB6D-4AC2-61BC-49AE-D51A8624BDA4}"/>
                  </a:ext>
                </a:extLst>
              </p:cNvPr>
              <p:cNvSpPr/>
              <p:nvPr/>
            </p:nvSpPr>
            <p:spPr>
              <a:xfrm>
                <a:off x="9054158" y="33257301"/>
                <a:ext cx="1260530" cy="563984"/>
              </a:xfrm>
              <a:custGeom>
                <a:avLst/>
                <a:gdLst>
                  <a:gd name="connsiteX0" fmla="*/ 557 w 1260530"/>
                  <a:gd name="connsiteY0" fmla="*/ 416 h 563984"/>
                  <a:gd name="connsiteX1" fmla="*/ 1261088 w 1260530"/>
                  <a:gd name="connsiteY1" fmla="*/ 564400 h 5639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60530" h="563984">
                    <a:moveTo>
                      <a:pt x="557" y="416"/>
                    </a:moveTo>
                    <a:lnTo>
                      <a:pt x="1261088" y="564400"/>
                    </a:lnTo>
                  </a:path>
                </a:pathLst>
              </a:custGeom>
              <a:noFill/>
              <a:ln w="85389" cap="flat">
                <a:solidFill>
                  <a:srgbClr val="FFB84D">
                    <a:alpha val="7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5" name="Freihandform: Form 404">
                <a:extLst>
                  <a:ext uri="{FF2B5EF4-FFF2-40B4-BE49-F238E27FC236}">
                    <a16:creationId xmlns:a16="http://schemas.microsoft.com/office/drawing/2014/main" id="{99871ECF-5C5A-A39D-94FB-02A767927463}"/>
                  </a:ext>
                </a:extLst>
              </p:cNvPr>
              <p:cNvSpPr/>
              <p:nvPr/>
            </p:nvSpPr>
            <p:spPr>
              <a:xfrm>
                <a:off x="10247687" y="33733728"/>
                <a:ext cx="176187" cy="143977"/>
              </a:xfrm>
              <a:custGeom>
                <a:avLst/>
                <a:gdLst>
                  <a:gd name="connsiteX0" fmla="*/ 576 w 176187"/>
                  <a:gd name="connsiteY0" fmla="*/ 144401 h 143977"/>
                  <a:gd name="connsiteX1" fmla="*/ 176763 w 176187"/>
                  <a:gd name="connsiteY1" fmla="*/ 136831 h 143977"/>
                  <a:gd name="connsiteX2" fmla="*/ 64989 w 176187"/>
                  <a:gd name="connsiteY2" fmla="*/ 423 h 143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6187" h="143977">
                    <a:moveTo>
                      <a:pt x="576" y="144401"/>
                    </a:moveTo>
                    <a:lnTo>
                      <a:pt x="176763" y="136831"/>
                    </a:lnTo>
                    <a:lnTo>
                      <a:pt x="64989" y="423"/>
                    </a:lnTo>
                    <a:close/>
                  </a:path>
                </a:pathLst>
              </a:custGeom>
              <a:solidFill>
                <a:srgbClr val="FFFFFF"/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6" name="Freihandform: Form 405">
                <a:extLst>
                  <a:ext uri="{FF2B5EF4-FFF2-40B4-BE49-F238E27FC236}">
                    <a16:creationId xmlns:a16="http://schemas.microsoft.com/office/drawing/2014/main" id="{26BEF408-06A6-AC6E-4BD0-0AE3AF25DC98}"/>
                  </a:ext>
                </a:extLst>
              </p:cNvPr>
              <p:cNvSpPr/>
              <p:nvPr/>
            </p:nvSpPr>
            <p:spPr>
              <a:xfrm>
                <a:off x="10247687" y="33733728"/>
                <a:ext cx="176187" cy="143977"/>
              </a:xfrm>
              <a:custGeom>
                <a:avLst/>
                <a:gdLst>
                  <a:gd name="connsiteX0" fmla="*/ 576 w 176187"/>
                  <a:gd name="connsiteY0" fmla="*/ 144401 h 143977"/>
                  <a:gd name="connsiteX1" fmla="*/ 176763 w 176187"/>
                  <a:gd name="connsiteY1" fmla="*/ 136831 h 143977"/>
                  <a:gd name="connsiteX2" fmla="*/ 64989 w 176187"/>
                  <a:gd name="connsiteY2" fmla="*/ 423 h 143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6187" h="143977">
                    <a:moveTo>
                      <a:pt x="576" y="144401"/>
                    </a:moveTo>
                    <a:lnTo>
                      <a:pt x="176763" y="136831"/>
                    </a:lnTo>
                    <a:lnTo>
                      <a:pt x="64989" y="423"/>
                    </a:lnTo>
                    <a:close/>
                  </a:path>
                </a:pathLst>
              </a:custGeom>
              <a:solidFill>
                <a:srgbClr val="FFB84D">
                  <a:alpha val="7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7" name="Freihandform: Form 406">
                <a:extLst>
                  <a:ext uri="{FF2B5EF4-FFF2-40B4-BE49-F238E27FC236}">
                    <a16:creationId xmlns:a16="http://schemas.microsoft.com/office/drawing/2014/main" id="{F2AE711B-AA20-2B9B-842B-400C04FEEEFD}"/>
                  </a:ext>
                </a:extLst>
              </p:cNvPr>
              <p:cNvSpPr/>
              <p:nvPr/>
            </p:nvSpPr>
            <p:spPr>
              <a:xfrm>
                <a:off x="2235696" y="29809707"/>
                <a:ext cx="2589393" cy="3244352"/>
              </a:xfrm>
              <a:custGeom>
                <a:avLst/>
                <a:gdLst>
                  <a:gd name="connsiteX0" fmla="*/ 379 w 2589393"/>
                  <a:gd name="connsiteY0" fmla="*/ 3244707 h 3244352"/>
                  <a:gd name="connsiteX1" fmla="*/ 2589772 w 2589393"/>
                  <a:gd name="connsiteY1" fmla="*/ 355 h 3244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89393" h="3244352">
                    <a:moveTo>
                      <a:pt x="379" y="3244707"/>
                    </a:moveTo>
                    <a:lnTo>
                      <a:pt x="2589772" y="355"/>
                    </a:lnTo>
                  </a:path>
                </a:pathLst>
              </a:custGeom>
              <a:noFill/>
              <a:ln w="97982" cap="flat">
                <a:solidFill>
                  <a:srgbClr val="FFB84D">
                    <a:alpha val="7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8" name="Freihandform: Form 407">
                <a:extLst>
                  <a:ext uri="{FF2B5EF4-FFF2-40B4-BE49-F238E27FC236}">
                    <a16:creationId xmlns:a16="http://schemas.microsoft.com/office/drawing/2014/main" id="{C1B6832B-33E9-0013-680A-21A4925C169A}"/>
                  </a:ext>
                </a:extLst>
              </p:cNvPr>
              <p:cNvSpPr/>
              <p:nvPr/>
            </p:nvSpPr>
            <p:spPr>
              <a:xfrm>
                <a:off x="4729591" y="29702437"/>
                <a:ext cx="181123" cy="195207"/>
              </a:xfrm>
              <a:custGeom>
                <a:avLst/>
                <a:gdLst>
                  <a:gd name="connsiteX0" fmla="*/ 139944 w 181123"/>
                  <a:gd name="connsiteY0" fmla="*/ 195515 h 195207"/>
                  <a:gd name="connsiteX1" fmla="*/ 181540 w 181123"/>
                  <a:gd name="connsiteY1" fmla="*/ 307 h 195207"/>
                  <a:gd name="connsiteX2" fmla="*/ 416 w 181123"/>
                  <a:gd name="connsiteY2" fmla="*/ 84155 h 195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1123" h="195207">
                    <a:moveTo>
                      <a:pt x="139944" y="195515"/>
                    </a:moveTo>
                    <a:lnTo>
                      <a:pt x="181540" y="307"/>
                    </a:lnTo>
                    <a:lnTo>
                      <a:pt x="416" y="84155"/>
                    </a:lnTo>
                    <a:close/>
                  </a:path>
                </a:pathLst>
              </a:custGeom>
              <a:solidFill>
                <a:srgbClr val="FFFFFF"/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9" name="Freihandform: Form 408">
                <a:extLst>
                  <a:ext uri="{FF2B5EF4-FFF2-40B4-BE49-F238E27FC236}">
                    <a16:creationId xmlns:a16="http://schemas.microsoft.com/office/drawing/2014/main" id="{976DE4FB-CC16-7D5F-83B8-446CCA4020CD}"/>
                  </a:ext>
                </a:extLst>
              </p:cNvPr>
              <p:cNvSpPr/>
              <p:nvPr/>
            </p:nvSpPr>
            <p:spPr>
              <a:xfrm>
                <a:off x="4729591" y="29702437"/>
                <a:ext cx="181123" cy="195207"/>
              </a:xfrm>
              <a:custGeom>
                <a:avLst/>
                <a:gdLst>
                  <a:gd name="connsiteX0" fmla="*/ 139944 w 181123"/>
                  <a:gd name="connsiteY0" fmla="*/ 195515 h 195207"/>
                  <a:gd name="connsiteX1" fmla="*/ 181540 w 181123"/>
                  <a:gd name="connsiteY1" fmla="*/ 307 h 195207"/>
                  <a:gd name="connsiteX2" fmla="*/ 416 w 181123"/>
                  <a:gd name="connsiteY2" fmla="*/ 84155 h 195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1123" h="195207">
                    <a:moveTo>
                      <a:pt x="139944" y="195515"/>
                    </a:moveTo>
                    <a:lnTo>
                      <a:pt x="181540" y="307"/>
                    </a:lnTo>
                    <a:lnTo>
                      <a:pt x="416" y="84155"/>
                    </a:lnTo>
                    <a:close/>
                  </a:path>
                </a:pathLst>
              </a:custGeom>
              <a:solidFill>
                <a:srgbClr val="FFB84D">
                  <a:alpha val="7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0" name="Freihandform: Form 409">
                <a:extLst>
                  <a:ext uri="{FF2B5EF4-FFF2-40B4-BE49-F238E27FC236}">
                    <a16:creationId xmlns:a16="http://schemas.microsoft.com/office/drawing/2014/main" id="{B70E0EF1-8B9A-7C6E-48BA-1FA203DE9F32}"/>
                  </a:ext>
                </a:extLst>
              </p:cNvPr>
              <p:cNvSpPr/>
              <p:nvPr/>
            </p:nvSpPr>
            <p:spPr>
              <a:xfrm>
                <a:off x="2334301" y="32602661"/>
                <a:ext cx="3457323" cy="592951"/>
              </a:xfrm>
              <a:custGeom>
                <a:avLst/>
                <a:gdLst>
                  <a:gd name="connsiteX0" fmla="*/ 394 w 3457323"/>
                  <a:gd name="connsiteY0" fmla="*/ 593349 h 592951"/>
                  <a:gd name="connsiteX1" fmla="*/ 3457718 w 3457323"/>
                  <a:gd name="connsiteY1" fmla="*/ 397 h 592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457323" h="592951">
                    <a:moveTo>
                      <a:pt x="394" y="593349"/>
                    </a:moveTo>
                    <a:cubicBezTo>
                      <a:pt x="1177509" y="203679"/>
                      <a:pt x="2329942" y="6029"/>
                      <a:pt x="3457718" y="397"/>
                    </a:cubicBezTo>
                  </a:path>
                </a:pathLst>
              </a:custGeom>
              <a:noFill/>
              <a:ln w="119372" cap="flat">
                <a:solidFill>
                  <a:srgbClr val="FFB84D">
                    <a:alpha val="7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1" name="Freihandform: Form 410">
                <a:extLst>
                  <a:ext uri="{FF2B5EF4-FFF2-40B4-BE49-F238E27FC236}">
                    <a16:creationId xmlns:a16="http://schemas.microsoft.com/office/drawing/2014/main" id="{0509528F-965E-CC6B-10FB-83675A6A7764}"/>
                  </a:ext>
                </a:extLst>
              </p:cNvPr>
              <p:cNvSpPr/>
              <p:nvPr/>
            </p:nvSpPr>
            <p:spPr>
              <a:xfrm>
                <a:off x="5743879" y="32498710"/>
                <a:ext cx="214956" cy="213210"/>
              </a:xfrm>
              <a:custGeom>
                <a:avLst/>
                <a:gdLst>
                  <a:gd name="connsiteX0" fmla="*/ 3936 w 214956"/>
                  <a:gd name="connsiteY0" fmla="*/ 213599 h 213210"/>
                  <a:gd name="connsiteX1" fmla="*/ 215402 w 214956"/>
                  <a:gd name="connsiteY1" fmla="*/ 103505 h 213210"/>
                  <a:gd name="connsiteX2" fmla="*/ 446 w 214956"/>
                  <a:gd name="connsiteY2" fmla="*/ 389 h 213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4956" h="213210">
                    <a:moveTo>
                      <a:pt x="3936" y="213599"/>
                    </a:moveTo>
                    <a:lnTo>
                      <a:pt x="215402" y="103505"/>
                    </a:lnTo>
                    <a:lnTo>
                      <a:pt x="446" y="389"/>
                    </a:lnTo>
                    <a:close/>
                  </a:path>
                </a:pathLst>
              </a:custGeom>
              <a:solidFill>
                <a:srgbClr val="FFFFFF"/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2" name="Freihandform: Form 411">
                <a:extLst>
                  <a:ext uri="{FF2B5EF4-FFF2-40B4-BE49-F238E27FC236}">
                    <a16:creationId xmlns:a16="http://schemas.microsoft.com/office/drawing/2014/main" id="{6E4EE94C-A291-C71A-D775-B3207BF59EC8}"/>
                  </a:ext>
                </a:extLst>
              </p:cNvPr>
              <p:cNvSpPr/>
              <p:nvPr/>
            </p:nvSpPr>
            <p:spPr>
              <a:xfrm>
                <a:off x="5743879" y="32498710"/>
                <a:ext cx="214956" cy="213210"/>
              </a:xfrm>
              <a:custGeom>
                <a:avLst/>
                <a:gdLst>
                  <a:gd name="connsiteX0" fmla="*/ 3936 w 214956"/>
                  <a:gd name="connsiteY0" fmla="*/ 213599 h 213210"/>
                  <a:gd name="connsiteX1" fmla="*/ 215402 w 214956"/>
                  <a:gd name="connsiteY1" fmla="*/ 103505 h 213210"/>
                  <a:gd name="connsiteX2" fmla="*/ 446 w 214956"/>
                  <a:gd name="connsiteY2" fmla="*/ 389 h 213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4956" h="213210">
                    <a:moveTo>
                      <a:pt x="3936" y="213599"/>
                    </a:moveTo>
                    <a:lnTo>
                      <a:pt x="215402" y="103505"/>
                    </a:lnTo>
                    <a:lnTo>
                      <a:pt x="446" y="389"/>
                    </a:lnTo>
                    <a:close/>
                  </a:path>
                </a:pathLst>
              </a:custGeom>
              <a:solidFill>
                <a:srgbClr val="FFB84D">
                  <a:alpha val="7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3" name="Freihandform: Form 412">
                <a:extLst>
                  <a:ext uri="{FF2B5EF4-FFF2-40B4-BE49-F238E27FC236}">
                    <a16:creationId xmlns:a16="http://schemas.microsoft.com/office/drawing/2014/main" id="{948387D0-03E8-2CF9-72DF-8D2030E69BE0}"/>
                  </a:ext>
                </a:extLst>
              </p:cNvPr>
              <p:cNvSpPr/>
              <p:nvPr/>
            </p:nvSpPr>
            <p:spPr>
              <a:xfrm>
                <a:off x="2046736" y="33593716"/>
                <a:ext cx="11506" cy="620660"/>
              </a:xfrm>
              <a:custGeom>
                <a:avLst/>
                <a:gdLst>
                  <a:gd name="connsiteX0" fmla="*/ 336 w 11506"/>
                  <a:gd name="connsiteY0" fmla="*/ 426 h 620660"/>
                  <a:gd name="connsiteX1" fmla="*/ 336 w 11506"/>
                  <a:gd name="connsiteY1" fmla="*/ 621087 h 620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506" h="620660">
                    <a:moveTo>
                      <a:pt x="336" y="426"/>
                    </a:moveTo>
                    <a:lnTo>
                      <a:pt x="336" y="621087"/>
                    </a:lnTo>
                  </a:path>
                </a:pathLst>
              </a:custGeom>
              <a:noFill/>
              <a:ln w="124202" cap="flat">
                <a:solidFill>
                  <a:srgbClr val="FFB84D">
                    <a:alpha val="7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4" name="Freihandform: Form 413">
                <a:extLst>
                  <a:ext uri="{FF2B5EF4-FFF2-40B4-BE49-F238E27FC236}">
                    <a16:creationId xmlns:a16="http://schemas.microsoft.com/office/drawing/2014/main" id="{E0AF3FBC-2F43-26B1-425B-A5E78B85A6FE}"/>
                  </a:ext>
                </a:extLst>
              </p:cNvPr>
              <p:cNvSpPr/>
              <p:nvPr/>
            </p:nvSpPr>
            <p:spPr>
              <a:xfrm>
                <a:off x="1936240" y="34167366"/>
                <a:ext cx="220993" cy="220988"/>
              </a:xfrm>
              <a:custGeom>
                <a:avLst/>
                <a:gdLst>
                  <a:gd name="connsiteX0" fmla="*/ 336 w 220993"/>
                  <a:gd name="connsiteY0" fmla="*/ 437 h 220988"/>
                  <a:gd name="connsiteX1" fmla="*/ 110832 w 220993"/>
                  <a:gd name="connsiteY1" fmla="*/ 221426 h 220988"/>
                  <a:gd name="connsiteX2" fmla="*/ 221329 w 220993"/>
                  <a:gd name="connsiteY2" fmla="*/ 437 h 220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0993" h="220988">
                    <a:moveTo>
                      <a:pt x="336" y="437"/>
                    </a:moveTo>
                    <a:lnTo>
                      <a:pt x="110832" y="221426"/>
                    </a:lnTo>
                    <a:lnTo>
                      <a:pt x="221329" y="437"/>
                    </a:lnTo>
                    <a:close/>
                  </a:path>
                </a:pathLst>
              </a:custGeom>
              <a:solidFill>
                <a:srgbClr val="FFFFFF"/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5" name="Freihandform: Form 414">
                <a:extLst>
                  <a:ext uri="{FF2B5EF4-FFF2-40B4-BE49-F238E27FC236}">
                    <a16:creationId xmlns:a16="http://schemas.microsoft.com/office/drawing/2014/main" id="{F253F629-3D6B-3913-6D55-87CB1D9F1C2E}"/>
                  </a:ext>
                </a:extLst>
              </p:cNvPr>
              <p:cNvSpPr/>
              <p:nvPr/>
            </p:nvSpPr>
            <p:spPr>
              <a:xfrm>
                <a:off x="1936240" y="34167366"/>
                <a:ext cx="220993" cy="220988"/>
              </a:xfrm>
              <a:custGeom>
                <a:avLst/>
                <a:gdLst>
                  <a:gd name="connsiteX0" fmla="*/ 336 w 220993"/>
                  <a:gd name="connsiteY0" fmla="*/ 437 h 220988"/>
                  <a:gd name="connsiteX1" fmla="*/ 110832 w 220993"/>
                  <a:gd name="connsiteY1" fmla="*/ 221426 h 220988"/>
                  <a:gd name="connsiteX2" fmla="*/ 221329 w 220993"/>
                  <a:gd name="connsiteY2" fmla="*/ 437 h 220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0993" h="220988">
                    <a:moveTo>
                      <a:pt x="336" y="437"/>
                    </a:moveTo>
                    <a:lnTo>
                      <a:pt x="110832" y="221426"/>
                    </a:lnTo>
                    <a:lnTo>
                      <a:pt x="221329" y="437"/>
                    </a:lnTo>
                    <a:close/>
                  </a:path>
                </a:pathLst>
              </a:custGeom>
              <a:solidFill>
                <a:srgbClr val="FFB84D">
                  <a:alpha val="7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6" name="Freihandform: Form 415">
                <a:extLst>
                  <a:ext uri="{FF2B5EF4-FFF2-40B4-BE49-F238E27FC236}">
                    <a16:creationId xmlns:a16="http://schemas.microsoft.com/office/drawing/2014/main" id="{C16F4D2B-7619-A443-917E-4E86CD8DE9AB}"/>
                  </a:ext>
                </a:extLst>
              </p:cNvPr>
              <p:cNvSpPr/>
              <p:nvPr/>
            </p:nvSpPr>
            <p:spPr>
              <a:xfrm>
                <a:off x="8358484" y="31336277"/>
                <a:ext cx="1086055" cy="215857"/>
              </a:xfrm>
              <a:custGeom>
                <a:avLst/>
                <a:gdLst>
                  <a:gd name="connsiteX0" fmla="*/ 1086590 w 1086055"/>
                  <a:gd name="connsiteY0" fmla="*/ 355 h 215857"/>
                  <a:gd name="connsiteX1" fmla="*/ 534 w 1086055"/>
                  <a:gd name="connsiteY1" fmla="*/ 216212 h 21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86055" h="215857">
                    <a:moveTo>
                      <a:pt x="1086590" y="355"/>
                    </a:moveTo>
                    <a:lnTo>
                      <a:pt x="534" y="216212"/>
                    </a:lnTo>
                  </a:path>
                </a:pathLst>
              </a:custGeom>
              <a:noFill/>
              <a:ln w="96602" cap="flat">
                <a:solidFill>
                  <a:srgbClr val="FFB84D">
                    <a:alpha val="7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7" name="Freihandform: Form 416">
                <a:extLst>
                  <a:ext uri="{FF2B5EF4-FFF2-40B4-BE49-F238E27FC236}">
                    <a16:creationId xmlns:a16="http://schemas.microsoft.com/office/drawing/2014/main" id="{1C23935C-80A4-BB95-E32D-4C7AD1ECA0DA}"/>
                  </a:ext>
                </a:extLst>
              </p:cNvPr>
              <p:cNvSpPr/>
              <p:nvPr/>
            </p:nvSpPr>
            <p:spPr>
              <a:xfrm>
                <a:off x="8225763" y="31457717"/>
                <a:ext cx="190052" cy="172873"/>
              </a:xfrm>
              <a:custGeom>
                <a:avLst/>
                <a:gdLst>
                  <a:gd name="connsiteX0" fmla="*/ 156211 w 190052"/>
                  <a:gd name="connsiteY0" fmla="*/ 358 h 172873"/>
                  <a:gd name="connsiteX1" fmla="*/ 518 w 190052"/>
                  <a:gd name="connsiteY1" fmla="*/ 121154 h 172873"/>
                  <a:gd name="connsiteX2" fmla="*/ 190570 w 190052"/>
                  <a:gd name="connsiteY2" fmla="*/ 173232 h 172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052" h="172873">
                    <a:moveTo>
                      <a:pt x="156211" y="358"/>
                    </a:moveTo>
                    <a:lnTo>
                      <a:pt x="518" y="121154"/>
                    </a:lnTo>
                    <a:lnTo>
                      <a:pt x="190570" y="173232"/>
                    </a:lnTo>
                    <a:close/>
                  </a:path>
                </a:pathLst>
              </a:custGeom>
              <a:solidFill>
                <a:srgbClr val="FFFFFF"/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8" name="Freihandform: Form 417">
                <a:extLst>
                  <a:ext uri="{FF2B5EF4-FFF2-40B4-BE49-F238E27FC236}">
                    <a16:creationId xmlns:a16="http://schemas.microsoft.com/office/drawing/2014/main" id="{2D82A037-1025-7946-6ADF-55BFF1B03C16}"/>
                  </a:ext>
                </a:extLst>
              </p:cNvPr>
              <p:cNvSpPr/>
              <p:nvPr/>
            </p:nvSpPr>
            <p:spPr>
              <a:xfrm>
                <a:off x="8225763" y="31457717"/>
                <a:ext cx="190052" cy="172873"/>
              </a:xfrm>
              <a:custGeom>
                <a:avLst/>
                <a:gdLst>
                  <a:gd name="connsiteX0" fmla="*/ 156211 w 190052"/>
                  <a:gd name="connsiteY0" fmla="*/ 358 h 172873"/>
                  <a:gd name="connsiteX1" fmla="*/ 518 w 190052"/>
                  <a:gd name="connsiteY1" fmla="*/ 121154 h 172873"/>
                  <a:gd name="connsiteX2" fmla="*/ 190570 w 190052"/>
                  <a:gd name="connsiteY2" fmla="*/ 173232 h 172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052" h="172873">
                    <a:moveTo>
                      <a:pt x="156211" y="358"/>
                    </a:moveTo>
                    <a:lnTo>
                      <a:pt x="518" y="121154"/>
                    </a:lnTo>
                    <a:lnTo>
                      <a:pt x="190570" y="173232"/>
                    </a:lnTo>
                    <a:close/>
                  </a:path>
                </a:pathLst>
              </a:custGeom>
              <a:solidFill>
                <a:srgbClr val="FFB84D">
                  <a:alpha val="7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9" name="Freihandform: Form 418">
                <a:extLst>
                  <a:ext uri="{FF2B5EF4-FFF2-40B4-BE49-F238E27FC236}">
                    <a16:creationId xmlns:a16="http://schemas.microsoft.com/office/drawing/2014/main" id="{DD7A1DCC-E10A-C2BB-60CA-0C58C7EAAC83}"/>
                  </a:ext>
                </a:extLst>
              </p:cNvPr>
              <p:cNvSpPr/>
              <p:nvPr/>
            </p:nvSpPr>
            <p:spPr>
              <a:xfrm>
                <a:off x="9860603" y="32435756"/>
                <a:ext cx="771527" cy="1196505"/>
              </a:xfrm>
              <a:custGeom>
                <a:avLst/>
                <a:gdLst>
                  <a:gd name="connsiteX0" fmla="*/ 573 w 771527"/>
                  <a:gd name="connsiteY0" fmla="*/ 401 h 1196505"/>
                  <a:gd name="connsiteX1" fmla="*/ 772101 w 771527"/>
                  <a:gd name="connsiteY1" fmla="*/ 1196907 h 1196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71527" h="1196505">
                    <a:moveTo>
                      <a:pt x="573" y="401"/>
                    </a:moveTo>
                    <a:cubicBezTo>
                      <a:pt x="404607" y="329610"/>
                      <a:pt x="661794" y="728445"/>
                      <a:pt x="772101" y="1196907"/>
                    </a:cubicBezTo>
                  </a:path>
                </a:pathLst>
              </a:custGeom>
              <a:noFill/>
              <a:ln w="40365" cap="flat">
                <a:solidFill>
                  <a:srgbClr val="FFB84D">
                    <a:alpha val="7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0" name="Freihandform: Form 419">
                <a:extLst>
                  <a:ext uri="{FF2B5EF4-FFF2-40B4-BE49-F238E27FC236}">
                    <a16:creationId xmlns:a16="http://schemas.microsoft.com/office/drawing/2014/main" id="{2EDBF929-AC06-B927-B8D7-2E6C9E2E50ED}"/>
                  </a:ext>
                </a:extLst>
              </p:cNvPr>
              <p:cNvSpPr/>
              <p:nvPr/>
            </p:nvSpPr>
            <p:spPr>
              <a:xfrm>
                <a:off x="10567717" y="33572326"/>
                <a:ext cx="101694" cy="114972"/>
              </a:xfrm>
              <a:custGeom>
                <a:avLst/>
                <a:gdLst>
                  <a:gd name="connsiteX0" fmla="*/ 584 w 101694"/>
                  <a:gd name="connsiteY0" fmla="*/ 26945 h 114972"/>
                  <a:gd name="connsiteX1" fmla="*/ 77960 w 101694"/>
                  <a:gd name="connsiteY1" fmla="*/ 115391 h 114972"/>
                  <a:gd name="connsiteX2" fmla="*/ 102278 w 101694"/>
                  <a:gd name="connsiteY2" fmla="*/ 418 h 114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1694" h="114972">
                    <a:moveTo>
                      <a:pt x="584" y="26945"/>
                    </a:moveTo>
                    <a:lnTo>
                      <a:pt x="77960" y="115391"/>
                    </a:lnTo>
                    <a:lnTo>
                      <a:pt x="102278" y="418"/>
                    </a:lnTo>
                    <a:close/>
                  </a:path>
                </a:pathLst>
              </a:custGeom>
              <a:solidFill>
                <a:srgbClr val="FFFFFF"/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1" name="Freihandform: Form 420">
                <a:extLst>
                  <a:ext uri="{FF2B5EF4-FFF2-40B4-BE49-F238E27FC236}">
                    <a16:creationId xmlns:a16="http://schemas.microsoft.com/office/drawing/2014/main" id="{62BE2383-CC9B-090D-1A3B-EDE8ECCEDFFA}"/>
                  </a:ext>
                </a:extLst>
              </p:cNvPr>
              <p:cNvSpPr/>
              <p:nvPr/>
            </p:nvSpPr>
            <p:spPr>
              <a:xfrm>
                <a:off x="10567717" y="33572326"/>
                <a:ext cx="101694" cy="114972"/>
              </a:xfrm>
              <a:custGeom>
                <a:avLst/>
                <a:gdLst>
                  <a:gd name="connsiteX0" fmla="*/ 584 w 101694"/>
                  <a:gd name="connsiteY0" fmla="*/ 26945 h 114972"/>
                  <a:gd name="connsiteX1" fmla="*/ 77960 w 101694"/>
                  <a:gd name="connsiteY1" fmla="*/ 115391 h 114972"/>
                  <a:gd name="connsiteX2" fmla="*/ 102278 w 101694"/>
                  <a:gd name="connsiteY2" fmla="*/ 418 h 114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1694" h="114972">
                    <a:moveTo>
                      <a:pt x="584" y="26945"/>
                    </a:moveTo>
                    <a:lnTo>
                      <a:pt x="77960" y="115391"/>
                    </a:lnTo>
                    <a:lnTo>
                      <a:pt x="102278" y="418"/>
                    </a:lnTo>
                    <a:close/>
                  </a:path>
                </a:pathLst>
              </a:custGeom>
              <a:solidFill>
                <a:srgbClr val="FFB84D">
                  <a:alpha val="7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2" name="Freihandform: Form 421">
                <a:extLst>
                  <a:ext uri="{FF2B5EF4-FFF2-40B4-BE49-F238E27FC236}">
                    <a16:creationId xmlns:a16="http://schemas.microsoft.com/office/drawing/2014/main" id="{C3CD1697-81E6-A5C3-9D96-77D5EDEA0458}"/>
                  </a:ext>
                </a:extLst>
              </p:cNvPr>
              <p:cNvSpPr/>
              <p:nvPr/>
            </p:nvSpPr>
            <p:spPr>
              <a:xfrm>
                <a:off x="4938227" y="34058374"/>
                <a:ext cx="5354767" cy="704361"/>
              </a:xfrm>
              <a:custGeom>
                <a:avLst/>
                <a:gdLst>
                  <a:gd name="connsiteX0" fmla="*/ 497 w 5354767"/>
                  <a:gd name="connsiteY0" fmla="*/ 704802 h 704361"/>
                  <a:gd name="connsiteX1" fmla="*/ 5355264 w 5354767"/>
                  <a:gd name="connsiteY1" fmla="*/ 441 h 704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54767" h="704361">
                    <a:moveTo>
                      <a:pt x="497" y="704802"/>
                    </a:moveTo>
                    <a:lnTo>
                      <a:pt x="5355264" y="441"/>
                    </a:lnTo>
                  </a:path>
                </a:pathLst>
              </a:custGeom>
              <a:noFill/>
              <a:ln w="75902" cap="flat">
                <a:solidFill>
                  <a:srgbClr val="FFB84D">
                    <a:alpha val="7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3" name="Freihandform: Form 422">
                <a:extLst>
                  <a:ext uri="{FF2B5EF4-FFF2-40B4-BE49-F238E27FC236}">
                    <a16:creationId xmlns:a16="http://schemas.microsoft.com/office/drawing/2014/main" id="{A42E9E49-9109-DF7B-6028-7B9491ACFE44}"/>
                  </a:ext>
                </a:extLst>
              </p:cNvPr>
              <p:cNvSpPr/>
              <p:nvPr/>
            </p:nvSpPr>
            <p:spPr>
              <a:xfrm>
                <a:off x="10248498" y="33992682"/>
                <a:ext cx="149917" cy="140654"/>
              </a:xfrm>
              <a:custGeom>
                <a:avLst/>
                <a:gdLst>
                  <a:gd name="connsiteX0" fmla="*/ 19078 w 149917"/>
                  <a:gd name="connsiteY0" fmla="*/ 141086 h 140654"/>
                  <a:gd name="connsiteX1" fmla="*/ 150494 w 149917"/>
                  <a:gd name="connsiteY1" fmla="*/ 52257 h 140654"/>
                  <a:gd name="connsiteX2" fmla="*/ 576 w 149917"/>
                  <a:gd name="connsiteY2" fmla="*/ 431 h 140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9917" h="140654">
                    <a:moveTo>
                      <a:pt x="19078" y="141086"/>
                    </a:moveTo>
                    <a:lnTo>
                      <a:pt x="150494" y="52257"/>
                    </a:lnTo>
                    <a:lnTo>
                      <a:pt x="576" y="431"/>
                    </a:lnTo>
                    <a:close/>
                  </a:path>
                </a:pathLst>
              </a:custGeom>
              <a:solidFill>
                <a:srgbClr val="FFFFFF"/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4" name="Freihandform: Form 423">
                <a:extLst>
                  <a:ext uri="{FF2B5EF4-FFF2-40B4-BE49-F238E27FC236}">
                    <a16:creationId xmlns:a16="http://schemas.microsoft.com/office/drawing/2014/main" id="{2DEB22DE-1D09-7538-6E9E-1B4E937268BB}"/>
                  </a:ext>
                </a:extLst>
              </p:cNvPr>
              <p:cNvSpPr/>
              <p:nvPr/>
            </p:nvSpPr>
            <p:spPr>
              <a:xfrm>
                <a:off x="10248498" y="33992682"/>
                <a:ext cx="149917" cy="140654"/>
              </a:xfrm>
              <a:custGeom>
                <a:avLst/>
                <a:gdLst>
                  <a:gd name="connsiteX0" fmla="*/ 19078 w 149917"/>
                  <a:gd name="connsiteY0" fmla="*/ 141086 h 140654"/>
                  <a:gd name="connsiteX1" fmla="*/ 150494 w 149917"/>
                  <a:gd name="connsiteY1" fmla="*/ 52257 h 140654"/>
                  <a:gd name="connsiteX2" fmla="*/ 576 w 149917"/>
                  <a:gd name="connsiteY2" fmla="*/ 431 h 140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9917" h="140654">
                    <a:moveTo>
                      <a:pt x="19078" y="141086"/>
                    </a:moveTo>
                    <a:lnTo>
                      <a:pt x="150494" y="52257"/>
                    </a:lnTo>
                    <a:lnTo>
                      <a:pt x="576" y="431"/>
                    </a:lnTo>
                    <a:close/>
                  </a:path>
                </a:pathLst>
              </a:custGeom>
              <a:solidFill>
                <a:srgbClr val="FFB84D">
                  <a:alpha val="7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5" name="Freihandform: Form 424">
                <a:extLst>
                  <a:ext uri="{FF2B5EF4-FFF2-40B4-BE49-F238E27FC236}">
                    <a16:creationId xmlns:a16="http://schemas.microsoft.com/office/drawing/2014/main" id="{71A3AD84-83BF-CFC2-5B10-98FFF5FD893F}"/>
                  </a:ext>
                </a:extLst>
              </p:cNvPr>
              <p:cNvSpPr/>
              <p:nvPr/>
            </p:nvSpPr>
            <p:spPr>
              <a:xfrm>
                <a:off x="2280313" y="32750445"/>
                <a:ext cx="3591480" cy="1761730"/>
              </a:xfrm>
              <a:custGeom>
                <a:avLst/>
                <a:gdLst>
                  <a:gd name="connsiteX0" fmla="*/ 395 w 3591480"/>
                  <a:gd name="connsiteY0" fmla="*/ 1762149 h 1761730"/>
                  <a:gd name="connsiteX1" fmla="*/ 3591875 w 3591480"/>
                  <a:gd name="connsiteY1" fmla="*/ 418 h 1761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591480" h="1761730">
                    <a:moveTo>
                      <a:pt x="395" y="1762149"/>
                    </a:moveTo>
                    <a:cubicBezTo>
                      <a:pt x="1146303" y="985177"/>
                      <a:pt x="2343474" y="397932"/>
                      <a:pt x="3591875" y="418"/>
                    </a:cubicBezTo>
                  </a:path>
                </a:pathLst>
              </a:custGeom>
              <a:noFill/>
              <a:ln w="78834" cap="flat">
                <a:solidFill>
                  <a:srgbClr val="FFB84D">
                    <a:alpha val="7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6" name="Freihandform: Form 425">
                <a:extLst>
                  <a:ext uri="{FF2B5EF4-FFF2-40B4-BE49-F238E27FC236}">
                    <a16:creationId xmlns:a16="http://schemas.microsoft.com/office/drawing/2014/main" id="{A889C86F-CCA8-2980-6FF0-81CBB864B597}"/>
                  </a:ext>
                </a:extLst>
              </p:cNvPr>
              <p:cNvSpPr/>
              <p:nvPr/>
            </p:nvSpPr>
            <p:spPr>
              <a:xfrm>
                <a:off x="5814589" y="32693440"/>
                <a:ext cx="162426" cy="139340"/>
              </a:xfrm>
              <a:custGeom>
                <a:avLst/>
                <a:gdLst>
                  <a:gd name="connsiteX0" fmla="*/ 46617 w 162426"/>
                  <a:gd name="connsiteY0" fmla="*/ 139733 h 139340"/>
                  <a:gd name="connsiteX1" fmla="*/ 162874 w 162426"/>
                  <a:gd name="connsiteY1" fmla="*/ 23894 h 139340"/>
                  <a:gd name="connsiteX2" fmla="*/ 447 w 162426"/>
                  <a:gd name="connsiteY2" fmla="*/ 393 h 139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2426" h="139340">
                    <a:moveTo>
                      <a:pt x="46617" y="139733"/>
                    </a:moveTo>
                    <a:lnTo>
                      <a:pt x="162874" y="23894"/>
                    </a:lnTo>
                    <a:lnTo>
                      <a:pt x="447" y="393"/>
                    </a:lnTo>
                    <a:close/>
                  </a:path>
                </a:pathLst>
              </a:custGeom>
              <a:solidFill>
                <a:srgbClr val="FFFFFF"/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7" name="Freihandform: Form 426">
                <a:extLst>
                  <a:ext uri="{FF2B5EF4-FFF2-40B4-BE49-F238E27FC236}">
                    <a16:creationId xmlns:a16="http://schemas.microsoft.com/office/drawing/2014/main" id="{F6ECA435-082A-46BC-097E-FB65269281E2}"/>
                  </a:ext>
                </a:extLst>
              </p:cNvPr>
              <p:cNvSpPr/>
              <p:nvPr/>
            </p:nvSpPr>
            <p:spPr>
              <a:xfrm>
                <a:off x="5814589" y="32693440"/>
                <a:ext cx="162426" cy="139340"/>
              </a:xfrm>
              <a:custGeom>
                <a:avLst/>
                <a:gdLst>
                  <a:gd name="connsiteX0" fmla="*/ 46617 w 162426"/>
                  <a:gd name="connsiteY0" fmla="*/ 139733 h 139340"/>
                  <a:gd name="connsiteX1" fmla="*/ 162874 w 162426"/>
                  <a:gd name="connsiteY1" fmla="*/ 23894 h 139340"/>
                  <a:gd name="connsiteX2" fmla="*/ 447 w 162426"/>
                  <a:gd name="connsiteY2" fmla="*/ 393 h 139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2426" h="139340">
                    <a:moveTo>
                      <a:pt x="46617" y="139733"/>
                    </a:moveTo>
                    <a:lnTo>
                      <a:pt x="162874" y="23894"/>
                    </a:lnTo>
                    <a:lnTo>
                      <a:pt x="447" y="393"/>
                    </a:lnTo>
                    <a:close/>
                  </a:path>
                </a:pathLst>
              </a:custGeom>
              <a:solidFill>
                <a:srgbClr val="FFB84D">
                  <a:alpha val="7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8" name="Freihandform: Form 427">
                <a:extLst>
                  <a:ext uri="{FF2B5EF4-FFF2-40B4-BE49-F238E27FC236}">
                    <a16:creationId xmlns:a16="http://schemas.microsoft.com/office/drawing/2014/main" id="{F0383998-9CC8-CD93-F7E4-87152E91DA0D}"/>
                  </a:ext>
                </a:extLst>
              </p:cNvPr>
              <p:cNvSpPr/>
              <p:nvPr/>
            </p:nvSpPr>
            <p:spPr>
              <a:xfrm>
                <a:off x="6326463" y="35345925"/>
                <a:ext cx="455657" cy="455657"/>
              </a:xfrm>
              <a:custGeom>
                <a:avLst/>
                <a:gdLst>
                  <a:gd name="connsiteX0" fmla="*/ 456124 w 455657"/>
                  <a:gd name="connsiteY0" fmla="*/ 228303 h 455657"/>
                  <a:gd name="connsiteX1" fmla="*/ 455423 w 455657"/>
                  <a:gd name="connsiteY1" fmla="*/ 246184 h 455657"/>
                  <a:gd name="connsiteX2" fmla="*/ 453319 w 455657"/>
                  <a:gd name="connsiteY2" fmla="*/ 263945 h 455657"/>
                  <a:gd name="connsiteX3" fmla="*/ 449829 w 455657"/>
                  <a:gd name="connsiteY3" fmla="*/ 281498 h 455657"/>
                  <a:gd name="connsiteX4" fmla="*/ 444974 w 455657"/>
                  <a:gd name="connsiteY4" fmla="*/ 298706 h 455657"/>
                  <a:gd name="connsiteX5" fmla="*/ 438783 w 455657"/>
                  <a:gd name="connsiteY5" fmla="*/ 315499 h 455657"/>
                  <a:gd name="connsiteX6" fmla="*/ 431292 w 455657"/>
                  <a:gd name="connsiteY6" fmla="*/ 331741 h 455657"/>
                  <a:gd name="connsiteX7" fmla="*/ 422552 w 455657"/>
                  <a:gd name="connsiteY7" fmla="*/ 347344 h 455657"/>
                  <a:gd name="connsiteX8" fmla="*/ 412614 w 455657"/>
                  <a:gd name="connsiteY8" fmla="*/ 362222 h 455657"/>
                  <a:gd name="connsiteX9" fmla="*/ 401538 w 455657"/>
                  <a:gd name="connsiteY9" fmla="*/ 376271 h 455657"/>
                  <a:gd name="connsiteX10" fmla="*/ 389396 w 455657"/>
                  <a:gd name="connsiteY10" fmla="*/ 389406 h 455657"/>
                  <a:gd name="connsiteX11" fmla="*/ 376259 w 455657"/>
                  <a:gd name="connsiteY11" fmla="*/ 401539 h 455657"/>
                  <a:gd name="connsiteX12" fmla="*/ 362210 w 455657"/>
                  <a:gd name="connsiteY12" fmla="*/ 412620 h 455657"/>
                  <a:gd name="connsiteX13" fmla="*/ 347335 w 455657"/>
                  <a:gd name="connsiteY13" fmla="*/ 422561 h 455657"/>
                  <a:gd name="connsiteX14" fmla="*/ 331727 w 455657"/>
                  <a:gd name="connsiteY14" fmla="*/ 431295 h 455657"/>
                  <a:gd name="connsiteX15" fmla="*/ 315483 w 455657"/>
                  <a:gd name="connsiteY15" fmla="*/ 438786 h 455657"/>
                  <a:gd name="connsiteX16" fmla="*/ 298699 w 455657"/>
                  <a:gd name="connsiteY16" fmla="*/ 444982 h 455657"/>
                  <a:gd name="connsiteX17" fmla="*/ 281481 w 455657"/>
                  <a:gd name="connsiteY17" fmla="*/ 449832 h 455657"/>
                  <a:gd name="connsiteX18" fmla="*/ 263936 w 455657"/>
                  <a:gd name="connsiteY18" fmla="*/ 453336 h 455657"/>
                  <a:gd name="connsiteX19" fmla="*/ 246171 w 455657"/>
                  <a:gd name="connsiteY19" fmla="*/ 455424 h 455657"/>
                  <a:gd name="connsiteX20" fmla="*/ 228295 w 455657"/>
                  <a:gd name="connsiteY20" fmla="*/ 456132 h 455657"/>
                  <a:gd name="connsiteX21" fmla="*/ 210421 w 455657"/>
                  <a:gd name="connsiteY21" fmla="*/ 455424 h 455657"/>
                  <a:gd name="connsiteX22" fmla="*/ 192655 w 455657"/>
                  <a:gd name="connsiteY22" fmla="*/ 453336 h 455657"/>
                  <a:gd name="connsiteX23" fmla="*/ 175111 w 455657"/>
                  <a:gd name="connsiteY23" fmla="*/ 449832 h 455657"/>
                  <a:gd name="connsiteX24" fmla="*/ 157892 w 455657"/>
                  <a:gd name="connsiteY24" fmla="*/ 444982 h 455657"/>
                  <a:gd name="connsiteX25" fmla="*/ 141109 w 455657"/>
                  <a:gd name="connsiteY25" fmla="*/ 438786 h 455657"/>
                  <a:gd name="connsiteX26" fmla="*/ 124864 w 455657"/>
                  <a:gd name="connsiteY26" fmla="*/ 431295 h 455657"/>
                  <a:gd name="connsiteX27" fmla="*/ 109256 w 455657"/>
                  <a:gd name="connsiteY27" fmla="*/ 422561 h 455657"/>
                  <a:gd name="connsiteX28" fmla="*/ 94382 w 455657"/>
                  <a:gd name="connsiteY28" fmla="*/ 412620 h 455657"/>
                  <a:gd name="connsiteX29" fmla="*/ 80332 w 455657"/>
                  <a:gd name="connsiteY29" fmla="*/ 401539 h 455657"/>
                  <a:gd name="connsiteX30" fmla="*/ 67196 w 455657"/>
                  <a:gd name="connsiteY30" fmla="*/ 389406 h 455657"/>
                  <a:gd name="connsiteX31" fmla="*/ 55054 w 455657"/>
                  <a:gd name="connsiteY31" fmla="*/ 376271 h 455657"/>
                  <a:gd name="connsiteX32" fmla="*/ 43978 w 455657"/>
                  <a:gd name="connsiteY32" fmla="*/ 362222 h 455657"/>
                  <a:gd name="connsiteX33" fmla="*/ 34040 w 455657"/>
                  <a:gd name="connsiteY33" fmla="*/ 347344 h 455657"/>
                  <a:gd name="connsiteX34" fmla="*/ 25300 w 455657"/>
                  <a:gd name="connsiteY34" fmla="*/ 331741 h 455657"/>
                  <a:gd name="connsiteX35" fmla="*/ 17809 w 455657"/>
                  <a:gd name="connsiteY35" fmla="*/ 315499 h 455657"/>
                  <a:gd name="connsiteX36" fmla="*/ 11618 w 455657"/>
                  <a:gd name="connsiteY36" fmla="*/ 298706 h 455657"/>
                  <a:gd name="connsiteX37" fmla="*/ 6763 w 455657"/>
                  <a:gd name="connsiteY37" fmla="*/ 281498 h 455657"/>
                  <a:gd name="connsiteX38" fmla="*/ 3273 w 455657"/>
                  <a:gd name="connsiteY38" fmla="*/ 263945 h 455657"/>
                  <a:gd name="connsiteX39" fmla="*/ 1169 w 455657"/>
                  <a:gd name="connsiteY39" fmla="*/ 246184 h 455657"/>
                  <a:gd name="connsiteX40" fmla="*/ 466 w 455657"/>
                  <a:gd name="connsiteY40" fmla="*/ 228303 h 455657"/>
                  <a:gd name="connsiteX41" fmla="*/ 1169 w 455657"/>
                  <a:gd name="connsiteY41" fmla="*/ 210422 h 455657"/>
                  <a:gd name="connsiteX42" fmla="*/ 3273 w 455657"/>
                  <a:gd name="connsiteY42" fmla="*/ 192662 h 455657"/>
                  <a:gd name="connsiteX43" fmla="*/ 6763 w 455657"/>
                  <a:gd name="connsiteY43" fmla="*/ 175126 h 455657"/>
                  <a:gd name="connsiteX44" fmla="*/ 11618 w 455657"/>
                  <a:gd name="connsiteY44" fmla="*/ 157901 h 455657"/>
                  <a:gd name="connsiteX45" fmla="*/ 17809 w 455657"/>
                  <a:gd name="connsiteY45" fmla="*/ 141124 h 455657"/>
                  <a:gd name="connsiteX46" fmla="*/ 25300 w 455657"/>
                  <a:gd name="connsiteY46" fmla="*/ 124866 h 455657"/>
                  <a:gd name="connsiteX47" fmla="*/ 34040 w 455657"/>
                  <a:gd name="connsiteY47" fmla="*/ 109263 h 455657"/>
                  <a:gd name="connsiteX48" fmla="*/ 43978 w 455657"/>
                  <a:gd name="connsiteY48" fmla="*/ 94385 h 455657"/>
                  <a:gd name="connsiteX49" fmla="*/ 55054 w 455657"/>
                  <a:gd name="connsiteY49" fmla="*/ 80335 h 455657"/>
                  <a:gd name="connsiteX50" fmla="*/ 67196 w 455657"/>
                  <a:gd name="connsiteY50" fmla="*/ 67201 h 455657"/>
                  <a:gd name="connsiteX51" fmla="*/ 80332 w 455657"/>
                  <a:gd name="connsiteY51" fmla="*/ 55067 h 455657"/>
                  <a:gd name="connsiteX52" fmla="*/ 94382 w 455657"/>
                  <a:gd name="connsiteY52" fmla="*/ 43986 h 455657"/>
                  <a:gd name="connsiteX53" fmla="*/ 109256 w 455657"/>
                  <a:gd name="connsiteY53" fmla="*/ 34045 h 455657"/>
                  <a:gd name="connsiteX54" fmla="*/ 124864 w 455657"/>
                  <a:gd name="connsiteY54" fmla="*/ 25311 h 455657"/>
                  <a:gd name="connsiteX55" fmla="*/ 141109 w 455657"/>
                  <a:gd name="connsiteY55" fmla="*/ 17820 h 455657"/>
                  <a:gd name="connsiteX56" fmla="*/ 157892 w 455657"/>
                  <a:gd name="connsiteY56" fmla="*/ 11624 h 455657"/>
                  <a:gd name="connsiteX57" fmla="*/ 175111 w 455657"/>
                  <a:gd name="connsiteY57" fmla="*/ 6774 h 455657"/>
                  <a:gd name="connsiteX58" fmla="*/ 192655 w 455657"/>
                  <a:gd name="connsiteY58" fmla="*/ 3288 h 455657"/>
                  <a:gd name="connsiteX59" fmla="*/ 210421 w 455657"/>
                  <a:gd name="connsiteY59" fmla="*/ 1182 h 455657"/>
                  <a:gd name="connsiteX60" fmla="*/ 228295 w 455657"/>
                  <a:gd name="connsiteY60" fmla="*/ 475 h 455657"/>
                  <a:gd name="connsiteX61" fmla="*/ 246171 w 455657"/>
                  <a:gd name="connsiteY61" fmla="*/ 1182 h 455657"/>
                  <a:gd name="connsiteX62" fmla="*/ 263936 w 455657"/>
                  <a:gd name="connsiteY62" fmla="*/ 3288 h 455657"/>
                  <a:gd name="connsiteX63" fmla="*/ 281481 w 455657"/>
                  <a:gd name="connsiteY63" fmla="*/ 6774 h 455657"/>
                  <a:gd name="connsiteX64" fmla="*/ 298699 w 455657"/>
                  <a:gd name="connsiteY64" fmla="*/ 11624 h 455657"/>
                  <a:gd name="connsiteX65" fmla="*/ 315483 w 455657"/>
                  <a:gd name="connsiteY65" fmla="*/ 17820 h 455657"/>
                  <a:gd name="connsiteX66" fmla="*/ 331727 w 455657"/>
                  <a:gd name="connsiteY66" fmla="*/ 25311 h 455657"/>
                  <a:gd name="connsiteX67" fmla="*/ 347335 w 455657"/>
                  <a:gd name="connsiteY67" fmla="*/ 34045 h 455657"/>
                  <a:gd name="connsiteX68" fmla="*/ 362210 w 455657"/>
                  <a:gd name="connsiteY68" fmla="*/ 43986 h 455657"/>
                  <a:gd name="connsiteX69" fmla="*/ 376259 w 455657"/>
                  <a:gd name="connsiteY69" fmla="*/ 55067 h 455657"/>
                  <a:gd name="connsiteX70" fmla="*/ 389396 w 455657"/>
                  <a:gd name="connsiteY70" fmla="*/ 67201 h 455657"/>
                  <a:gd name="connsiteX71" fmla="*/ 401538 w 455657"/>
                  <a:gd name="connsiteY71" fmla="*/ 80335 h 455657"/>
                  <a:gd name="connsiteX72" fmla="*/ 412614 w 455657"/>
                  <a:gd name="connsiteY72" fmla="*/ 94385 h 455657"/>
                  <a:gd name="connsiteX73" fmla="*/ 422552 w 455657"/>
                  <a:gd name="connsiteY73" fmla="*/ 109263 h 455657"/>
                  <a:gd name="connsiteX74" fmla="*/ 431292 w 455657"/>
                  <a:gd name="connsiteY74" fmla="*/ 124866 h 455657"/>
                  <a:gd name="connsiteX75" fmla="*/ 438783 w 455657"/>
                  <a:gd name="connsiteY75" fmla="*/ 141124 h 455657"/>
                  <a:gd name="connsiteX76" fmla="*/ 444974 w 455657"/>
                  <a:gd name="connsiteY76" fmla="*/ 157901 h 455657"/>
                  <a:gd name="connsiteX77" fmla="*/ 449829 w 455657"/>
                  <a:gd name="connsiteY77" fmla="*/ 175126 h 455657"/>
                  <a:gd name="connsiteX78" fmla="*/ 453319 w 455657"/>
                  <a:gd name="connsiteY78" fmla="*/ 192662 h 455657"/>
                  <a:gd name="connsiteX79" fmla="*/ 455423 w 455657"/>
                  <a:gd name="connsiteY79" fmla="*/ 210422 h 455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455657" h="455657">
                    <a:moveTo>
                      <a:pt x="456124" y="228303"/>
                    </a:moveTo>
                    <a:lnTo>
                      <a:pt x="455423" y="246184"/>
                    </a:lnTo>
                    <a:lnTo>
                      <a:pt x="453319" y="263945"/>
                    </a:lnTo>
                    <a:lnTo>
                      <a:pt x="449829" y="281498"/>
                    </a:lnTo>
                    <a:lnTo>
                      <a:pt x="444974" y="298706"/>
                    </a:lnTo>
                    <a:lnTo>
                      <a:pt x="438783" y="315499"/>
                    </a:lnTo>
                    <a:lnTo>
                      <a:pt x="431292" y="331741"/>
                    </a:lnTo>
                    <a:lnTo>
                      <a:pt x="422552" y="347344"/>
                    </a:lnTo>
                    <a:lnTo>
                      <a:pt x="412614" y="362222"/>
                    </a:lnTo>
                    <a:lnTo>
                      <a:pt x="401538" y="376271"/>
                    </a:lnTo>
                    <a:lnTo>
                      <a:pt x="389396" y="389406"/>
                    </a:lnTo>
                    <a:lnTo>
                      <a:pt x="376259" y="401539"/>
                    </a:lnTo>
                    <a:lnTo>
                      <a:pt x="362210" y="412620"/>
                    </a:lnTo>
                    <a:lnTo>
                      <a:pt x="347335" y="422561"/>
                    </a:lnTo>
                    <a:lnTo>
                      <a:pt x="331727" y="431295"/>
                    </a:lnTo>
                    <a:lnTo>
                      <a:pt x="315483" y="438786"/>
                    </a:lnTo>
                    <a:lnTo>
                      <a:pt x="298699" y="444982"/>
                    </a:lnTo>
                    <a:lnTo>
                      <a:pt x="281481" y="449832"/>
                    </a:lnTo>
                    <a:lnTo>
                      <a:pt x="263936" y="453336"/>
                    </a:lnTo>
                    <a:lnTo>
                      <a:pt x="246171" y="455424"/>
                    </a:lnTo>
                    <a:lnTo>
                      <a:pt x="228295" y="456132"/>
                    </a:lnTo>
                    <a:lnTo>
                      <a:pt x="210421" y="455424"/>
                    </a:lnTo>
                    <a:lnTo>
                      <a:pt x="192655" y="453336"/>
                    </a:lnTo>
                    <a:lnTo>
                      <a:pt x="175111" y="449832"/>
                    </a:lnTo>
                    <a:lnTo>
                      <a:pt x="157892" y="444982"/>
                    </a:lnTo>
                    <a:lnTo>
                      <a:pt x="141109" y="438786"/>
                    </a:lnTo>
                    <a:lnTo>
                      <a:pt x="124864" y="431295"/>
                    </a:lnTo>
                    <a:lnTo>
                      <a:pt x="109256" y="422561"/>
                    </a:lnTo>
                    <a:lnTo>
                      <a:pt x="94382" y="412620"/>
                    </a:lnTo>
                    <a:lnTo>
                      <a:pt x="80332" y="401539"/>
                    </a:lnTo>
                    <a:lnTo>
                      <a:pt x="67196" y="389406"/>
                    </a:lnTo>
                    <a:lnTo>
                      <a:pt x="55054" y="376271"/>
                    </a:lnTo>
                    <a:lnTo>
                      <a:pt x="43978" y="362222"/>
                    </a:lnTo>
                    <a:lnTo>
                      <a:pt x="34040" y="347344"/>
                    </a:lnTo>
                    <a:lnTo>
                      <a:pt x="25300" y="331741"/>
                    </a:lnTo>
                    <a:lnTo>
                      <a:pt x="17809" y="315499"/>
                    </a:lnTo>
                    <a:lnTo>
                      <a:pt x="11618" y="298706"/>
                    </a:lnTo>
                    <a:lnTo>
                      <a:pt x="6763" y="281498"/>
                    </a:lnTo>
                    <a:lnTo>
                      <a:pt x="3273" y="263945"/>
                    </a:lnTo>
                    <a:lnTo>
                      <a:pt x="1169" y="246184"/>
                    </a:lnTo>
                    <a:lnTo>
                      <a:pt x="466" y="228303"/>
                    </a:lnTo>
                    <a:lnTo>
                      <a:pt x="1169" y="210422"/>
                    </a:lnTo>
                    <a:lnTo>
                      <a:pt x="3273" y="192662"/>
                    </a:lnTo>
                    <a:lnTo>
                      <a:pt x="6763" y="175126"/>
                    </a:lnTo>
                    <a:lnTo>
                      <a:pt x="11618" y="157901"/>
                    </a:lnTo>
                    <a:lnTo>
                      <a:pt x="17809" y="141124"/>
                    </a:lnTo>
                    <a:lnTo>
                      <a:pt x="25300" y="124866"/>
                    </a:lnTo>
                    <a:lnTo>
                      <a:pt x="34040" y="109263"/>
                    </a:lnTo>
                    <a:lnTo>
                      <a:pt x="43978" y="94385"/>
                    </a:lnTo>
                    <a:lnTo>
                      <a:pt x="55054" y="80335"/>
                    </a:lnTo>
                    <a:lnTo>
                      <a:pt x="67196" y="67201"/>
                    </a:lnTo>
                    <a:lnTo>
                      <a:pt x="80332" y="55067"/>
                    </a:lnTo>
                    <a:lnTo>
                      <a:pt x="94382" y="43986"/>
                    </a:lnTo>
                    <a:lnTo>
                      <a:pt x="109256" y="34045"/>
                    </a:lnTo>
                    <a:lnTo>
                      <a:pt x="124864" y="25311"/>
                    </a:lnTo>
                    <a:lnTo>
                      <a:pt x="141109" y="17820"/>
                    </a:lnTo>
                    <a:lnTo>
                      <a:pt x="157892" y="11624"/>
                    </a:lnTo>
                    <a:lnTo>
                      <a:pt x="175111" y="6774"/>
                    </a:lnTo>
                    <a:lnTo>
                      <a:pt x="192655" y="3288"/>
                    </a:lnTo>
                    <a:lnTo>
                      <a:pt x="210421" y="1182"/>
                    </a:lnTo>
                    <a:lnTo>
                      <a:pt x="228295" y="475"/>
                    </a:lnTo>
                    <a:lnTo>
                      <a:pt x="246171" y="1182"/>
                    </a:lnTo>
                    <a:lnTo>
                      <a:pt x="263936" y="3288"/>
                    </a:lnTo>
                    <a:lnTo>
                      <a:pt x="281481" y="6774"/>
                    </a:lnTo>
                    <a:lnTo>
                      <a:pt x="298699" y="11624"/>
                    </a:lnTo>
                    <a:lnTo>
                      <a:pt x="315483" y="17820"/>
                    </a:lnTo>
                    <a:lnTo>
                      <a:pt x="331727" y="25311"/>
                    </a:lnTo>
                    <a:lnTo>
                      <a:pt x="347335" y="34045"/>
                    </a:lnTo>
                    <a:lnTo>
                      <a:pt x="362210" y="43986"/>
                    </a:lnTo>
                    <a:lnTo>
                      <a:pt x="376259" y="55067"/>
                    </a:lnTo>
                    <a:lnTo>
                      <a:pt x="389396" y="67201"/>
                    </a:lnTo>
                    <a:lnTo>
                      <a:pt x="401538" y="80335"/>
                    </a:lnTo>
                    <a:lnTo>
                      <a:pt x="412614" y="94385"/>
                    </a:lnTo>
                    <a:lnTo>
                      <a:pt x="422552" y="109263"/>
                    </a:lnTo>
                    <a:lnTo>
                      <a:pt x="431292" y="124866"/>
                    </a:lnTo>
                    <a:lnTo>
                      <a:pt x="438783" y="141124"/>
                    </a:lnTo>
                    <a:lnTo>
                      <a:pt x="444974" y="157901"/>
                    </a:lnTo>
                    <a:lnTo>
                      <a:pt x="449829" y="175126"/>
                    </a:lnTo>
                    <a:lnTo>
                      <a:pt x="453319" y="192662"/>
                    </a:lnTo>
                    <a:lnTo>
                      <a:pt x="455423" y="210422"/>
                    </a:lnTo>
                    <a:close/>
                  </a:path>
                </a:pathLst>
              </a:custGeom>
              <a:solidFill>
                <a:srgbClr val="50C8AA"/>
              </a:solidFill>
              <a:ln w="258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9" name="Freihandform: Form 428">
                <a:extLst>
                  <a:ext uri="{FF2B5EF4-FFF2-40B4-BE49-F238E27FC236}">
                    <a16:creationId xmlns:a16="http://schemas.microsoft.com/office/drawing/2014/main" id="{B4A0241C-E030-5D35-6AF6-70C2296E10F7}"/>
                  </a:ext>
                </a:extLst>
              </p:cNvPr>
              <p:cNvSpPr/>
              <p:nvPr/>
            </p:nvSpPr>
            <p:spPr>
              <a:xfrm>
                <a:off x="6234986" y="35818842"/>
                <a:ext cx="638610" cy="241636"/>
              </a:xfrm>
              <a:custGeom>
                <a:avLst/>
                <a:gdLst>
                  <a:gd name="connsiteX0" fmla="*/ 466 w 638610"/>
                  <a:gd name="connsiteY0" fmla="*/ 485 h 241636"/>
                  <a:gd name="connsiteX1" fmla="*/ 639077 w 638610"/>
                  <a:gd name="connsiteY1" fmla="*/ 485 h 241636"/>
                  <a:gd name="connsiteX2" fmla="*/ 639077 w 638610"/>
                  <a:gd name="connsiteY2" fmla="*/ 242122 h 241636"/>
                  <a:gd name="connsiteX3" fmla="*/ 466 w 638610"/>
                  <a:gd name="connsiteY3" fmla="*/ 242122 h 241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8610" h="241636">
                    <a:moveTo>
                      <a:pt x="466" y="485"/>
                    </a:moveTo>
                    <a:lnTo>
                      <a:pt x="639077" y="485"/>
                    </a:lnTo>
                    <a:lnTo>
                      <a:pt x="639077" y="242122"/>
                    </a:lnTo>
                    <a:lnTo>
                      <a:pt x="466" y="242122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0" name="Textfeld 429">
                <a:extLst>
                  <a:ext uri="{FF2B5EF4-FFF2-40B4-BE49-F238E27FC236}">
                    <a16:creationId xmlns:a16="http://schemas.microsoft.com/office/drawing/2014/main" id="{EAF4D486-501C-9269-C628-BD67D87A00BB}"/>
                  </a:ext>
                </a:extLst>
              </p:cNvPr>
              <p:cNvSpPr txBox="1"/>
              <p:nvPr/>
            </p:nvSpPr>
            <p:spPr>
              <a:xfrm>
                <a:off x="6169436" y="35807641"/>
                <a:ext cx="769711" cy="3158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de-DE" sz="1019" spc="0" baseline="0">
                    <a:ln/>
                    <a:solidFill>
                      <a:srgbClr val="1F2933"/>
                    </a:solidFill>
                    <a:latin typeface="Helvetica"/>
                    <a:cs typeface="Helvetica"/>
                    <a:sym typeface="Helvetica"/>
                    <a:rtl val="0"/>
                  </a:rPr>
                  <a:t>SPASE</a:t>
                </a:r>
              </a:p>
            </p:txBody>
          </p:sp>
          <p:sp>
            <p:nvSpPr>
              <p:cNvPr id="431" name="Freihandform: Form 430">
                <a:extLst>
                  <a:ext uri="{FF2B5EF4-FFF2-40B4-BE49-F238E27FC236}">
                    <a16:creationId xmlns:a16="http://schemas.microsoft.com/office/drawing/2014/main" id="{D440427F-4DFF-E414-2BAD-67A52D7F6377}"/>
                  </a:ext>
                </a:extLst>
              </p:cNvPr>
              <p:cNvSpPr/>
              <p:nvPr/>
            </p:nvSpPr>
            <p:spPr>
              <a:xfrm>
                <a:off x="7960816" y="28160296"/>
                <a:ext cx="455657" cy="455657"/>
              </a:xfrm>
              <a:custGeom>
                <a:avLst/>
                <a:gdLst>
                  <a:gd name="connsiteX0" fmla="*/ 456171 w 455657"/>
                  <a:gd name="connsiteY0" fmla="*/ 228095 h 455657"/>
                  <a:gd name="connsiteX1" fmla="*/ 455468 w 455657"/>
                  <a:gd name="connsiteY1" fmla="*/ 245976 h 455657"/>
                  <a:gd name="connsiteX2" fmla="*/ 453366 w 455657"/>
                  <a:gd name="connsiteY2" fmla="*/ 263736 h 455657"/>
                  <a:gd name="connsiteX3" fmla="*/ 449876 w 455657"/>
                  <a:gd name="connsiteY3" fmla="*/ 281290 h 455657"/>
                  <a:gd name="connsiteX4" fmla="*/ 445021 w 455657"/>
                  <a:gd name="connsiteY4" fmla="*/ 298497 h 455657"/>
                  <a:gd name="connsiteX5" fmla="*/ 438828 w 455657"/>
                  <a:gd name="connsiteY5" fmla="*/ 315291 h 455657"/>
                  <a:gd name="connsiteX6" fmla="*/ 431339 w 455657"/>
                  <a:gd name="connsiteY6" fmla="*/ 331533 h 455657"/>
                  <a:gd name="connsiteX7" fmla="*/ 422599 w 455657"/>
                  <a:gd name="connsiteY7" fmla="*/ 347135 h 455657"/>
                  <a:gd name="connsiteX8" fmla="*/ 412659 w 455657"/>
                  <a:gd name="connsiteY8" fmla="*/ 362013 h 455657"/>
                  <a:gd name="connsiteX9" fmla="*/ 401585 w 455657"/>
                  <a:gd name="connsiteY9" fmla="*/ 376063 h 455657"/>
                  <a:gd name="connsiteX10" fmla="*/ 389441 w 455657"/>
                  <a:gd name="connsiteY10" fmla="*/ 389197 h 455657"/>
                  <a:gd name="connsiteX11" fmla="*/ 376305 w 455657"/>
                  <a:gd name="connsiteY11" fmla="*/ 401348 h 455657"/>
                  <a:gd name="connsiteX12" fmla="*/ 362257 w 455657"/>
                  <a:gd name="connsiteY12" fmla="*/ 412412 h 455657"/>
                  <a:gd name="connsiteX13" fmla="*/ 347383 w 455657"/>
                  <a:gd name="connsiteY13" fmla="*/ 422353 h 455657"/>
                  <a:gd name="connsiteX14" fmla="*/ 331775 w 455657"/>
                  <a:gd name="connsiteY14" fmla="*/ 431087 h 455657"/>
                  <a:gd name="connsiteX15" fmla="*/ 315528 w 455657"/>
                  <a:gd name="connsiteY15" fmla="*/ 438577 h 455657"/>
                  <a:gd name="connsiteX16" fmla="*/ 298745 w 455657"/>
                  <a:gd name="connsiteY16" fmla="*/ 444774 h 455657"/>
                  <a:gd name="connsiteX17" fmla="*/ 281528 w 455657"/>
                  <a:gd name="connsiteY17" fmla="*/ 449624 h 455657"/>
                  <a:gd name="connsiteX18" fmla="*/ 263982 w 455657"/>
                  <a:gd name="connsiteY18" fmla="*/ 453127 h 455657"/>
                  <a:gd name="connsiteX19" fmla="*/ 246218 w 455657"/>
                  <a:gd name="connsiteY19" fmla="*/ 455216 h 455657"/>
                  <a:gd name="connsiteX20" fmla="*/ 228342 w 455657"/>
                  <a:gd name="connsiteY20" fmla="*/ 455924 h 455657"/>
                  <a:gd name="connsiteX21" fmla="*/ 210468 w 455657"/>
                  <a:gd name="connsiteY21" fmla="*/ 455216 h 455657"/>
                  <a:gd name="connsiteX22" fmla="*/ 192703 w 455657"/>
                  <a:gd name="connsiteY22" fmla="*/ 453127 h 455657"/>
                  <a:gd name="connsiteX23" fmla="*/ 175156 w 455657"/>
                  <a:gd name="connsiteY23" fmla="*/ 449624 h 455657"/>
                  <a:gd name="connsiteX24" fmla="*/ 157940 w 455657"/>
                  <a:gd name="connsiteY24" fmla="*/ 444774 h 455657"/>
                  <a:gd name="connsiteX25" fmla="*/ 141156 w 455657"/>
                  <a:gd name="connsiteY25" fmla="*/ 438577 h 455657"/>
                  <a:gd name="connsiteX26" fmla="*/ 124910 w 455657"/>
                  <a:gd name="connsiteY26" fmla="*/ 431087 h 455657"/>
                  <a:gd name="connsiteX27" fmla="*/ 109302 w 455657"/>
                  <a:gd name="connsiteY27" fmla="*/ 422353 h 455657"/>
                  <a:gd name="connsiteX28" fmla="*/ 94427 w 455657"/>
                  <a:gd name="connsiteY28" fmla="*/ 412412 h 455657"/>
                  <a:gd name="connsiteX29" fmla="*/ 80380 w 455657"/>
                  <a:gd name="connsiteY29" fmla="*/ 401348 h 455657"/>
                  <a:gd name="connsiteX30" fmla="*/ 67243 w 455657"/>
                  <a:gd name="connsiteY30" fmla="*/ 389197 h 455657"/>
                  <a:gd name="connsiteX31" fmla="*/ 55101 w 455657"/>
                  <a:gd name="connsiteY31" fmla="*/ 376063 h 455657"/>
                  <a:gd name="connsiteX32" fmla="*/ 44026 w 455657"/>
                  <a:gd name="connsiteY32" fmla="*/ 362013 h 455657"/>
                  <a:gd name="connsiteX33" fmla="*/ 34087 w 455657"/>
                  <a:gd name="connsiteY33" fmla="*/ 347135 h 455657"/>
                  <a:gd name="connsiteX34" fmla="*/ 25345 w 455657"/>
                  <a:gd name="connsiteY34" fmla="*/ 331533 h 455657"/>
                  <a:gd name="connsiteX35" fmla="*/ 17856 w 455657"/>
                  <a:gd name="connsiteY35" fmla="*/ 315291 h 455657"/>
                  <a:gd name="connsiteX36" fmla="*/ 11665 w 455657"/>
                  <a:gd name="connsiteY36" fmla="*/ 298497 h 455657"/>
                  <a:gd name="connsiteX37" fmla="*/ 6808 w 455657"/>
                  <a:gd name="connsiteY37" fmla="*/ 281290 h 455657"/>
                  <a:gd name="connsiteX38" fmla="*/ 3318 w 455657"/>
                  <a:gd name="connsiteY38" fmla="*/ 263736 h 455657"/>
                  <a:gd name="connsiteX39" fmla="*/ 1216 w 455657"/>
                  <a:gd name="connsiteY39" fmla="*/ 245976 h 455657"/>
                  <a:gd name="connsiteX40" fmla="*/ 514 w 455657"/>
                  <a:gd name="connsiteY40" fmla="*/ 228095 h 455657"/>
                  <a:gd name="connsiteX41" fmla="*/ 1216 w 455657"/>
                  <a:gd name="connsiteY41" fmla="*/ 210214 h 455657"/>
                  <a:gd name="connsiteX42" fmla="*/ 3318 w 455657"/>
                  <a:gd name="connsiteY42" fmla="*/ 192454 h 455657"/>
                  <a:gd name="connsiteX43" fmla="*/ 6808 w 455657"/>
                  <a:gd name="connsiteY43" fmla="*/ 174918 h 455657"/>
                  <a:gd name="connsiteX44" fmla="*/ 11665 w 455657"/>
                  <a:gd name="connsiteY44" fmla="*/ 157692 h 455657"/>
                  <a:gd name="connsiteX45" fmla="*/ 17856 w 455657"/>
                  <a:gd name="connsiteY45" fmla="*/ 140916 h 455657"/>
                  <a:gd name="connsiteX46" fmla="*/ 25345 w 455657"/>
                  <a:gd name="connsiteY46" fmla="*/ 124657 h 455657"/>
                  <a:gd name="connsiteX47" fmla="*/ 34087 w 455657"/>
                  <a:gd name="connsiteY47" fmla="*/ 109055 h 455657"/>
                  <a:gd name="connsiteX48" fmla="*/ 44026 w 455657"/>
                  <a:gd name="connsiteY48" fmla="*/ 94177 h 455657"/>
                  <a:gd name="connsiteX49" fmla="*/ 55101 w 455657"/>
                  <a:gd name="connsiteY49" fmla="*/ 80127 h 455657"/>
                  <a:gd name="connsiteX50" fmla="*/ 67243 w 455657"/>
                  <a:gd name="connsiteY50" fmla="*/ 66993 h 455657"/>
                  <a:gd name="connsiteX51" fmla="*/ 80380 w 455657"/>
                  <a:gd name="connsiteY51" fmla="*/ 54859 h 455657"/>
                  <a:gd name="connsiteX52" fmla="*/ 94427 w 455657"/>
                  <a:gd name="connsiteY52" fmla="*/ 43778 h 455657"/>
                  <a:gd name="connsiteX53" fmla="*/ 109302 w 455657"/>
                  <a:gd name="connsiteY53" fmla="*/ 33837 h 455657"/>
                  <a:gd name="connsiteX54" fmla="*/ 124910 w 455657"/>
                  <a:gd name="connsiteY54" fmla="*/ 25103 h 455657"/>
                  <a:gd name="connsiteX55" fmla="*/ 141156 w 455657"/>
                  <a:gd name="connsiteY55" fmla="*/ 17613 h 455657"/>
                  <a:gd name="connsiteX56" fmla="*/ 157940 w 455657"/>
                  <a:gd name="connsiteY56" fmla="*/ 11416 h 455657"/>
                  <a:gd name="connsiteX57" fmla="*/ 175156 w 455657"/>
                  <a:gd name="connsiteY57" fmla="*/ 6566 h 455657"/>
                  <a:gd name="connsiteX58" fmla="*/ 192703 w 455657"/>
                  <a:gd name="connsiteY58" fmla="*/ 3080 h 455657"/>
                  <a:gd name="connsiteX59" fmla="*/ 210468 w 455657"/>
                  <a:gd name="connsiteY59" fmla="*/ 974 h 455657"/>
                  <a:gd name="connsiteX60" fmla="*/ 228342 w 455657"/>
                  <a:gd name="connsiteY60" fmla="*/ 266 h 455657"/>
                  <a:gd name="connsiteX61" fmla="*/ 246218 w 455657"/>
                  <a:gd name="connsiteY61" fmla="*/ 974 h 455657"/>
                  <a:gd name="connsiteX62" fmla="*/ 263982 w 455657"/>
                  <a:gd name="connsiteY62" fmla="*/ 3080 h 455657"/>
                  <a:gd name="connsiteX63" fmla="*/ 281528 w 455657"/>
                  <a:gd name="connsiteY63" fmla="*/ 6566 h 455657"/>
                  <a:gd name="connsiteX64" fmla="*/ 298745 w 455657"/>
                  <a:gd name="connsiteY64" fmla="*/ 11416 h 455657"/>
                  <a:gd name="connsiteX65" fmla="*/ 315528 w 455657"/>
                  <a:gd name="connsiteY65" fmla="*/ 17613 h 455657"/>
                  <a:gd name="connsiteX66" fmla="*/ 331775 w 455657"/>
                  <a:gd name="connsiteY66" fmla="*/ 25103 h 455657"/>
                  <a:gd name="connsiteX67" fmla="*/ 347383 w 455657"/>
                  <a:gd name="connsiteY67" fmla="*/ 33837 h 455657"/>
                  <a:gd name="connsiteX68" fmla="*/ 362257 w 455657"/>
                  <a:gd name="connsiteY68" fmla="*/ 43778 h 455657"/>
                  <a:gd name="connsiteX69" fmla="*/ 376305 w 455657"/>
                  <a:gd name="connsiteY69" fmla="*/ 54859 h 455657"/>
                  <a:gd name="connsiteX70" fmla="*/ 389441 w 455657"/>
                  <a:gd name="connsiteY70" fmla="*/ 66993 h 455657"/>
                  <a:gd name="connsiteX71" fmla="*/ 401585 w 455657"/>
                  <a:gd name="connsiteY71" fmla="*/ 80127 h 455657"/>
                  <a:gd name="connsiteX72" fmla="*/ 412659 w 455657"/>
                  <a:gd name="connsiteY72" fmla="*/ 94177 h 455657"/>
                  <a:gd name="connsiteX73" fmla="*/ 422599 w 455657"/>
                  <a:gd name="connsiteY73" fmla="*/ 109055 h 455657"/>
                  <a:gd name="connsiteX74" fmla="*/ 431339 w 455657"/>
                  <a:gd name="connsiteY74" fmla="*/ 124657 h 455657"/>
                  <a:gd name="connsiteX75" fmla="*/ 438828 w 455657"/>
                  <a:gd name="connsiteY75" fmla="*/ 140916 h 455657"/>
                  <a:gd name="connsiteX76" fmla="*/ 445021 w 455657"/>
                  <a:gd name="connsiteY76" fmla="*/ 157692 h 455657"/>
                  <a:gd name="connsiteX77" fmla="*/ 449876 w 455657"/>
                  <a:gd name="connsiteY77" fmla="*/ 174918 h 455657"/>
                  <a:gd name="connsiteX78" fmla="*/ 453366 w 455657"/>
                  <a:gd name="connsiteY78" fmla="*/ 192454 h 455657"/>
                  <a:gd name="connsiteX79" fmla="*/ 455468 w 455657"/>
                  <a:gd name="connsiteY79" fmla="*/ 210214 h 455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455657" h="455657">
                    <a:moveTo>
                      <a:pt x="456171" y="228095"/>
                    </a:moveTo>
                    <a:lnTo>
                      <a:pt x="455468" y="245976"/>
                    </a:lnTo>
                    <a:lnTo>
                      <a:pt x="453366" y="263736"/>
                    </a:lnTo>
                    <a:lnTo>
                      <a:pt x="449876" y="281290"/>
                    </a:lnTo>
                    <a:lnTo>
                      <a:pt x="445021" y="298497"/>
                    </a:lnTo>
                    <a:lnTo>
                      <a:pt x="438828" y="315291"/>
                    </a:lnTo>
                    <a:lnTo>
                      <a:pt x="431339" y="331533"/>
                    </a:lnTo>
                    <a:lnTo>
                      <a:pt x="422599" y="347135"/>
                    </a:lnTo>
                    <a:lnTo>
                      <a:pt x="412659" y="362013"/>
                    </a:lnTo>
                    <a:lnTo>
                      <a:pt x="401585" y="376063"/>
                    </a:lnTo>
                    <a:lnTo>
                      <a:pt x="389441" y="389197"/>
                    </a:lnTo>
                    <a:lnTo>
                      <a:pt x="376305" y="401348"/>
                    </a:lnTo>
                    <a:lnTo>
                      <a:pt x="362257" y="412412"/>
                    </a:lnTo>
                    <a:lnTo>
                      <a:pt x="347383" y="422353"/>
                    </a:lnTo>
                    <a:lnTo>
                      <a:pt x="331775" y="431087"/>
                    </a:lnTo>
                    <a:lnTo>
                      <a:pt x="315528" y="438577"/>
                    </a:lnTo>
                    <a:lnTo>
                      <a:pt x="298745" y="444774"/>
                    </a:lnTo>
                    <a:lnTo>
                      <a:pt x="281528" y="449624"/>
                    </a:lnTo>
                    <a:lnTo>
                      <a:pt x="263982" y="453127"/>
                    </a:lnTo>
                    <a:lnTo>
                      <a:pt x="246218" y="455216"/>
                    </a:lnTo>
                    <a:lnTo>
                      <a:pt x="228342" y="455924"/>
                    </a:lnTo>
                    <a:lnTo>
                      <a:pt x="210468" y="455216"/>
                    </a:lnTo>
                    <a:lnTo>
                      <a:pt x="192703" y="453127"/>
                    </a:lnTo>
                    <a:lnTo>
                      <a:pt x="175156" y="449624"/>
                    </a:lnTo>
                    <a:lnTo>
                      <a:pt x="157940" y="444774"/>
                    </a:lnTo>
                    <a:lnTo>
                      <a:pt x="141156" y="438577"/>
                    </a:lnTo>
                    <a:lnTo>
                      <a:pt x="124910" y="431087"/>
                    </a:lnTo>
                    <a:lnTo>
                      <a:pt x="109302" y="422353"/>
                    </a:lnTo>
                    <a:lnTo>
                      <a:pt x="94427" y="412412"/>
                    </a:lnTo>
                    <a:lnTo>
                      <a:pt x="80380" y="401348"/>
                    </a:lnTo>
                    <a:lnTo>
                      <a:pt x="67243" y="389197"/>
                    </a:lnTo>
                    <a:lnTo>
                      <a:pt x="55101" y="376063"/>
                    </a:lnTo>
                    <a:lnTo>
                      <a:pt x="44026" y="362013"/>
                    </a:lnTo>
                    <a:lnTo>
                      <a:pt x="34087" y="347135"/>
                    </a:lnTo>
                    <a:lnTo>
                      <a:pt x="25345" y="331533"/>
                    </a:lnTo>
                    <a:lnTo>
                      <a:pt x="17856" y="315291"/>
                    </a:lnTo>
                    <a:lnTo>
                      <a:pt x="11665" y="298497"/>
                    </a:lnTo>
                    <a:lnTo>
                      <a:pt x="6808" y="281290"/>
                    </a:lnTo>
                    <a:lnTo>
                      <a:pt x="3318" y="263736"/>
                    </a:lnTo>
                    <a:lnTo>
                      <a:pt x="1216" y="245976"/>
                    </a:lnTo>
                    <a:lnTo>
                      <a:pt x="514" y="228095"/>
                    </a:lnTo>
                    <a:lnTo>
                      <a:pt x="1216" y="210214"/>
                    </a:lnTo>
                    <a:lnTo>
                      <a:pt x="3318" y="192454"/>
                    </a:lnTo>
                    <a:lnTo>
                      <a:pt x="6808" y="174918"/>
                    </a:lnTo>
                    <a:lnTo>
                      <a:pt x="11665" y="157692"/>
                    </a:lnTo>
                    <a:lnTo>
                      <a:pt x="17856" y="140916"/>
                    </a:lnTo>
                    <a:lnTo>
                      <a:pt x="25345" y="124657"/>
                    </a:lnTo>
                    <a:lnTo>
                      <a:pt x="34087" y="109055"/>
                    </a:lnTo>
                    <a:lnTo>
                      <a:pt x="44026" y="94177"/>
                    </a:lnTo>
                    <a:lnTo>
                      <a:pt x="55101" y="80127"/>
                    </a:lnTo>
                    <a:lnTo>
                      <a:pt x="67243" y="66993"/>
                    </a:lnTo>
                    <a:lnTo>
                      <a:pt x="80380" y="54859"/>
                    </a:lnTo>
                    <a:lnTo>
                      <a:pt x="94427" y="43778"/>
                    </a:lnTo>
                    <a:lnTo>
                      <a:pt x="109302" y="33837"/>
                    </a:lnTo>
                    <a:lnTo>
                      <a:pt x="124910" y="25103"/>
                    </a:lnTo>
                    <a:lnTo>
                      <a:pt x="141156" y="17613"/>
                    </a:lnTo>
                    <a:lnTo>
                      <a:pt x="157940" y="11416"/>
                    </a:lnTo>
                    <a:lnTo>
                      <a:pt x="175156" y="6566"/>
                    </a:lnTo>
                    <a:lnTo>
                      <a:pt x="192703" y="3080"/>
                    </a:lnTo>
                    <a:lnTo>
                      <a:pt x="210468" y="974"/>
                    </a:lnTo>
                    <a:lnTo>
                      <a:pt x="228342" y="266"/>
                    </a:lnTo>
                    <a:lnTo>
                      <a:pt x="246218" y="974"/>
                    </a:lnTo>
                    <a:lnTo>
                      <a:pt x="263982" y="3080"/>
                    </a:lnTo>
                    <a:lnTo>
                      <a:pt x="281528" y="6566"/>
                    </a:lnTo>
                    <a:lnTo>
                      <a:pt x="298745" y="11416"/>
                    </a:lnTo>
                    <a:lnTo>
                      <a:pt x="315528" y="17613"/>
                    </a:lnTo>
                    <a:lnTo>
                      <a:pt x="331775" y="25103"/>
                    </a:lnTo>
                    <a:lnTo>
                      <a:pt x="347383" y="33837"/>
                    </a:lnTo>
                    <a:lnTo>
                      <a:pt x="362257" y="43778"/>
                    </a:lnTo>
                    <a:lnTo>
                      <a:pt x="376305" y="54859"/>
                    </a:lnTo>
                    <a:lnTo>
                      <a:pt x="389441" y="66993"/>
                    </a:lnTo>
                    <a:lnTo>
                      <a:pt x="401585" y="80127"/>
                    </a:lnTo>
                    <a:lnTo>
                      <a:pt x="412659" y="94177"/>
                    </a:lnTo>
                    <a:lnTo>
                      <a:pt x="422599" y="109055"/>
                    </a:lnTo>
                    <a:lnTo>
                      <a:pt x="431339" y="124657"/>
                    </a:lnTo>
                    <a:lnTo>
                      <a:pt x="438828" y="140916"/>
                    </a:lnTo>
                    <a:lnTo>
                      <a:pt x="445021" y="157692"/>
                    </a:lnTo>
                    <a:lnTo>
                      <a:pt x="449876" y="174918"/>
                    </a:lnTo>
                    <a:lnTo>
                      <a:pt x="453366" y="192454"/>
                    </a:lnTo>
                    <a:lnTo>
                      <a:pt x="455468" y="210214"/>
                    </a:lnTo>
                    <a:close/>
                  </a:path>
                </a:pathLst>
              </a:custGeom>
              <a:solidFill>
                <a:srgbClr val="326468"/>
              </a:solidFill>
              <a:ln w="258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2" name="Freihandform: Form 431">
                <a:extLst>
                  <a:ext uri="{FF2B5EF4-FFF2-40B4-BE49-F238E27FC236}">
                    <a16:creationId xmlns:a16="http://schemas.microsoft.com/office/drawing/2014/main" id="{9FC96D6A-E036-1259-E0BF-E0DF3E364D5A}"/>
                  </a:ext>
                </a:extLst>
              </p:cNvPr>
              <p:cNvSpPr/>
              <p:nvPr/>
            </p:nvSpPr>
            <p:spPr>
              <a:xfrm>
                <a:off x="7972897" y="28633213"/>
                <a:ext cx="431493" cy="241636"/>
              </a:xfrm>
              <a:custGeom>
                <a:avLst/>
                <a:gdLst>
                  <a:gd name="connsiteX0" fmla="*/ 514 w 431493"/>
                  <a:gd name="connsiteY0" fmla="*/ 277 h 241636"/>
                  <a:gd name="connsiteX1" fmla="*/ 432007 w 431493"/>
                  <a:gd name="connsiteY1" fmla="*/ 277 h 241636"/>
                  <a:gd name="connsiteX2" fmla="*/ 432007 w 431493"/>
                  <a:gd name="connsiteY2" fmla="*/ 241914 h 241636"/>
                  <a:gd name="connsiteX3" fmla="*/ 514 w 431493"/>
                  <a:gd name="connsiteY3" fmla="*/ 241914 h 241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1493" h="241636">
                    <a:moveTo>
                      <a:pt x="514" y="277"/>
                    </a:moveTo>
                    <a:lnTo>
                      <a:pt x="432007" y="277"/>
                    </a:lnTo>
                    <a:lnTo>
                      <a:pt x="432007" y="241914"/>
                    </a:lnTo>
                    <a:lnTo>
                      <a:pt x="514" y="241914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3" name="Textfeld 432">
                <a:extLst>
                  <a:ext uri="{FF2B5EF4-FFF2-40B4-BE49-F238E27FC236}">
                    <a16:creationId xmlns:a16="http://schemas.microsoft.com/office/drawing/2014/main" id="{063B9968-274B-1827-4414-A6E22CC21C14}"/>
                  </a:ext>
                </a:extLst>
              </p:cNvPr>
              <p:cNvSpPr txBox="1"/>
              <p:nvPr/>
            </p:nvSpPr>
            <p:spPr>
              <a:xfrm>
                <a:off x="7907347" y="28622013"/>
                <a:ext cx="562594" cy="3158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de-DE" sz="1019" spc="0" baseline="0">
                    <a:ln/>
                    <a:solidFill>
                      <a:srgbClr val="1F2933"/>
                    </a:solidFill>
                    <a:latin typeface="Helvetica"/>
                    <a:cs typeface="Helvetica"/>
                    <a:sym typeface="Helvetica"/>
                    <a:rtl val="0"/>
                  </a:rPr>
                  <a:t>EML</a:t>
                </a:r>
              </a:p>
            </p:txBody>
          </p:sp>
          <p:sp>
            <p:nvSpPr>
              <p:cNvPr id="434" name="Freihandform: Form 433">
                <a:extLst>
                  <a:ext uri="{FF2B5EF4-FFF2-40B4-BE49-F238E27FC236}">
                    <a16:creationId xmlns:a16="http://schemas.microsoft.com/office/drawing/2014/main" id="{A2E95C7C-1648-7A66-3016-EF0ACF7123BB}"/>
                  </a:ext>
                </a:extLst>
              </p:cNvPr>
              <p:cNvSpPr/>
              <p:nvPr/>
            </p:nvSpPr>
            <p:spPr>
              <a:xfrm>
                <a:off x="7679727" y="31364273"/>
                <a:ext cx="538504" cy="538504"/>
              </a:xfrm>
              <a:custGeom>
                <a:avLst/>
                <a:gdLst>
                  <a:gd name="connsiteX0" fmla="*/ 539011 w 538504"/>
                  <a:gd name="connsiteY0" fmla="*/ 269613 h 538504"/>
                  <a:gd name="connsiteX1" fmla="*/ 538182 w 538504"/>
                  <a:gd name="connsiteY1" fmla="*/ 290737 h 538504"/>
                  <a:gd name="connsiteX2" fmla="*/ 535697 w 538504"/>
                  <a:gd name="connsiteY2" fmla="*/ 311733 h 538504"/>
                  <a:gd name="connsiteX3" fmla="*/ 531572 w 538504"/>
                  <a:gd name="connsiteY3" fmla="*/ 332467 h 538504"/>
                  <a:gd name="connsiteX4" fmla="*/ 525833 w 538504"/>
                  <a:gd name="connsiteY4" fmla="*/ 352815 h 538504"/>
                  <a:gd name="connsiteX5" fmla="*/ 518517 w 538504"/>
                  <a:gd name="connsiteY5" fmla="*/ 372650 h 538504"/>
                  <a:gd name="connsiteX6" fmla="*/ 509664 w 538504"/>
                  <a:gd name="connsiteY6" fmla="*/ 391849 h 538504"/>
                  <a:gd name="connsiteX7" fmla="*/ 499334 w 538504"/>
                  <a:gd name="connsiteY7" fmla="*/ 410297 h 538504"/>
                  <a:gd name="connsiteX8" fmla="*/ 487589 w 538504"/>
                  <a:gd name="connsiteY8" fmla="*/ 427874 h 538504"/>
                  <a:gd name="connsiteX9" fmla="*/ 474501 w 538504"/>
                  <a:gd name="connsiteY9" fmla="*/ 444478 h 538504"/>
                  <a:gd name="connsiteX10" fmla="*/ 460149 w 538504"/>
                  <a:gd name="connsiteY10" fmla="*/ 460001 h 538504"/>
                  <a:gd name="connsiteX11" fmla="*/ 444624 w 538504"/>
                  <a:gd name="connsiteY11" fmla="*/ 474353 h 538504"/>
                  <a:gd name="connsiteX12" fmla="*/ 428022 w 538504"/>
                  <a:gd name="connsiteY12" fmla="*/ 487441 h 538504"/>
                  <a:gd name="connsiteX13" fmla="*/ 410443 w 538504"/>
                  <a:gd name="connsiteY13" fmla="*/ 499188 h 538504"/>
                  <a:gd name="connsiteX14" fmla="*/ 391997 w 538504"/>
                  <a:gd name="connsiteY14" fmla="*/ 509518 h 538504"/>
                  <a:gd name="connsiteX15" fmla="*/ 372798 w 538504"/>
                  <a:gd name="connsiteY15" fmla="*/ 518369 h 538504"/>
                  <a:gd name="connsiteX16" fmla="*/ 352963 w 538504"/>
                  <a:gd name="connsiteY16" fmla="*/ 525687 h 538504"/>
                  <a:gd name="connsiteX17" fmla="*/ 332615 w 538504"/>
                  <a:gd name="connsiteY17" fmla="*/ 531426 h 538504"/>
                  <a:gd name="connsiteX18" fmla="*/ 311879 w 538504"/>
                  <a:gd name="connsiteY18" fmla="*/ 535549 h 538504"/>
                  <a:gd name="connsiteX19" fmla="*/ 290885 w 538504"/>
                  <a:gd name="connsiteY19" fmla="*/ 538034 h 538504"/>
                  <a:gd name="connsiteX20" fmla="*/ 269759 w 538504"/>
                  <a:gd name="connsiteY20" fmla="*/ 538865 h 538504"/>
                  <a:gd name="connsiteX21" fmla="*/ 248635 w 538504"/>
                  <a:gd name="connsiteY21" fmla="*/ 538034 h 538504"/>
                  <a:gd name="connsiteX22" fmla="*/ 227640 w 538504"/>
                  <a:gd name="connsiteY22" fmla="*/ 535549 h 538504"/>
                  <a:gd name="connsiteX23" fmla="*/ 206904 w 538504"/>
                  <a:gd name="connsiteY23" fmla="*/ 531426 h 538504"/>
                  <a:gd name="connsiteX24" fmla="*/ 186556 w 538504"/>
                  <a:gd name="connsiteY24" fmla="*/ 525687 h 538504"/>
                  <a:gd name="connsiteX25" fmla="*/ 166722 w 538504"/>
                  <a:gd name="connsiteY25" fmla="*/ 518369 h 538504"/>
                  <a:gd name="connsiteX26" fmla="*/ 147522 w 538504"/>
                  <a:gd name="connsiteY26" fmla="*/ 509518 h 538504"/>
                  <a:gd name="connsiteX27" fmla="*/ 129076 w 538504"/>
                  <a:gd name="connsiteY27" fmla="*/ 499188 h 538504"/>
                  <a:gd name="connsiteX28" fmla="*/ 111497 w 538504"/>
                  <a:gd name="connsiteY28" fmla="*/ 487441 h 538504"/>
                  <a:gd name="connsiteX29" fmla="*/ 94895 w 538504"/>
                  <a:gd name="connsiteY29" fmla="*/ 474353 h 538504"/>
                  <a:gd name="connsiteX30" fmla="*/ 79370 w 538504"/>
                  <a:gd name="connsiteY30" fmla="*/ 460001 h 538504"/>
                  <a:gd name="connsiteX31" fmla="*/ 65018 w 538504"/>
                  <a:gd name="connsiteY31" fmla="*/ 444478 h 538504"/>
                  <a:gd name="connsiteX32" fmla="*/ 51930 w 538504"/>
                  <a:gd name="connsiteY32" fmla="*/ 427874 h 538504"/>
                  <a:gd name="connsiteX33" fmla="*/ 40185 w 538504"/>
                  <a:gd name="connsiteY33" fmla="*/ 410297 h 538504"/>
                  <a:gd name="connsiteX34" fmla="*/ 29853 w 538504"/>
                  <a:gd name="connsiteY34" fmla="*/ 391849 h 538504"/>
                  <a:gd name="connsiteX35" fmla="*/ 21003 w 538504"/>
                  <a:gd name="connsiteY35" fmla="*/ 372650 h 538504"/>
                  <a:gd name="connsiteX36" fmla="*/ 13686 w 538504"/>
                  <a:gd name="connsiteY36" fmla="*/ 352815 h 538504"/>
                  <a:gd name="connsiteX37" fmla="*/ 7947 w 538504"/>
                  <a:gd name="connsiteY37" fmla="*/ 332467 h 538504"/>
                  <a:gd name="connsiteX38" fmla="*/ 3822 w 538504"/>
                  <a:gd name="connsiteY38" fmla="*/ 311733 h 538504"/>
                  <a:gd name="connsiteX39" fmla="*/ 1337 w 538504"/>
                  <a:gd name="connsiteY39" fmla="*/ 290737 h 538504"/>
                  <a:gd name="connsiteX40" fmla="*/ 507 w 538504"/>
                  <a:gd name="connsiteY40" fmla="*/ 269613 h 538504"/>
                  <a:gd name="connsiteX41" fmla="*/ 1337 w 538504"/>
                  <a:gd name="connsiteY41" fmla="*/ 248487 h 538504"/>
                  <a:gd name="connsiteX42" fmla="*/ 3822 w 538504"/>
                  <a:gd name="connsiteY42" fmla="*/ 227492 h 538504"/>
                  <a:gd name="connsiteX43" fmla="*/ 7947 w 538504"/>
                  <a:gd name="connsiteY43" fmla="*/ 206756 h 538504"/>
                  <a:gd name="connsiteX44" fmla="*/ 13686 w 538504"/>
                  <a:gd name="connsiteY44" fmla="*/ 186409 h 538504"/>
                  <a:gd name="connsiteX45" fmla="*/ 21003 w 538504"/>
                  <a:gd name="connsiteY45" fmla="*/ 166574 h 538504"/>
                  <a:gd name="connsiteX46" fmla="*/ 29853 w 538504"/>
                  <a:gd name="connsiteY46" fmla="*/ 147374 h 538504"/>
                  <a:gd name="connsiteX47" fmla="*/ 40185 w 538504"/>
                  <a:gd name="connsiteY47" fmla="*/ 128928 h 538504"/>
                  <a:gd name="connsiteX48" fmla="*/ 51930 w 538504"/>
                  <a:gd name="connsiteY48" fmla="*/ 111349 h 538504"/>
                  <a:gd name="connsiteX49" fmla="*/ 65018 w 538504"/>
                  <a:gd name="connsiteY49" fmla="*/ 94747 h 538504"/>
                  <a:gd name="connsiteX50" fmla="*/ 79370 w 538504"/>
                  <a:gd name="connsiteY50" fmla="*/ 79222 h 538504"/>
                  <a:gd name="connsiteX51" fmla="*/ 94895 w 538504"/>
                  <a:gd name="connsiteY51" fmla="*/ 64872 h 538504"/>
                  <a:gd name="connsiteX52" fmla="*/ 111497 w 538504"/>
                  <a:gd name="connsiteY52" fmla="*/ 51782 h 538504"/>
                  <a:gd name="connsiteX53" fmla="*/ 129076 w 538504"/>
                  <a:gd name="connsiteY53" fmla="*/ 40037 h 538504"/>
                  <a:gd name="connsiteX54" fmla="*/ 147522 w 538504"/>
                  <a:gd name="connsiteY54" fmla="*/ 29707 h 538504"/>
                  <a:gd name="connsiteX55" fmla="*/ 166722 w 538504"/>
                  <a:gd name="connsiteY55" fmla="*/ 20856 h 538504"/>
                  <a:gd name="connsiteX56" fmla="*/ 186556 w 538504"/>
                  <a:gd name="connsiteY56" fmla="*/ 13538 h 538504"/>
                  <a:gd name="connsiteX57" fmla="*/ 206904 w 538504"/>
                  <a:gd name="connsiteY57" fmla="*/ 7799 h 538504"/>
                  <a:gd name="connsiteX58" fmla="*/ 227640 w 538504"/>
                  <a:gd name="connsiteY58" fmla="*/ 3674 h 538504"/>
                  <a:gd name="connsiteX59" fmla="*/ 248635 w 538504"/>
                  <a:gd name="connsiteY59" fmla="*/ 1191 h 538504"/>
                  <a:gd name="connsiteX60" fmla="*/ 269759 w 538504"/>
                  <a:gd name="connsiteY60" fmla="*/ 360 h 538504"/>
                  <a:gd name="connsiteX61" fmla="*/ 290885 w 538504"/>
                  <a:gd name="connsiteY61" fmla="*/ 1191 h 538504"/>
                  <a:gd name="connsiteX62" fmla="*/ 311879 w 538504"/>
                  <a:gd name="connsiteY62" fmla="*/ 3674 h 538504"/>
                  <a:gd name="connsiteX63" fmla="*/ 332615 w 538504"/>
                  <a:gd name="connsiteY63" fmla="*/ 7799 h 538504"/>
                  <a:gd name="connsiteX64" fmla="*/ 352963 w 538504"/>
                  <a:gd name="connsiteY64" fmla="*/ 13538 h 538504"/>
                  <a:gd name="connsiteX65" fmla="*/ 372798 w 538504"/>
                  <a:gd name="connsiteY65" fmla="*/ 20856 h 538504"/>
                  <a:gd name="connsiteX66" fmla="*/ 391997 w 538504"/>
                  <a:gd name="connsiteY66" fmla="*/ 29707 h 538504"/>
                  <a:gd name="connsiteX67" fmla="*/ 410443 w 538504"/>
                  <a:gd name="connsiteY67" fmla="*/ 40037 h 538504"/>
                  <a:gd name="connsiteX68" fmla="*/ 428022 w 538504"/>
                  <a:gd name="connsiteY68" fmla="*/ 51782 h 538504"/>
                  <a:gd name="connsiteX69" fmla="*/ 444624 w 538504"/>
                  <a:gd name="connsiteY69" fmla="*/ 64872 h 538504"/>
                  <a:gd name="connsiteX70" fmla="*/ 460149 w 538504"/>
                  <a:gd name="connsiteY70" fmla="*/ 79222 h 538504"/>
                  <a:gd name="connsiteX71" fmla="*/ 474501 w 538504"/>
                  <a:gd name="connsiteY71" fmla="*/ 94747 h 538504"/>
                  <a:gd name="connsiteX72" fmla="*/ 487589 w 538504"/>
                  <a:gd name="connsiteY72" fmla="*/ 111349 h 538504"/>
                  <a:gd name="connsiteX73" fmla="*/ 499334 w 538504"/>
                  <a:gd name="connsiteY73" fmla="*/ 128928 h 538504"/>
                  <a:gd name="connsiteX74" fmla="*/ 509664 w 538504"/>
                  <a:gd name="connsiteY74" fmla="*/ 147374 h 538504"/>
                  <a:gd name="connsiteX75" fmla="*/ 518517 w 538504"/>
                  <a:gd name="connsiteY75" fmla="*/ 166574 h 538504"/>
                  <a:gd name="connsiteX76" fmla="*/ 525833 w 538504"/>
                  <a:gd name="connsiteY76" fmla="*/ 186409 h 538504"/>
                  <a:gd name="connsiteX77" fmla="*/ 531572 w 538504"/>
                  <a:gd name="connsiteY77" fmla="*/ 206756 h 538504"/>
                  <a:gd name="connsiteX78" fmla="*/ 535697 w 538504"/>
                  <a:gd name="connsiteY78" fmla="*/ 227492 h 538504"/>
                  <a:gd name="connsiteX79" fmla="*/ 538182 w 538504"/>
                  <a:gd name="connsiteY79" fmla="*/ 248487 h 538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538504" h="538504">
                    <a:moveTo>
                      <a:pt x="539011" y="269613"/>
                    </a:moveTo>
                    <a:lnTo>
                      <a:pt x="538182" y="290737"/>
                    </a:lnTo>
                    <a:lnTo>
                      <a:pt x="535697" y="311733"/>
                    </a:lnTo>
                    <a:lnTo>
                      <a:pt x="531572" y="332467"/>
                    </a:lnTo>
                    <a:lnTo>
                      <a:pt x="525833" y="352815"/>
                    </a:lnTo>
                    <a:lnTo>
                      <a:pt x="518517" y="372650"/>
                    </a:lnTo>
                    <a:lnTo>
                      <a:pt x="509664" y="391849"/>
                    </a:lnTo>
                    <a:lnTo>
                      <a:pt x="499334" y="410297"/>
                    </a:lnTo>
                    <a:lnTo>
                      <a:pt x="487589" y="427874"/>
                    </a:lnTo>
                    <a:lnTo>
                      <a:pt x="474501" y="444478"/>
                    </a:lnTo>
                    <a:lnTo>
                      <a:pt x="460149" y="460001"/>
                    </a:lnTo>
                    <a:lnTo>
                      <a:pt x="444624" y="474353"/>
                    </a:lnTo>
                    <a:lnTo>
                      <a:pt x="428022" y="487441"/>
                    </a:lnTo>
                    <a:lnTo>
                      <a:pt x="410443" y="499188"/>
                    </a:lnTo>
                    <a:lnTo>
                      <a:pt x="391997" y="509518"/>
                    </a:lnTo>
                    <a:lnTo>
                      <a:pt x="372798" y="518369"/>
                    </a:lnTo>
                    <a:lnTo>
                      <a:pt x="352963" y="525687"/>
                    </a:lnTo>
                    <a:lnTo>
                      <a:pt x="332615" y="531426"/>
                    </a:lnTo>
                    <a:lnTo>
                      <a:pt x="311879" y="535549"/>
                    </a:lnTo>
                    <a:lnTo>
                      <a:pt x="290885" y="538034"/>
                    </a:lnTo>
                    <a:lnTo>
                      <a:pt x="269759" y="538865"/>
                    </a:lnTo>
                    <a:lnTo>
                      <a:pt x="248635" y="538034"/>
                    </a:lnTo>
                    <a:lnTo>
                      <a:pt x="227640" y="535549"/>
                    </a:lnTo>
                    <a:lnTo>
                      <a:pt x="206904" y="531426"/>
                    </a:lnTo>
                    <a:lnTo>
                      <a:pt x="186556" y="525687"/>
                    </a:lnTo>
                    <a:lnTo>
                      <a:pt x="166722" y="518369"/>
                    </a:lnTo>
                    <a:lnTo>
                      <a:pt x="147522" y="509518"/>
                    </a:lnTo>
                    <a:lnTo>
                      <a:pt x="129076" y="499188"/>
                    </a:lnTo>
                    <a:lnTo>
                      <a:pt x="111497" y="487441"/>
                    </a:lnTo>
                    <a:lnTo>
                      <a:pt x="94895" y="474353"/>
                    </a:lnTo>
                    <a:lnTo>
                      <a:pt x="79370" y="460001"/>
                    </a:lnTo>
                    <a:lnTo>
                      <a:pt x="65018" y="444478"/>
                    </a:lnTo>
                    <a:lnTo>
                      <a:pt x="51930" y="427874"/>
                    </a:lnTo>
                    <a:lnTo>
                      <a:pt x="40185" y="410297"/>
                    </a:lnTo>
                    <a:lnTo>
                      <a:pt x="29853" y="391849"/>
                    </a:lnTo>
                    <a:lnTo>
                      <a:pt x="21003" y="372650"/>
                    </a:lnTo>
                    <a:lnTo>
                      <a:pt x="13686" y="352815"/>
                    </a:lnTo>
                    <a:lnTo>
                      <a:pt x="7947" y="332467"/>
                    </a:lnTo>
                    <a:lnTo>
                      <a:pt x="3822" y="311733"/>
                    </a:lnTo>
                    <a:lnTo>
                      <a:pt x="1337" y="290737"/>
                    </a:lnTo>
                    <a:lnTo>
                      <a:pt x="507" y="269613"/>
                    </a:lnTo>
                    <a:lnTo>
                      <a:pt x="1337" y="248487"/>
                    </a:lnTo>
                    <a:lnTo>
                      <a:pt x="3822" y="227492"/>
                    </a:lnTo>
                    <a:lnTo>
                      <a:pt x="7947" y="206756"/>
                    </a:lnTo>
                    <a:lnTo>
                      <a:pt x="13686" y="186409"/>
                    </a:lnTo>
                    <a:lnTo>
                      <a:pt x="21003" y="166574"/>
                    </a:lnTo>
                    <a:lnTo>
                      <a:pt x="29853" y="147374"/>
                    </a:lnTo>
                    <a:lnTo>
                      <a:pt x="40185" y="128928"/>
                    </a:lnTo>
                    <a:lnTo>
                      <a:pt x="51930" y="111349"/>
                    </a:lnTo>
                    <a:lnTo>
                      <a:pt x="65018" y="94747"/>
                    </a:lnTo>
                    <a:lnTo>
                      <a:pt x="79370" y="79222"/>
                    </a:lnTo>
                    <a:lnTo>
                      <a:pt x="94895" y="64872"/>
                    </a:lnTo>
                    <a:lnTo>
                      <a:pt x="111497" y="51782"/>
                    </a:lnTo>
                    <a:lnTo>
                      <a:pt x="129076" y="40037"/>
                    </a:lnTo>
                    <a:lnTo>
                      <a:pt x="147522" y="29707"/>
                    </a:lnTo>
                    <a:lnTo>
                      <a:pt x="166722" y="20856"/>
                    </a:lnTo>
                    <a:lnTo>
                      <a:pt x="186556" y="13538"/>
                    </a:lnTo>
                    <a:lnTo>
                      <a:pt x="206904" y="7799"/>
                    </a:lnTo>
                    <a:lnTo>
                      <a:pt x="227640" y="3674"/>
                    </a:lnTo>
                    <a:lnTo>
                      <a:pt x="248635" y="1191"/>
                    </a:lnTo>
                    <a:lnTo>
                      <a:pt x="269759" y="360"/>
                    </a:lnTo>
                    <a:lnTo>
                      <a:pt x="290885" y="1191"/>
                    </a:lnTo>
                    <a:lnTo>
                      <a:pt x="311879" y="3674"/>
                    </a:lnTo>
                    <a:lnTo>
                      <a:pt x="332615" y="7799"/>
                    </a:lnTo>
                    <a:lnTo>
                      <a:pt x="352963" y="13538"/>
                    </a:lnTo>
                    <a:lnTo>
                      <a:pt x="372798" y="20856"/>
                    </a:lnTo>
                    <a:lnTo>
                      <a:pt x="391997" y="29707"/>
                    </a:lnTo>
                    <a:lnTo>
                      <a:pt x="410443" y="40037"/>
                    </a:lnTo>
                    <a:lnTo>
                      <a:pt x="428022" y="51782"/>
                    </a:lnTo>
                    <a:lnTo>
                      <a:pt x="444624" y="64872"/>
                    </a:lnTo>
                    <a:lnTo>
                      <a:pt x="460149" y="79222"/>
                    </a:lnTo>
                    <a:lnTo>
                      <a:pt x="474501" y="94747"/>
                    </a:lnTo>
                    <a:lnTo>
                      <a:pt x="487589" y="111349"/>
                    </a:lnTo>
                    <a:lnTo>
                      <a:pt x="499334" y="128928"/>
                    </a:lnTo>
                    <a:lnTo>
                      <a:pt x="509664" y="147374"/>
                    </a:lnTo>
                    <a:lnTo>
                      <a:pt x="518517" y="166574"/>
                    </a:lnTo>
                    <a:lnTo>
                      <a:pt x="525833" y="186409"/>
                    </a:lnTo>
                    <a:lnTo>
                      <a:pt x="531572" y="206756"/>
                    </a:lnTo>
                    <a:lnTo>
                      <a:pt x="535697" y="227492"/>
                    </a:lnTo>
                    <a:lnTo>
                      <a:pt x="538182" y="248487"/>
                    </a:lnTo>
                    <a:close/>
                  </a:path>
                </a:pathLst>
              </a:custGeom>
              <a:solidFill>
                <a:srgbClr val="326468"/>
              </a:solidFill>
              <a:ln w="258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5" name="Freihandform: Form 434">
                <a:extLst>
                  <a:ext uri="{FF2B5EF4-FFF2-40B4-BE49-F238E27FC236}">
                    <a16:creationId xmlns:a16="http://schemas.microsoft.com/office/drawing/2014/main" id="{A27AC8F0-2CA6-C041-707C-1E0BE1E011F4}"/>
                  </a:ext>
                </a:extLst>
              </p:cNvPr>
              <p:cNvSpPr/>
              <p:nvPr/>
            </p:nvSpPr>
            <p:spPr>
              <a:xfrm>
                <a:off x="7500226" y="31920037"/>
                <a:ext cx="897506" cy="241636"/>
              </a:xfrm>
              <a:custGeom>
                <a:avLst/>
                <a:gdLst>
                  <a:gd name="connsiteX0" fmla="*/ 507 w 897506"/>
                  <a:gd name="connsiteY0" fmla="*/ 372 h 241636"/>
                  <a:gd name="connsiteX1" fmla="*/ 898014 w 897506"/>
                  <a:gd name="connsiteY1" fmla="*/ 372 h 241636"/>
                  <a:gd name="connsiteX2" fmla="*/ 898014 w 897506"/>
                  <a:gd name="connsiteY2" fmla="*/ 242009 h 241636"/>
                  <a:gd name="connsiteX3" fmla="*/ 507 w 897506"/>
                  <a:gd name="connsiteY3" fmla="*/ 242009 h 241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7506" h="241636">
                    <a:moveTo>
                      <a:pt x="507" y="372"/>
                    </a:moveTo>
                    <a:lnTo>
                      <a:pt x="898014" y="372"/>
                    </a:lnTo>
                    <a:lnTo>
                      <a:pt x="898014" y="242009"/>
                    </a:lnTo>
                    <a:lnTo>
                      <a:pt x="507" y="242009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6" name="Textfeld 435">
                <a:extLst>
                  <a:ext uri="{FF2B5EF4-FFF2-40B4-BE49-F238E27FC236}">
                    <a16:creationId xmlns:a16="http://schemas.microsoft.com/office/drawing/2014/main" id="{D122034F-7EEB-C8A7-5EF0-E75786E66151}"/>
                  </a:ext>
                </a:extLst>
              </p:cNvPr>
              <p:cNvSpPr txBox="1"/>
              <p:nvPr/>
            </p:nvSpPr>
            <p:spPr>
              <a:xfrm>
                <a:off x="7426045" y="31908836"/>
                <a:ext cx="1045867" cy="3158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de-DE" sz="1019" spc="0" baseline="0">
                    <a:ln/>
                    <a:solidFill>
                      <a:srgbClr val="1F2933"/>
                    </a:solidFill>
                    <a:latin typeface="Helvetica"/>
                    <a:cs typeface="Helvetica"/>
                    <a:sym typeface="Helvetica"/>
                    <a:rtl val="0"/>
                  </a:rPr>
                  <a:t>ISO 19115</a:t>
                </a:r>
              </a:p>
            </p:txBody>
          </p:sp>
          <p:sp>
            <p:nvSpPr>
              <p:cNvPr id="437" name="Freihandform: Form 436">
                <a:extLst>
                  <a:ext uri="{FF2B5EF4-FFF2-40B4-BE49-F238E27FC236}">
                    <a16:creationId xmlns:a16="http://schemas.microsoft.com/office/drawing/2014/main" id="{8DD5CBD5-4767-5A1D-5D31-25E7BC1EF384}"/>
                  </a:ext>
                </a:extLst>
              </p:cNvPr>
              <p:cNvSpPr/>
              <p:nvPr/>
            </p:nvSpPr>
            <p:spPr>
              <a:xfrm>
                <a:off x="8870824" y="30108266"/>
                <a:ext cx="455659" cy="455657"/>
              </a:xfrm>
              <a:custGeom>
                <a:avLst/>
                <a:gdLst>
                  <a:gd name="connsiteX0" fmla="*/ 456199 w 455659"/>
                  <a:gd name="connsiteY0" fmla="*/ 228151 h 455657"/>
                  <a:gd name="connsiteX1" fmla="*/ 455491 w 455659"/>
                  <a:gd name="connsiteY1" fmla="*/ 246015 h 455657"/>
                  <a:gd name="connsiteX2" fmla="*/ 453386 w 455659"/>
                  <a:gd name="connsiteY2" fmla="*/ 263776 h 455657"/>
                  <a:gd name="connsiteX3" fmla="*/ 449899 w 455659"/>
                  <a:gd name="connsiteY3" fmla="*/ 281329 h 455657"/>
                  <a:gd name="connsiteX4" fmla="*/ 445049 w 455659"/>
                  <a:gd name="connsiteY4" fmla="*/ 298554 h 455657"/>
                  <a:gd name="connsiteX5" fmla="*/ 438853 w 455659"/>
                  <a:gd name="connsiteY5" fmla="*/ 315330 h 455657"/>
                  <a:gd name="connsiteX6" fmla="*/ 431362 w 455659"/>
                  <a:gd name="connsiteY6" fmla="*/ 331572 h 455657"/>
                  <a:gd name="connsiteX7" fmla="*/ 422629 w 455659"/>
                  <a:gd name="connsiteY7" fmla="*/ 347192 h 455657"/>
                  <a:gd name="connsiteX8" fmla="*/ 412687 w 455659"/>
                  <a:gd name="connsiteY8" fmla="*/ 362052 h 455657"/>
                  <a:gd name="connsiteX9" fmla="*/ 401606 w 455659"/>
                  <a:gd name="connsiteY9" fmla="*/ 376102 h 455657"/>
                  <a:gd name="connsiteX10" fmla="*/ 389473 w 455659"/>
                  <a:gd name="connsiteY10" fmla="*/ 389237 h 455657"/>
                  <a:gd name="connsiteX11" fmla="*/ 376338 w 455659"/>
                  <a:gd name="connsiteY11" fmla="*/ 401387 h 455657"/>
                  <a:gd name="connsiteX12" fmla="*/ 362289 w 455659"/>
                  <a:gd name="connsiteY12" fmla="*/ 412468 h 455657"/>
                  <a:gd name="connsiteX13" fmla="*/ 347411 w 455659"/>
                  <a:gd name="connsiteY13" fmla="*/ 422393 h 455657"/>
                  <a:gd name="connsiteX14" fmla="*/ 331808 w 455659"/>
                  <a:gd name="connsiteY14" fmla="*/ 431143 h 455657"/>
                  <a:gd name="connsiteX15" fmla="*/ 315549 w 455659"/>
                  <a:gd name="connsiteY15" fmla="*/ 438634 h 455657"/>
                  <a:gd name="connsiteX16" fmla="*/ 298773 w 455659"/>
                  <a:gd name="connsiteY16" fmla="*/ 444813 h 455657"/>
                  <a:gd name="connsiteX17" fmla="*/ 281548 w 455659"/>
                  <a:gd name="connsiteY17" fmla="*/ 449680 h 455657"/>
                  <a:gd name="connsiteX18" fmla="*/ 264012 w 455659"/>
                  <a:gd name="connsiteY18" fmla="*/ 453167 h 455657"/>
                  <a:gd name="connsiteX19" fmla="*/ 246252 w 455659"/>
                  <a:gd name="connsiteY19" fmla="*/ 455272 h 455657"/>
                  <a:gd name="connsiteX20" fmla="*/ 228370 w 455659"/>
                  <a:gd name="connsiteY20" fmla="*/ 455980 h 455657"/>
                  <a:gd name="connsiteX21" fmla="*/ 210489 w 455659"/>
                  <a:gd name="connsiteY21" fmla="*/ 455272 h 455657"/>
                  <a:gd name="connsiteX22" fmla="*/ 192729 w 455659"/>
                  <a:gd name="connsiteY22" fmla="*/ 453167 h 455657"/>
                  <a:gd name="connsiteX23" fmla="*/ 175176 w 455659"/>
                  <a:gd name="connsiteY23" fmla="*/ 449680 h 455657"/>
                  <a:gd name="connsiteX24" fmla="*/ 157966 w 455659"/>
                  <a:gd name="connsiteY24" fmla="*/ 444813 h 455657"/>
                  <a:gd name="connsiteX25" fmla="*/ 141183 w 455659"/>
                  <a:gd name="connsiteY25" fmla="*/ 438634 h 455657"/>
                  <a:gd name="connsiteX26" fmla="*/ 124936 w 455659"/>
                  <a:gd name="connsiteY26" fmla="*/ 431143 h 455657"/>
                  <a:gd name="connsiteX27" fmla="*/ 109328 w 455659"/>
                  <a:gd name="connsiteY27" fmla="*/ 422393 h 455657"/>
                  <a:gd name="connsiteX28" fmla="*/ 94454 w 455659"/>
                  <a:gd name="connsiteY28" fmla="*/ 412468 h 455657"/>
                  <a:gd name="connsiteX29" fmla="*/ 80406 w 455659"/>
                  <a:gd name="connsiteY29" fmla="*/ 401387 h 455657"/>
                  <a:gd name="connsiteX30" fmla="*/ 67270 w 455659"/>
                  <a:gd name="connsiteY30" fmla="*/ 389237 h 455657"/>
                  <a:gd name="connsiteX31" fmla="*/ 55126 w 455659"/>
                  <a:gd name="connsiteY31" fmla="*/ 376102 h 455657"/>
                  <a:gd name="connsiteX32" fmla="*/ 44052 w 455659"/>
                  <a:gd name="connsiteY32" fmla="*/ 362052 h 455657"/>
                  <a:gd name="connsiteX33" fmla="*/ 34114 w 455659"/>
                  <a:gd name="connsiteY33" fmla="*/ 347192 h 455657"/>
                  <a:gd name="connsiteX34" fmla="*/ 25372 w 455659"/>
                  <a:gd name="connsiteY34" fmla="*/ 331572 h 455657"/>
                  <a:gd name="connsiteX35" fmla="*/ 17883 w 455659"/>
                  <a:gd name="connsiteY35" fmla="*/ 315330 h 455657"/>
                  <a:gd name="connsiteX36" fmla="*/ 11692 w 455659"/>
                  <a:gd name="connsiteY36" fmla="*/ 298554 h 455657"/>
                  <a:gd name="connsiteX37" fmla="*/ 6835 w 455659"/>
                  <a:gd name="connsiteY37" fmla="*/ 281329 h 455657"/>
                  <a:gd name="connsiteX38" fmla="*/ 3345 w 455659"/>
                  <a:gd name="connsiteY38" fmla="*/ 263776 h 455657"/>
                  <a:gd name="connsiteX39" fmla="*/ 1243 w 455659"/>
                  <a:gd name="connsiteY39" fmla="*/ 246015 h 455657"/>
                  <a:gd name="connsiteX40" fmla="*/ 540 w 455659"/>
                  <a:gd name="connsiteY40" fmla="*/ 228151 h 455657"/>
                  <a:gd name="connsiteX41" fmla="*/ 1243 w 455659"/>
                  <a:gd name="connsiteY41" fmla="*/ 210270 h 455657"/>
                  <a:gd name="connsiteX42" fmla="*/ 3345 w 455659"/>
                  <a:gd name="connsiteY42" fmla="*/ 192510 h 455657"/>
                  <a:gd name="connsiteX43" fmla="*/ 6835 w 455659"/>
                  <a:gd name="connsiteY43" fmla="*/ 174957 h 455657"/>
                  <a:gd name="connsiteX44" fmla="*/ 11692 w 455659"/>
                  <a:gd name="connsiteY44" fmla="*/ 157749 h 455657"/>
                  <a:gd name="connsiteX45" fmla="*/ 17883 w 455659"/>
                  <a:gd name="connsiteY45" fmla="*/ 140955 h 455657"/>
                  <a:gd name="connsiteX46" fmla="*/ 25372 w 455659"/>
                  <a:gd name="connsiteY46" fmla="*/ 124714 h 455657"/>
                  <a:gd name="connsiteX47" fmla="*/ 34114 w 455659"/>
                  <a:gd name="connsiteY47" fmla="*/ 109111 h 455657"/>
                  <a:gd name="connsiteX48" fmla="*/ 44052 w 455659"/>
                  <a:gd name="connsiteY48" fmla="*/ 94233 h 455657"/>
                  <a:gd name="connsiteX49" fmla="*/ 55126 w 455659"/>
                  <a:gd name="connsiteY49" fmla="*/ 80184 h 455657"/>
                  <a:gd name="connsiteX50" fmla="*/ 67270 w 455659"/>
                  <a:gd name="connsiteY50" fmla="*/ 67049 h 455657"/>
                  <a:gd name="connsiteX51" fmla="*/ 80406 w 455659"/>
                  <a:gd name="connsiteY51" fmla="*/ 54898 h 455657"/>
                  <a:gd name="connsiteX52" fmla="*/ 94454 w 455659"/>
                  <a:gd name="connsiteY52" fmla="*/ 43835 h 455657"/>
                  <a:gd name="connsiteX53" fmla="*/ 109328 w 455659"/>
                  <a:gd name="connsiteY53" fmla="*/ 33893 h 455657"/>
                  <a:gd name="connsiteX54" fmla="*/ 124936 w 455659"/>
                  <a:gd name="connsiteY54" fmla="*/ 25142 h 455657"/>
                  <a:gd name="connsiteX55" fmla="*/ 141183 w 455659"/>
                  <a:gd name="connsiteY55" fmla="*/ 17652 h 455657"/>
                  <a:gd name="connsiteX56" fmla="*/ 157966 w 455659"/>
                  <a:gd name="connsiteY56" fmla="*/ 11473 h 455657"/>
                  <a:gd name="connsiteX57" fmla="*/ 175176 w 455659"/>
                  <a:gd name="connsiteY57" fmla="*/ 6605 h 455657"/>
                  <a:gd name="connsiteX58" fmla="*/ 192729 w 455659"/>
                  <a:gd name="connsiteY58" fmla="*/ 3119 h 455657"/>
                  <a:gd name="connsiteX59" fmla="*/ 210489 w 455659"/>
                  <a:gd name="connsiteY59" fmla="*/ 1013 h 455657"/>
                  <a:gd name="connsiteX60" fmla="*/ 228370 w 455659"/>
                  <a:gd name="connsiteY60" fmla="*/ 323 h 455657"/>
                  <a:gd name="connsiteX61" fmla="*/ 246252 w 455659"/>
                  <a:gd name="connsiteY61" fmla="*/ 1013 h 455657"/>
                  <a:gd name="connsiteX62" fmla="*/ 264012 w 455659"/>
                  <a:gd name="connsiteY62" fmla="*/ 3119 h 455657"/>
                  <a:gd name="connsiteX63" fmla="*/ 281548 w 455659"/>
                  <a:gd name="connsiteY63" fmla="*/ 6605 h 455657"/>
                  <a:gd name="connsiteX64" fmla="*/ 298773 w 455659"/>
                  <a:gd name="connsiteY64" fmla="*/ 11473 h 455657"/>
                  <a:gd name="connsiteX65" fmla="*/ 315549 w 455659"/>
                  <a:gd name="connsiteY65" fmla="*/ 17652 h 455657"/>
                  <a:gd name="connsiteX66" fmla="*/ 331808 w 455659"/>
                  <a:gd name="connsiteY66" fmla="*/ 25142 h 455657"/>
                  <a:gd name="connsiteX67" fmla="*/ 347411 w 455659"/>
                  <a:gd name="connsiteY67" fmla="*/ 33893 h 455657"/>
                  <a:gd name="connsiteX68" fmla="*/ 362289 w 455659"/>
                  <a:gd name="connsiteY68" fmla="*/ 43835 h 455657"/>
                  <a:gd name="connsiteX69" fmla="*/ 376338 w 455659"/>
                  <a:gd name="connsiteY69" fmla="*/ 54898 h 455657"/>
                  <a:gd name="connsiteX70" fmla="*/ 389473 w 455659"/>
                  <a:gd name="connsiteY70" fmla="*/ 67049 h 455657"/>
                  <a:gd name="connsiteX71" fmla="*/ 401606 w 455659"/>
                  <a:gd name="connsiteY71" fmla="*/ 80184 h 455657"/>
                  <a:gd name="connsiteX72" fmla="*/ 412687 w 455659"/>
                  <a:gd name="connsiteY72" fmla="*/ 94233 h 455657"/>
                  <a:gd name="connsiteX73" fmla="*/ 422629 w 455659"/>
                  <a:gd name="connsiteY73" fmla="*/ 109111 h 455657"/>
                  <a:gd name="connsiteX74" fmla="*/ 431362 w 455659"/>
                  <a:gd name="connsiteY74" fmla="*/ 124714 h 455657"/>
                  <a:gd name="connsiteX75" fmla="*/ 438853 w 455659"/>
                  <a:gd name="connsiteY75" fmla="*/ 140955 h 455657"/>
                  <a:gd name="connsiteX76" fmla="*/ 445049 w 455659"/>
                  <a:gd name="connsiteY76" fmla="*/ 157749 h 455657"/>
                  <a:gd name="connsiteX77" fmla="*/ 449899 w 455659"/>
                  <a:gd name="connsiteY77" fmla="*/ 174957 h 455657"/>
                  <a:gd name="connsiteX78" fmla="*/ 453386 w 455659"/>
                  <a:gd name="connsiteY78" fmla="*/ 192510 h 455657"/>
                  <a:gd name="connsiteX79" fmla="*/ 455491 w 455659"/>
                  <a:gd name="connsiteY79" fmla="*/ 210270 h 455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455659" h="455657">
                    <a:moveTo>
                      <a:pt x="456199" y="228151"/>
                    </a:moveTo>
                    <a:lnTo>
                      <a:pt x="455491" y="246015"/>
                    </a:lnTo>
                    <a:lnTo>
                      <a:pt x="453386" y="263776"/>
                    </a:lnTo>
                    <a:lnTo>
                      <a:pt x="449899" y="281329"/>
                    </a:lnTo>
                    <a:lnTo>
                      <a:pt x="445049" y="298554"/>
                    </a:lnTo>
                    <a:lnTo>
                      <a:pt x="438853" y="315330"/>
                    </a:lnTo>
                    <a:lnTo>
                      <a:pt x="431362" y="331572"/>
                    </a:lnTo>
                    <a:lnTo>
                      <a:pt x="422629" y="347192"/>
                    </a:lnTo>
                    <a:lnTo>
                      <a:pt x="412687" y="362052"/>
                    </a:lnTo>
                    <a:lnTo>
                      <a:pt x="401606" y="376102"/>
                    </a:lnTo>
                    <a:lnTo>
                      <a:pt x="389473" y="389237"/>
                    </a:lnTo>
                    <a:lnTo>
                      <a:pt x="376338" y="401387"/>
                    </a:lnTo>
                    <a:lnTo>
                      <a:pt x="362289" y="412468"/>
                    </a:lnTo>
                    <a:lnTo>
                      <a:pt x="347411" y="422393"/>
                    </a:lnTo>
                    <a:lnTo>
                      <a:pt x="331808" y="431143"/>
                    </a:lnTo>
                    <a:lnTo>
                      <a:pt x="315549" y="438634"/>
                    </a:lnTo>
                    <a:lnTo>
                      <a:pt x="298773" y="444813"/>
                    </a:lnTo>
                    <a:lnTo>
                      <a:pt x="281548" y="449680"/>
                    </a:lnTo>
                    <a:lnTo>
                      <a:pt x="264012" y="453167"/>
                    </a:lnTo>
                    <a:lnTo>
                      <a:pt x="246252" y="455272"/>
                    </a:lnTo>
                    <a:lnTo>
                      <a:pt x="228370" y="455980"/>
                    </a:lnTo>
                    <a:lnTo>
                      <a:pt x="210489" y="455272"/>
                    </a:lnTo>
                    <a:lnTo>
                      <a:pt x="192729" y="453167"/>
                    </a:lnTo>
                    <a:lnTo>
                      <a:pt x="175176" y="449680"/>
                    </a:lnTo>
                    <a:lnTo>
                      <a:pt x="157966" y="444813"/>
                    </a:lnTo>
                    <a:lnTo>
                      <a:pt x="141183" y="438634"/>
                    </a:lnTo>
                    <a:lnTo>
                      <a:pt x="124936" y="431143"/>
                    </a:lnTo>
                    <a:lnTo>
                      <a:pt x="109328" y="422393"/>
                    </a:lnTo>
                    <a:lnTo>
                      <a:pt x="94454" y="412468"/>
                    </a:lnTo>
                    <a:lnTo>
                      <a:pt x="80406" y="401387"/>
                    </a:lnTo>
                    <a:lnTo>
                      <a:pt x="67270" y="389237"/>
                    </a:lnTo>
                    <a:lnTo>
                      <a:pt x="55126" y="376102"/>
                    </a:lnTo>
                    <a:lnTo>
                      <a:pt x="44052" y="362052"/>
                    </a:lnTo>
                    <a:lnTo>
                      <a:pt x="34114" y="347192"/>
                    </a:lnTo>
                    <a:lnTo>
                      <a:pt x="25372" y="331572"/>
                    </a:lnTo>
                    <a:lnTo>
                      <a:pt x="17883" y="315330"/>
                    </a:lnTo>
                    <a:lnTo>
                      <a:pt x="11692" y="298554"/>
                    </a:lnTo>
                    <a:lnTo>
                      <a:pt x="6835" y="281329"/>
                    </a:lnTo>
                    <a:lnTo>
                      <a:pt x="3345" y="263776"/>
                    </a:lnTo>
                    <a:lnTo>
                      <a:pt x="1243" y="246015"/>
                    </a:lnTo>
                    <a:lnTo>
                      <a:pt x="540" y="228151"/>
                    </a:lnTo>
                    <a:lnTo>
                      <a:pt x="1243" y="210270"/>
                    </a:lnTo>
                    <a:lnTo>
                      <a:pt x="3345" y="192510"/>
                    </a:lnTo>
                    <a:lnTo>
                      <a:pt x="6835" y="174957"/>
                    </a:lnTo>
                    <a:lnTo>
                      <a:pt x="11692" y="157749"/>
                    </a:lnTo>
                    <a:lnTo>
                      <a:pt x="17883" y="140955"/>
                    </a:lnTo>
                    <a:lnTo>
                      <a:pt x="25372" y="124714"/>
                    </a:lnTo>
                    <a:lnTo>
                      <a:pt x="34114" y="109111"/>
                    </a:lnTo>
                    <a:lnTo>
                      <a:pt x="44052" y="94233"/>
                    </a:lnTo>
                    <a:lnTo>
                      <a:pt x="55126" y="80184"/>
                    </a:lnTo>
                    <a:lnTo>
                      <a:pt x="67270" y="67049"/>
                    </a:lnTo>
                    <a:lnTo>
                      <a:pt x="80406" y="54898"/>
                    </a:lnTo>
                    <a:lnTo>
                      <a:pt x="94454" y="43835"/>
                    </a:lnTo>
                    <a:lnTo>
                      <a:pt x="109328" y="33893"/>
                    </a:lnTo>
                    <a:lnTo>
                      <a:pt x="124936" y="25142"/>
                    </a:lnTo>
                    <a:lnTo>
                      <a:pt x="141183" y="17652"/>
                    </a:lnTo>
                    <a:lnTo>
                      <a:pt x="157966" y="11473"/>
                    </a:lnTo>
                    <a:lnTo>
                      <a:pt x="175176" y="6605"/>
                    </a:lnTo>
                    <a:lnTo>
                      <a:pt x="192729" y="3119"/>
                    </a:lnTo>
                    <a:lnTo>
                      <a:pt x="210489" y="1013"/>
                    </a:lnTo>
                    <a:lnTo>
                      <a:pt x="228370" y="323"/>
                    </a:lnTo>
                    <a:lnTo>
                      <a:pt x="246252" y="1013"/>
                    </a:lnTo>
                    <a:lnTo>
                      <a:pt x="264012" y="3119"/>
                    </a:lnTo>
                    <a:lnTo>
                      <a:pt x="281548" y="6605"/>
                    </a:lnTo>
                    <a:lnTo>
                      <a:pt x="298773" y="11473"/>
                    </a:lnTo>
                    <a:lnTo>
                      <a:pt x="315549" y="17652"/>
                    </a:lnTo>
                    <a:lnTo>
                      <a:pt x="331808" y="25142"/>
                    </a:lnTo>
                    <a:lnTo>
                      <a:pt x="347411" y="33893"/>
                    </a:lnTo>
                    <a:lnTo>
                      <a:pt x="362289" y="43835"/>
                    </a:lnTo>
                    <a:lnTo>
                      <a:pt x="376338" y="54898"/>
                    </a:lnTo>
                    <a:lnTo>
                      <a:pt x="389473" y="67049"/>
                    </a:lnTo>
                    <a:lnTo>
                      <a:pt x="401606" y="80184"/>
                    </a:lnTo>
                    <a:lnTo>
                      <a:pt x="412687" y="94233"/>
                    </a:lnTo>
                    <a:lnTo>
                      <a:pt x="422629" y="109111"/>
                    </a:lnTo>
                    <a:lnTo>
                      <a:pt x="431362" y="124714"/>
                    </a:lnTo>
                    <a:lnTo>
                      <a:pt x="438853" y="140955"/>
                    </a:lnTo>
                    <a:lnTo>
                      <a:pt x="445049" y="157749"/>
                    </a:lnTo>
                    <a:lnTo>
                      <a:pt x="449899" y="174957"/>
                    </a:lnTo>
                    <a:lnTo>
                      <a:pt x="453386" y="192510"/>
                    </a:lnTo>
                    <a:lnTo>
                      <a:pt x="455491" y="210270"/>
                    </a:lnTo>
                    <a:close/>
                  </a:path>
                </a:pathLst>
              </a:custGeom>
              <a:solidFill>
                <a:srgbClr val="326468"/>
              </a:solidFill>
              <a:ln w="258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8" name="Freihandform: Form 437">
                <a:extLst>
                  <a:ext uri="{FF2B5EF4-FFF2-40B4-BE49-F238E27FC236}">
                    <a16:creationId xmlns:a16="http://schemas.microsoft.com/office/drawing/2014/main" id="{3C9FDFB3-999E-3919-72FA-A2ACD34FB1F1}"/>
                  </a:ext>
                </a:extLst>
              </p:cNvPr>
              <p:cNvSpPr/>
              <p:nvPr/>
            </p:nvSpPr>
            <p:spPr>
              <a:xfrm>
                <a:off x="8753457" y="30581183"/>
                <a:ext cx="690389" cy="241636"/>
              </a:xfrm>
              <a:custGeom>
                <a:avLst/>
                <a:gdLst>
                  <a:gd name="connsiteX0" fmla="*/ 540 w 690389"/>
                  <a:gd name="connsiteY0" fmla="*/ 334 h 241636"/>
                  <a:gd name="connsiteX1" fmla="*/ 690930 w 690389"/>
                  <a:gd name="connsiteY1" fmla="*/ 334 h 241636"/>
                  <a:gd name="connsiteX2" fmla="*/ 690930 w 690389"/>
                  <a:gd name="connsiteY2" fmla="*/ 241970 h 241636"/>
                  <a:gd name="connsiteX3" fmla="*/ 540 w 690389"/>
                  <a:gd name="connsiteY3" fmla="*/ 241970 h 241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90389" h="241636">
                    <a:moveTo>
                      <a:pt x="540" y="334"/>
                    </a:moveTo>
                    <a:lnTo>
                      <a:pt x="690930" y="334"/>
                    </a:lnTo>
                    <a:lnTo>
                      <a:pt x="690930" y="241970"/>
                    </a:lnTo>
                    <a:lnTo>
                      <a:pt x="540" y="24197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9" name="Textfeld 438">
                <a:extLst>
                  <a:ext uri="{FF2B5EF4-FFF2-40B4-BE49-F238E27FC236}">
                    <a16:creationId xmlns:a16="http://schemas.microsoft.com/office/drawing/2014/main" id="{F0475226-36AD-2218-4A1A-AC52FDD47B62}"/>
                  </a:ext>
                </a:extLst>
              </p:cNvPr>
              <p:cNvSpPr txBox="1"/>
              <p:nvPr/>
            </p:nvSpPr>
            <p:spPr>
              <a:xfrm>
                <a:off x="8696539" y="30569982"/>
                <a:ext cx="804230" cy="3158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de-DE" sz="1019" spc="0" baseline="0">
                    <a:ln/>
                    <a:solidFill>
                      <a:srgbClr val="1F2933"/>
                    </a:solidFill>
                    <a:latin typeface="Helvetica"/>
                    <a:cs typeface="Helvetica"/>
                    <a:sym typeface="Helvetica"/>
                    <a:rtl val="0"/>
                  </a:rPr>
                  <a:t>ANZLIC</a:t>
                </a:r>
              </a:p>
            </p:txBody>
          </p:sp>
          <p:sp>
            <p:nvSpPr>
              <p:cNvPr id="440" name="Freihandform: Form 439">
                <a:extLst>
                  <a:ext uri="{FF2B5EF4-FFF2-40B4-BE49-F238E27FC236}">
                    <a16:creationId xmlns:a16="http://schemas.microsoft.com/office/drawing/2014/main" id="{9015AB78-727D-C360-3CD4-1F762C5F2AA6}"/>
                  </a:ext>
                </a:extLst>
              </p:cNvPr>
              <p:cNvSpPr/>
              <p:nvPr/>
            </p:nvSpPr>
            <p:spPr>
              <a:xfrm>
                <a:off x="9452876" y="31061513"/>
                <a:ext cx="455657" cy="455657"/>
              </a:xfrm>
              <a:custGeom>
                <a:avLst/>
                <a:gdLst>
                  <a:gd name="connsiteX0" fmla="*/ 456214 w 455657"/>
                  <a:gd name="connsiteY0" fmla="*/ 228179 h 455657"/>
                  <a:gd name="connsiteX1" fmla="*/ 455507 w 455657"/>
                  <a:gd name="connsiteY1" fmla="*/ 246055 h 455657"/>
                  <a:gd name="connsiteX2" fmla="*/ 453401 w 455657"/>
                  <a:gd name="connsiteY2" fmla="*/ 263820 h 455657"/>
                  <a:gd name="connsiteX3" fmla="*/ 449914 w 455657"/>
                  <a:gd name="connsiteY3" fmla="*/ 281365 h 455657"/>
                  <a:gd name="connsiteX4" fmla="*/ 445065 w 455657"/>
                  <a:gd name="connsiteY4" fmla="*/ 298583 h 455657"/>
                  <a:gd name="connsiteX5" fmla="*/ 438868 w 455657"/>
                  <a:gd name="connsiteY5" fmla="*/ 315367 h 455657"/>
                  <a:gd name="connsiteX6" fmla="*/ 431378 w 455657"/>
                  <a:gd name="connsiteY6" fmla="*/ 331612 h 455657"/>
                  <a:gd name="connsiteX7" fmla="*/ 422644 w 455657"/>
                  <a:gd name="connsiteY7" fmla="*/ 347220 h 455657"/>
                  <a:gd name="connsiteX8" fmla="*/ 412702 w 455657"/>
                  <a:gd name="connsiteY8" fmla="*/ 362094 h 455657"/>
                  <a:gd name="connsiteX9" fmla="*/ 401622 w 455657"/>
                  <a:gd name="connsiteY9" fmla="*/ 376143 h 455657"/>
                  <a:gd name="connsiteX10" fmla="*/ 389471 w 455657"/>
                  <a:gd name="connsiteY10" fmla="*/ 389280 h 455657"/>
                  <a:gd name="connsiteX11" fmla="*/ 376336 w 455657"/>
                  <a:gd name="connsiteY11" fmla="*/ 401422 h 455657"/>
                  <a:gd name="connsiteX12" fmla="*/ 362287 w 455657"/>
                  <a:gd name="connsiteY12" fmla="*/ 412498 h 455657"/>
                  <a:gd name="connsiteX13" fmla="*/ 347426 w 455657"/>
                  <a:gd name="connsiteY13" fmla="*/ 422436 h 455657"/>
                  <a:gd name="connsiteX14" fmla="*/ 331806 w 455657"/>
                  <a:gd name="connsiteY14" fmla="*/ 431176 h 455657"/>
                  <a:gd name="connsiteX15" fmla="*/ 315565 w 455657"/>
                  <a:gd name="connsiteY15" fmla="*/ 438667 h 455657"/>
                  <a:gd name="connsiteX16" fmla="*/ 298788 w 455657"/>
                  <a:gd name="connsiteY16" fmla="*/ 444858 h 455657"/>
                  <a:gd name="connsiteX17" fmla="*/ 281563 w 455657"/>
                  <a:gd name="connsiteY17" fmla="*/ 449713 h 455657"/>
                  <a:gd name="connsiteX18" fmla="*/ 264027 w 455657"/>
                  <a:gd name="connsiteY18" fmla="*/ 453203 h 455657"/>
                  <a:gd name="connsiteX19" fmla="*/ 246250 w 455657"/>
                  <a:gd name="connsiteY19" fmla="*/ 455305 h 455657"/>
                  <a:gd name="connsiteX20" fmla="*/ 228386 w 455657"/>
                  <a:gd name="connsiteY20" fmla="*/ 456008 h 455657"/>
                  <a:gd name="connsiteX21" fmla="*/ 210505 w 455657"/>
                  <a:gd name="connsiteY21" fmla="*/ 455305 h 455657"/>
                  <a:gd name="connsiteX22" fmla="*/ 192744 w 455657"/>
                  <a:gd name="connsiteY22" fmla="*/ 453203 h 455657"/>
                  <a:gd name="connsiteX23" fmla="*/ 175191 w 455657"/>
                  <a:gd name="connsiteY23" fmla="*/ 449713 h 455657"/>
                  <a:gd name="connsiteX24" fmla="*/ 157983 w 455657"/>
                  <a:gd name="connsiteY24" fmla="*/ 444858 h 455657"/>
                  <a:gd name="connsiteX25" fmla="*/ 141189 w 455657"/>
                  <a:gd name="connsiteY25" fmla="*/ 438667 h 455657"/>
                  <a:gd name="connsiteX26" fmla="*/ 124948 w 455657"/>
                  <a:gd name="connsiteY26" fmla="*/ 431176 h 455657"/>
                  <a:gd name="connsiteX27" fmla="*/ 109345 w 455657"/>
                  <a:gd name="connsiteY27" fmla="*/ 422436 h 455657"/>
                  <a:gd name="connsiteX28" fmla="*/ 94467 w 455657"/>
                  <a:gd name="connsiteY28" fmla="*/ 412498 h 455657"/>
                  <a:gd name="connsiteX29" fmla="*/ 80418 w 455657"/>
                  <a:gd name="connsiteY29" fmla="*/ 401422 h 455657"/>
                  <a:gd name="connsiteX30" fmla="*/ 67283 w 455657"/>
                  <a:gd name="connsiteY30" fmla="*/ 389280 h 455657"/>
                  <a:gd name="connsiteX31" fmla="*/ 55132 w 455657"/>
                  <a:gd name="connsiteY31" fmla="*/ 376143 h 455657"/>
                  <a:gd name="connsiteX32" fmla="*/ 44069 w 455657"/>
                  <a:gd name="connsiteY32" fmla="*/ 362094 h 455657"/>
                  <a:gd name="connsiteX33" fmla="*/ 34127 w 455657"/>
                  <a:gd name="connsiteY33" fmla="*/ 347220 h 455657"/>
                  <a:gd name="connsiteX34" fmla="*/ 25376 w 455657"/>
                  <a:gd name="connsiteY34" fmla="*/ 331612 h 455657"/>
                  <a:gd name="connsiteX35" fmla="*/ 17886 w 455657"/>
                  <a:gd name="connsiteY35" fmla="*/ 315367 h 455657"/>
                  <a:gd name="connsiteX36" fmla="*/ 11707 w 455657"/>
                  <a:gd name="connsiteY36" fmla="*/ 298583 h 455657"/>
                  <a:gd name="connsiteX37" fmla="*/ 6840 w 455657"/>
                  <a:gd name="connsiteY37" fmla="*/ 281365 h 455657"/>
                  <a:gd name="connsiteX38" fmla="*/ 3353 w 455657"/>
                  <a:gd name="connsiteY38" fmla="*/ 263820 h 455657"/>
                  <a:gd name="connsiteX39" fmla="*/ 1247 w 455657"/>
                  <a:gd name="connsiteY39" fmla="*/ 246055 h 455657"/>
                  <a:gd name="connsiteX40" fmla="*/ 557 w 455657"/>
                  <a:gd name="connsiteY40" fmla="*/ 228179 h 455657"/>
                  <a:gd name="connsiteX41" fmla="*/ 1247 w 455657"/>
                  <a:gd name="connsiteY41" fmla="*/ 210305 h 455657"/>
                  <a:gd name="connsiteX42" fmla="*/ 3353 w 455657"/>
                  <a:gd name="connsiteY42" fmla="*/ 192540 h 455657"/>
                  <a:gd name="connsiteX43" fmla="*/ 6840 w 455657"/>
                  <a:gd name="connsiteY43" fmla="*/ 174995 h 455657"/>
                  <a:gd name="connsiteX44" fmla="*/ 11707 w 455657"/>
                  <a:gd name="connsiteY44" fmla="*/ 157777 h 455657"/>
                  <a:gd name="connsiteX45" fmla="*/ 17886 w 455657"/>
                  <a:gd name="connsiteY45" fmla="*/ 140993 h 455657"/>
                  <a:gd name="connsiteX46" fmla="*/ 25376 w 455657"/>
                  <a:gd name="connsiteY46" fmla="*/ 124748 h 455657"/>
                  <a:gd name="connsiteX47" fmla="*/ 34127 w 455657"/>
                  <a:gd name="connsiteY47" fmla="*/ 109140 h 455657"/>
                  <a:gd name="connsiteX48" fmla="*/ 44069 w 455657"/>
                  <a:gd name="connsiteY48" fmla="*/ 94266 h 455657"/>
                  <a:gd name="connsiteX49" fmla="*/ 55132 w 455657"/>
                  <a:gd name="connsiteY49" fmla="*/ 80216 h 455657"/>
                  <a:gd name="connsiteX50" fmla="*/ 67283 w 455657"/>
                  <a:gd name="connsiteY50" fmla="*/ 67080 h 455657"/>
                  <a:gd name="connsiteX51" fmla="*/ 80418 w 455657"/>
                  <a:gd name="connsiteY51" fmla="*/ 54938 h 455657"/>
                  <a:gd name="connsiteX52" fmla="*/ 94467 w 455657"/>
                  <a:gd name="connsiteY52" fmla="*/ 43862 h 455657"/>
                  <a:gd name="connsiteX53" fmla="*/ 109345 w 455657"/>
                  <a:gd name="connsiteY53" fmla="*/ 33924 h 455657"/>
                  <a:gd name="connsiteX54" fmla="*/ 124948 w 455657"/>
                  <a:gd name="connsiteY54" fmla="*/ 25184 h 455657"/>
                  <a:gd name="connsiteX55" fmla="*/ 141189 w 455657"/>
                  <a:gd name="connsiteY55" fmla="*/ 17693 h 455657"/>
                  <a:gd name="connsiteX56" fmla="*/ 157983 w 455657"/>
                  <a:gd name="connsiteY56" fmla="*/ 11502 h 455657"/>
                  <a:gd name="connsiteX57" fmla="*/ 175191 w 455657"/>
                  <a:gd name="connsiteY57" fmla="*/ 6647 h 455657"/>
                  <a:gd name="connsiteX58" fmla="*/ 192744 w 455657"/>
                  <a:gd name="connsiteY58" fmla="*/ 3157 h 455657"/>
                  <a:gd name="connsiteX59" fmla="*/ 210505 w 455657"/>
                  <a:gd name="connsiteY59" fmla="*/ 1053 h 455657"/>
                  <a:gd name="connsiteX60" fmla="*/ 228386 w 455657"/>
                  <a:gd name="connsiteY60" fmla="*/ 350 h 455657"/>
                  <a:gd name="connsiteX61" fmla="*/ 246250 w 455657"/>
                  <a:gd name="connsiteY61" fmla="*/ 1053 h 455657"/>
                  <a:gd name="connsiteX62" fmla="*/ 264027 w 455657"/>
                  <a:gd name="connsiteY62" fmla="*/ 3157 h 455657"/>
                  <a:gd name="connsiteX63" fmla="*/ 281563 w 455657"/>
                  <a:gd name="connsiteY63" fmla="*/ 6647 h 455657"/>
                  <a:gd name="connsiteX64" fmla="*/ 298788 w 455657"/>
                  <a:gd name="connsiteY64" fmla="*/ 11502 h 455657"/>
                  <a:gd name="connsiteX65" fmla="*/ 315565 w 455657"/>
                  <a:gd name="connsiteY65" fmla="*/ 17693 h 455657"/>
                  <a:gd name="connsiteX66" fmla="*/ 331806 w 455657"/>
                  <a:gd name="connsiteY66" fmla="*/ 25184 h 455657"/>
                  <a:gd name="connsiteX67" fmla="*/ 347426 w 455657"/>
                  <a:gd name="connsiteY67" fmla="*/ 33924 h 455657"/>
                  <a:gd name="connsiteX68" fmla="*/ 362287 w 455657"/>
                  <a:gd name="connsiteY68" fmla="*/ 43862 h 455657"/>
                  <a:gd name="connsiteX69" fmla="*/ 376336 w 455657"/>
                  <a:gd name="connsiteY69" fmla="*/ 54938 h 455657"/>
                  <a:gd name="connsiteX70" fmla="*/ 389471 w 455657"/>
                  <a:gd name="connsiteY70" fmla="*/ 67080 h 455657"/>
                  <a:gd name="connsiteX71" fmla="*/ 401622 w 455657"/>
                  <a:gd name="connsiteY71" fmla="*/ 80216 h 455657"/>
                  <a:gd name="connsiteX72" fmla="*/ 412702 w 455657"/>
                  <a:gd name="connsiteY72" fmla="*/ 94266 h 455657"/>
                  <a:gd name="connsiteX73" fmla="*/ 422644 w 455657"/>
                  <a:gd name="connsiteY73" fmla="*/ 109140 h 455657"/>
                  <a:gd name="connsiteX74" fmla="*/ 431378 w 455657"/>
                  <a:gd name="connsiteY74" fmla="*/ 124748 h 455657"/>
                  <a:gd name="connsiteX75" fmla="*/ 438868 w 455657"/>
                  <a:gd name="connsiteY75" fmla="*/ 140993 h 455657"/>
                  <a:gd name="connsiteX76" fmla="*/ 445065 w 455657"/>
                  <a:gd name="connsiteY76" fmla="*/ 157777 h 455657"/>
                  <a:gd name="connsiteX77" fmla="*/ 449914 w 455657"/>
                  <a:gd name="connsiteY77" fmla="*/ 174995 h 455657"/>
                  <a:gd name="connsiteX78" fmla="*/ 453401 w 455657"/>
                  <a:gd name="connsiteY78" fmla="*/ 192540 h 455657"/>
                  <a:gd name="connsiteX79" fmla="*/ 455507 w 455657"/>
                  <a:gd name="connsiteY79" fmla="*/ 210305 h 455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455657" h="455657">
                    <a:moveTo>
                      <a:pt x="456214" y="228179"/>
                    </a:moveTo>
                    <a:lnTo>
                      <a:pt x="455507" y="246055"/>
                    </a:lnTo>
                    <a:lnTo>
                      <a:pt x="453401" y="263820"/>
                    </a:lnTo>
                    <a:lnTo>
                      <a:pt x="449914" y="281365"/>
                    </a:lnTo>
                    <a:lnTo>
                      <a:pt x="445065" y="298583"/>
                    </a:lnTo>
                    <a:lnTo>
                      <a:pt x="438868" y="315367"/>
                    </a:lnTo>
                    <a:lnTo>
                      <a:pt x="431378" y="331612"/>
                    </a:lnTo>
                    <a:lnTo>
                      <a:pt x="422644" y="347220"/>
                    </a:lnTo>
                    <a:lnTo>
                      <a:pt x="412702" y="362094"/>
                    </a:lnTo>
                    <a:lnTo>
                      <a:pt x="401622" y="376143"/>
                    </a:lnTo>
                    <a:lnTo>
                      <a:pt x="389471" y="389280"/>
                    </a:lnTo>
                    <a:lnTo>
                      <a:pt x="376336" y="401422"/>
                    </a:lnTo>
                    <a:lnTo>
                      <a:pt x="362287" y="412498"/>
                    </a:lnTo>
                    <a:lnTo>
                      <a:pt x="347426" y="422436"/>
                    </a:lnTo>
                    <a:lnTo>
                      <a:pt x="331806" y="431176"/>
                    </a:lnTo>
                    <a:lnTo>
                      <a:pt x="315565" y="438667"/>
                    </a:lnTo>
                    <a:lnTo>
                      <a:pt x="298788" y="444858"/>
                    </a:lnTo>
                    <a:lnTo>
                      <a:pt x="281563" y="449713"/>
                    </a:lnTo>
                    <a:lnTo>
                      <a:pt x="264027" y="453203"/>
                    </a:lnTo>
                    <a:lnTo>
                      <a:pt x="246250" y="455305"/>
                    </a:lnTo>
                    <a:lnTo>
                      <a:pt x="228386" y="456008"/>
                    </a:lnTo>
                    <a:lnTo>
                      <a:pt x="210505" y="455305"/>
                    </a:lnTo>
                    <a:lnTo>
                      <a:pt x="192744" y="453203"/>
                    </a:lnTo>
                    <a:lnTo>
                      <a:pt x="175191" y="449713"/>
                    </a:lnTo>
                    <a:lnTo>
                      <a:pt x="157983" y="444858"/>
                    </a:lnTo>
                    <a:lnTo>
                      <a:pt x="141189" y="438667"/>
                    </a:lnTo>
                    <a:lnTo>
                      <a:pt x="124948" y="431176"/>
                    </a:lnTo>
                    <a:lnTo>
                      <a:pt x="109345" y="422436"/>
                    </a:lnTo>
                    <a:lnTo>
                      <a:pt x="94467" y="412498"/>
                    </a:lnTo>
                    <a:lnTo>
                      <a:pt x="80418" y="401422"/>
                    </a:lnTo>
                    <a:lnTo>
                      <a:pt x="67283" y="389280"/>
                    </a:lnTo>
                    <a:lnTo>
                      <a:pt x="55132" y="376143"/>
                    </a:lnTo>
                    <a:lnTo>
                      <a:pt x="44069" y="362094"/>
                    </a:lnTo>
                    <a:lnTo>
                      <a:pt x="34127" y="347220"/>
                    </a:lnTo>
                    <a:lnTo>
                      <a:pt x="25376" y="331612"/>
                    </a:lnTo>
                    <a:lnTo>
                      <a:pt x="17886" y="315367"/>
                    </a:lnTo>
                    <a:lnTo>
                      <a:pt x="11707" y="298583"/>
                    </a:lnTo>
                    <a:lnTo>
                      <a:pt x="6840" y="281365"/>
                    </a:lnTo>
                    <a:lnTo>
                      <a:pt x="3353" y="263820"/>
                    </a:lnTo>
                    <a:lnTo>
                      <a:pt x="1247" y="246055"/>
                    </a:lnTo>
                    <a:lnTo>
                      <a:pt x="557" y="228179"/>
                    </a:lnTo>
                    <a:lnTo>
                      <a:pt x="1247" y="210305"/>
                    </a:lnTo>
                    <a:lnTo>
                      <a:pt x="3353" y="192540"/>
                    </a:lnTo>
                    <a:lnTo>
                      <a:pt x="6840" y="174995"/>
                    </a:lnTo>
                    <a:lnTo>
                      <a:pt x="11707" y="157777"/>
                    </a:lnTo>
                    <a:lnTo>
                      <a:pt x="17886" y="140993"/>
                    </a:lnTo>
                    <a:lnTo>
                      <a:pt x="25376" y="124748"/>
                    </a:lnTo>
                    <a:lnTo>
                      <a:pt x="34127" y="109140"/>
                    </a:lnTo>
                    <a:lnTo>
                      <a:pt x="44069" y="94266"/>
                    </a:lnTo>
                    <a:lnTo>
                      <a:pt x="55132" y="80216"/>
                    </a:lnTo>
                    <a:lnTo>
                      <a:pt x="67283" y="67080"/>
                    </a:lnTo>
                    <a:lnTo>
                      <a:pt x="80418" y="54938"/>
                    </a:lnTo>
                    <a:lnTo>
                      <a:pt x="94467" y="43862"/>
                    </a:lnTo>
                    <a:lnTo>
                      <a:pt x="109345" y="33924"/>
                    </a:lnTo>
                    <a:lnTo>
                      <a:pt x="124948" y="25184"/>
                    </a:lnTo>
                    <a:lnTo>
                      <a:pt x="141189" y="17693"/>
                    </a:lnTo>
                    <a:lnTo>
                      <a:pt x="157983" y="11502"/>
                    </a:lnTo>
                    <a:lnTo>
                      <a:pt x="175191" y="6647"/>
                    </a:lnTo>
                    <a:lnTo>
                      <a:pt x="192744" y="3157"/>
                    </a:lnTo>
                    <a:lnTo>
                      <a:pt x="210505" y="1053"/>
                    </a:lnTo>
                    <a:lnTo>
                      <a:pt x="228386" y="350"/>
                    </a:lnTo>
                    <a:lnTo>
                      <a:pt x="246250" y="1053"/>
                    </a:lnTo>
                    <a:lnTo>
                      <a:pt x="264027" y="3157"/>
                    </a:lnTo>
                    <a:lnTo>
                      <a:pt x="281563" y="6647"/>
                    </a:lnTo>
                    <a:lnTo>
                      <a:pt x="298788" y="11502"/>
                    </a:lnTo>
                    <a:lnTo>
                      <a:pt x="315565" y="17693"/>
                    </a:lnTo>
                    <a:lnTo>
                      <a:pt x="331806" y="25184"/>
                    </a:lnTo>
                    <a:lnTo>
                      <a:pt x="347426" y="33924"/>
                    </a:lnTo>
                    <a:lnTo>
                      <a:pt x="362287" y="43862"/>
                    </a:lnTo>
                    <a:lnTo>
                      <a:pt x="376336" y="54938"/>
                    </a:lnTo>
                    <a:lnTo>
                      <a:pt x="389471" y="67080"/>
                    </a:lnTo>
                    <a:lnTo>
                      <a:pt x="401622" y="80216"/>
                    </a:lnTo>
                    <a:lnTo>
                      <a:pt x="412702" y="94266"/>
                    </a:lnTo>
                    <a:lnTo>
                      <a:pt x="422644" y="109140"/>
                    </a:lnTo>
                    <a:lnTo>
                      <a:pt x="431378" y="124748"/>
                    </a:lnTo>
                    <a:lnTo>
                      <a:pt x="438868" y="140993"/>
                    </a:lnTo>
                    <a:lnTo>
                      <a:pt x="445065" y="157777"/>
                    </a:lnTo>
                    <a:lnTo>
                      <a:pt x="449914" y="174995"/>
                    </a:lnTo>
                    <a:lnTo>
                      <a:pt x="453401" y="192540"/>
                    </a:lnTo>
                    <a:lnTo>
                      <a:pt x="455507" y="210305"/>
                    </a:lnTo>
                    <a:close/>
                  </a:path>
                </a:pathLst>
              </a:custGeom>
              <a:solidFill>
                <a:srgbClr val="326468"/>
              </a:solidFill>
              <a:ln w="258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1" name="Freihandform: Form 440">
                <a:extLst>
                  <a:ext uri="{FF2B5EF4-FFF2-40B4-BE49-F238E27FC236}">
                    <a16:creationId xmlns:a16="http://schemas.microsoft.com/office/drawing/2014/main" id="{938AACCE-9746-65F0-754F-6E8B4A91FC14}"/>
                  </a:ext>
                </a:extLst>
              </p:cNvPr>
              <p:cNvSpPr/>
              <p:nvPr/>
            </p:nvSpPr>
            <p:spPr>
              <a:xfrm>
                <a:off x="9326880" y="31534430"/>
                <a:ext cx="707649" cy="241636"/>
              </a:xfrm>
              <a:custGeom>
                <a:avLst/>
                <a:gdLst>
                  <a:gd name="connsiteX0" fmla="*/ 557 w 707649"/>
                  <a:gd name="connsiteY0" fmla="*/ 361 h 241636"/>
                  <a:gd name="connsiteX1" fmla="*/ 708207 w 707649"/>
                  <a:gd name="connsiteY1" fmla="*/ 361 h 241636"/>
                  <a:gd name="connsiteX2" fmla="*/ 708207 w 707649"/>
                  <a:gd name="connsiteY2" fmla="*/ 241998 h 241636"/>
                  <a:gd name="connsiteX3" fmla="*/ 557 w 707649"/>
                  <a:gd name="connsiteY3" fmla="*/ 241998 h 241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7649" h="241636">
                    <a:moveTo>
                      <a:pt x="557" y="361"/>
                    </a:moveTo>
                    <a:lnTo>
                      <a:pt x="708207" y="361"/>
                    </a:lnTo>
                    <a:lnTo>
                      <a:pt x="708207" y="241998"/>
                    </a:lnTo>
                    <a:lnTo>
                      <a:pt x="557" y="241998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2" name="Textfeld 441">
                <a:extLst>
                  <a:ext uri="{FF2B5EF4-FFF2-40B4-BE49-F238E27FC236}">
                    <a16:creationId xmlns:a16="http://schemas.microsoft.com/office/drawing/2014/main" id="{804333A2-BFC8-5467-B35E-AF8248B5CE44}"/>
                  </a:ext>
                </a:extLst>
              </p:cNvPr>
              <p:cNvSpPr txBox="1"/>
              <p:nvPr/>
            </p:nvSpPr>
            <p:spPr>
              <a:xfrm>
                <a:off x="9278589" y="31523229"/>
                <a:ext cx="804230" cy="3158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de-DE" sz="1019" spc="0" baseline="0">
                    <a:ln/>
                    <a:solidFill>
                      <a:srgbClr val="1F2933"/>
                    </a:solidFill>
                    <a:latin typeface="Helvetica"/>
                    <a:cs typeface="Helvetica"/>
                    <a:sym typeface="Helvetica"/>
                    <a:rtl val="0"/>
                  </a:rPr>
                  <a:t>NetCDF</a:t>
                </a:r>
              </a:p>
            </p:txBody>
          </p:sp>
          <p:sp>
            <p:nvSpPr>
              <p:cNvPr id="443" name="Freihandform: Form 442">
                <a:extLst>
                  <a:ext uri="{FF2B5EF4-FFF2-40B4-BE49-F238E27FC236}">
                    <a16:creationId xmlns:a16="http://schemas.microsoft.com/office/drawing/2014/main" id="{857B670C-A76D-97C8-0F6A-45A4DCB08C1D}"/>
                  </a:ext>
                </a:extLst>
              </p:cNvPr>
              <p:cNvSpPr/>
              <p:nvPr/>
            </p:nvSpPr>
            <p:spPr>
              <a:xfrm>
                <a:off x="7727314" y="33390222"/>
                <a:ext cx="538504" cy="538503"/>
              </a:xfrm>
              <a:custGeom>
                <a:avLst/>
                <a:gdLst>
                  <a:gd name="connsiteX0" fmla="*/ 539012 w 538504"/>
                  <a:gd name="connsiteY0" fmla="*/ 269671 h 538503"/>
                  <a:gd name="connsiteX1" fmla="*/ 538182 w 538504"/>
                  <a:gd name="connsiteY1" fmla="*/ 290797 h 538503"/>
                  <a:gd name="connsiteX2" fmla="*/ 535697 w 538504"/>
                  <a:gd name="connsiteY2" fmla="*/ 311792 h 538503"/>
                  <a:gd name="connsiteX3" fmla="*/ 531572 w 538504"/>
                  <a:gd name="connsiteY3" fmla="*/ 332528 h 538503"/>
                  <a:gd name="connsiteX4" fmla="*/ 525834 w 538504"/>
                  <a:gd name="connsiteY4" fmla="*/ 352875 h 538503"/>
                  <a:gd name="connsiteX5" fmla="*/ 518516 w 538504"/>
                  <a:gd name="connsiteY5" fmla="*/ 372710 h 538503"/>
                  <a:gd name="connsiteX6" fmla="*/ 509665 w 538504"/>
                  <a:gd name="connsiteY6" fmla="*/ 391910 h 538503"/>
                  <a:gd name="connsiteX7" fmla="*/ 499335 w 538504"/>
                  <a:gd name="connsiteY7" fmla="*/ 410355 h 538503"/>
                  <a:gd name="connsiteX8" fmla="*/ 487589 w 538504"/>
                  <a:gd name="connsiteY8" fmla="*/ 427934 h 538503"/>
                  <a:gd name="connsiteX9" fmla="*/ 474500 w 538504"/>
                  <a:gd name="connsiteY9" fmla="*/ 444537 h 538503"/>
                  <a:gd name="connsiteX10" fmla="*/ 460149 w 538504"/>
                  <a:gd name="connsiteY10" fmla="*/ 460062 h 538503"/>
                  <a:gd name="connsiteX11" fmla="*/ 444626 w 538504"/>
                  <a:gd name="connsiteY11" fmla="*/ 474413 h 538503"/>
                  <a:gd name="connsiteX12" fmla="*/ 428022 w 538504"/>
                  <a:gd name="connsiteY12" fmla="*/ 487501 h 538503"/>
                  <a:gd name="connsiteX13" fmla="*/ 410444 w 538504"/>
                  <a:gd name="connsiteY13" fmla="*/ 499246 h 538503"/>
                  <a:gd name="connsiteX14" fmla="*/ 391997 w 538504"/>
                  <a:gd name="connsiteY14" fmla="*/ 509576 h 538503"/>
                  <a:gd name="connsiteX15" fmla="*/ 372797 w 538504"/>
                  <a:gd name="connsiteY15" fmla="*/ 518429 h 538503"/>
                  <a:gd name="connsiteX16" fmla="*/ 352963 w 538504"/>
                  <a:gd name="connsiteY16" fmla="*/ 525745 h 538503"/>
                  <a:gd name="connsiteX17" fmla="*/ 332615 w 538504"/>
                  <a:gd name="connsiteY17" fmla="*/ 531484 h 538503"/>
                  <a:gd name="connsiteX18" fmla="*/ 311881 w 538504"/>
                  <a:gd name="connsiteY18" fmla="*/ 535609 h 538503"/>
                  <a:gd name="connsiteX19" fmla="*/ 290884 w 538504"/>
                  <a:gd name="connsiteY19" fmla="*/ 538093 h 538503"/>
                  <a:gd name="connsiteX20" fmla="*/ 269760 w 538504"/>
                  <a:gd name="connsiteY20" fmla="*/ 538923 h 538503"/>
                  <a:gd name="connsiteX21" fmla="*/ 248634 w 538504"/>
                  <a:gd name="connsiteY21" fmla="*/ 538093 h 538503"/>
                  <a:gd name="connsiteX22" fmla="*/ 227639 w 538504"/>
                  <a:gd name="connsiteY22" fmla="*/ 535609 h 538503"/>
                  <a:gd name="connsiteX23" fmla="*/ 206904 w 538504"/>
                  <a:gd name="connsiteY23" fmla="*/ 531484 h 538503"/>
                  <a:gd name="connsiteX24" fmla="*/ 186556 w 538504"/>
                  <a:gd name="connsiteY24" fmla="*/ 525745 h 538503"/>
                  <a:gd name="connsiteX25" fmla="*/ 166721 w 538504"/>
                  <a:gd name="connsiteY25" fmla="*/ 518429 h 538503"/>
                  <a:gd name="connsiteX26" fmla="*/ 147521 w 538504"/>
                  <a:gd name="connsiteY26" fmla="*/ 509576 h 538503"/>
                  <a:gd name="connsiteX27" fmla="*/ 129076 w 538504"/>
                  <a:gd name="connsiteY27" fmla="*/ 499246 h 538503"/>
                  <a:gd name="connsiteX28" fmla="*/ 111497 w 538504"/>
                  <a:gd name="connsiteY28" fmla="*/ 487501 h 538503"/>
                  <a:gd name="connsiteX29" fmla="*/ 94895 w 538504"/>
                  <a:gd name="connsiteY29" fmla="*/ 474413 h 538503"/>
                  <a:gd name="connsiteX30" fmla="*/ 79370 w 538504"/>
                  <a:gd name="connsiteY30" fmla="*/ 460062 h 538503"/>
                  <a:gd name="connsiteX31" fmla="*/ 65018 w 538504"/>
                  <a:gd name="connsiteY31" fmla="*/ 444537 h 538503"/>
                  <a:gd name="connsiteX32" fmla="*/ 51930 w 538504"/>
                  <a:gd name="connsiteY32" fmla="*/ 427934 h 538503"/>
                  <a:gd name="connsiteX33" fmla="*/ 40185 w 538504"/>
                  <a:gd name="connsiteY33" fmla="*/ 410355 h 538503"/>
                  <a:gd name="connsiteX34" fmla="*/ 29855 w 538504"/>
                  <a:gd name="connsiteY34" fmla="*/ 391910 h 538503"/>
                  <a:gd name="connsiteX35" fmla="*/ 21004 w 538504"/>
                  <a:gd name="connsiteY35" fmla="*/ 372710 h 538503"/>
                  <a:gd name="connsiteX36" fmla="*/ 13686 w 538504"/>
                  <a:gd name="connsiteY36" fmla="*/ 352875 h 538503"/>
                  <a:gd name="connsiteX37" fmla="*/ 7947 w 538504"/>
                  <a:gd name="connsiteY37" fmla="*/ 332528 h 538503"/>
                  <a:gd name="connsiteX38" fmla="*/ 3822 w 538504"/>
                  <a:gd name="connsiteY38" fmla="*/ 311792 h 538503"/>
                  <a:gd name="connsiteX39" fmla="*/ 1338 w 538504"/>
                  <a:gd name="connsiteY39" fmla="*/ 290797 h 538503"/>
                  <a:gd name="connsiteX40" fmla="*/ 508 w 538504"/>
                  <a:gd name="connsiteY40" fmla="*/ 269671 h 538503"/>
                  <a:gd name="connsiteX41" fmla="*/ 1338 w 538504"/>
                  <a:gd name="connsiteY41" fmla="*/ 248547 h 538503"/>
                  <a:gd name="connsiteX42" fmla="*/ 3822 w 538504"/>
                  <a:gd name="connsiteY42" fmla="*/ 227552 h 538503"/>
                  <a:gd name="connsiteX43" fmla="*/ 7947 w 538504"/>
                  <a:gd name="connsiteY43" fmla="*/ 206816 h 538503"/>
                  <a:gd name="connsiteX44" fmla="*/ 13686 w 538504"/>
                  <a:gd name="connsiteY44" fmla="*/ 186469 h 538503"/>
                  <a:gd name="connsiteX45" fmla="*/ 21004 w 538504"/>
                  <a:gd name="connsiteY45" fmla="*/ 166634 h 538503"/>
                  <a:gd name="connsiteX46" fmla="*/ 29855 w 538504"/>
                  <a:gd name="connsiteY46" fmla="*/ 147434 h 538503"/>
                  <a:gd name="connsiteX47" fmla="*/ 40185 w 538504"/>
                  <a:gd name="connsiteY47" fmla="*/ 128989 h 538503"/>
                  <a:gd name="connsiteX48" fmla="*/ 51930 w 538504"/>
                  <a:gd name="connsiteY48" fmla="*/ 111410 h 538503"/>
                  <a:gd name="connsiteX49" fmla="*/ 65018 w 538504"/>
                  <a:gd name="connsiteY49" fmla="*/ 94806 h 538503"/>
                  <a:gd name="connsiteX50" fmla="*/ 79370 w 538504"/>
                  <a:gd name="connsiteY50" fmla="*/ 79282 h 538503"/>
                  <a:gd name="connsiteX51" fmla="*/ 94895 w 538504"/>
                  <a:gd name="connsiteY51" fmla="*/ 64931 h 538503"/>
                  <a:gd name="connsiteX52" fmla="*/ 111497 w 538504"/>
                  <a:gd name="connsiteY52" fmla="*/ 51843 h 538503"/>
                  <a:gd name="connsiteX53" fmla="*/ 129076 w 538504"/>
                  <a:gd name="connsiteY53" fmla="*/ 40096 h 538503"/>
                  <a:gd name="connsiteX54" fmla="*/ 147521 w 538504"/>
                  <a:gd name="connsiteY54" fmla="*/ 29766 h 538503"/>
                  <a:gd name="connsiteX55" fmla="*/ 166721 w 538504"/>
                  <a:gd name="connsiteY55" fmla="*/ 20915 h 538503"/>
                  <a:gd name="connsiteX56" fmla="*/ 186556 w 538504"/>
                  <a:gd name="connsiteY56" fmla="*/ 13599 h 538503"/>
                  <a:gd name="connsiteX57" fmla="*/ 206904 w 538504"/>
                  <a:gd name="connsiteY57" fmla="*/ 7860 h 538503"/>
                  <a:gd name="connsiteX58" fmla="*/ 227639 w 538504"/>
                  <a:gd name="connsiteY58" fmla="*/ 3735 h 538503"/>
                  <a:gd name="connsiteX59" fmla="*/ 248634 w 538504"/>
                  <a:gd name="connsiteY59" fmla="*/ 1249 h 538503"/>
                  <a:gd name="connsiteX60" fmla="*/ 269760 w 538504"/>
                  <a:gd name="connsiteY60" fmla="*/ 419 h 538503"/>
                  <a:gd name="connsiteX61" fmla="*/ 290884 w 538504"/>
                  <a:gd name="connsiteY61" fmla="*/ 1249 h 538503"/>
                  <a:gd name="connsiteX62" fmla="*/ 311881 w 538504"/>
                  <a:gd name="connsiteY62" fmla="*/ 3735 h 538503"/>
                  <a:gd name="connsiteX63" fmla="*/ 332615 w 538504"/>
                  <a:gd name="connsiteY63" fmla="*/ 7860 h 538503"/>
                  <a:gd name="connsiteX64" fmla="*/ 352963 w 538504"/>
                  <a:gd name="connsiteY64" fmla="*/ 13599 h 538503"/>
                  <a:gd name="connsiteX65" fmla="*/ 372797 w 538504"/>
                  <a:gd name="connsiteY65" fmla="*/ 20915 h 538503"/>
                  <a:gd name="connsiteX66" fmla="*/ 391997 w 538504"/>
                  <a:gd name="connsiteY66" fmla="*/ 29766 h 538503"/>
                  <a:gd name="connsiteX67" fmla="*/ 410444 w 538504"/>
                  <a:gd name="connsiteY67" fmla="*/ 40096 h 538503"/>
                  <a:gd name="connsiteX68" fmla="*/ 428022 w 538504"/>
                  <a:gd name="connsiteY68" fmla="*/ 51843 h 538503"/>
                  <a:gd name="connsiteX69" fmla="*/ 444626 w 538504"/>
                  <a:gd name="connsiteY69" fmla="*/ 64931 h 538503"/>
                  <a:gd name="connsiteX70" fmla="*/ 460149 w 538504"/>
                  <a:gd name="connsiteY70" fmla="*/ 79282 h 538503"/>
                  <a:gd name="connsiteX71" fmla="*/ 474500 w 538504"/>
                  <a:gd name="connsiteY71" fmla="*/ 94806 h 538503"/>
                  <a:gd name="connsiteX72" fmla="*/ 487589 w 538504"/>
                  <a:gd name="connsiteY72" fmla="*/ 111410 h 538503"/>
                  <a:gd name="connsiteX73" fmla="*/ 499335 w 538504"/>
                  <a:gd name="connsiteY73" fmla="*/ 128989 h 538503"/>
                  <a:gd name="connsiteX74" fmla="*/ 509665 w 538504"/>
                  <a:gd name="connsiteY74" fmla="*/ 147434 h 538503"/>
                  <a:gd name="connsiteX75" fmla="*/ 518516 w 538504"/>
                  <a:gd name="connsiteY75" fmla="*/ 166634 h 538503"/>
                  <a:gd name="connsiteX76" fmla="*/ 525834 w 538504"/>
                  <a:gd name="connsiteY76" fmla="*/ 186469 h 538503"/>
                  <a:gd name="connsiteX77" fmla="*/ 531572 w 538504"/>
                  <a:gd name="connsiteY77" fmla="*/ 206816 h 538503"/>
                  <a:gd name="connsiteX78" fmla="*/ 535697 w 538504"/>
                  <a:gd name="connsiteY78" fmla="*/ 227552 h 538503"/>
                  <a:gd name="connsiteX79" fmla="*/ 538182 w 538504"/>
                  <a:gd name="connsiteY79" fmla="*/ 248547 h 538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538504" h="538503">
                    <a:moveTo>
                      <a:pt x="539012" y="269671"/>
                    </a:moveTo>
                    <a:lnTo>
                      <a:pt x="538182" y="290797"/>
                    </a:lnTo>
                    <a:lnTo>
                      <a:pt x="535697" y="311792"/>
                    </a:lnTo>
                    <a:lnTo>
                      <a:pt x="531572" y="332528"/>
                    </a:lnTo>
                    <a:lnTo>
                      <a:pt x="525834" y="352875"/>
                    </a:lnTo>
                    <a:lnTo>
                      <a:pt x="518516" y="372710"/>
                    </a:lnTo>
                    <a:lnTo>
                      <a:pt x="509665" y="391910"/>
                    </a:lnTo>
                    <a:lnTo>
                      <a:pt x="499335" y="410355"/>
                    </a:lnTo>
                    <a:lnTo>
                      <a:pt x="487589" y="427934"/>
                    </a:lnTo>
                    <a:lnTo>
                      <a:pt x="474500" y="444537"/>
                    </a:lnTo>
                    <a:lnTo>
                      <a:pt x="460149" y="460062"/>
                    </a:lnTo>
                    <a:lnTo>
                      <a:pt x="444626" y="474413"/>
                    </a:lnTo>
                    <a:lnTo>
                      <a:pt x="428022" y="487501"/>
                    </a:lnTo>
                    <a:lnTo>
                      <a:pt x="410444" y="499246"/>
                    </a:lnTo>
                    <a:lnTo>
                      <a:pt x="391997" y="509576"/>
                    </a:lnTo>
                    <a:lnTo>
                      <a:pt x="372797" y="518429"/>
                    </a:lnTo>
                    <a:lnTo>
                      <a:pt x="352963" y="525745"/>
                    </a:lnTo>
                    <a:lnTo>
                      <a:pt x="332615" y="531484"/>
                    </a:lnTo>
                    <a:lnTo>
                      <a:pt x="311881" y="535609"/>
                    </a:lnTo>
                    <a:lnTo>
                      <a:pt x="290884" y="538093"/>
                    </a:lnTo>
                    <a:lnTo>
                      <a:pt x="269760" y="538923"/>
                    </a:lnTo>
                    <a:lnTo>
                      <a:pt x="248634" y="538093"/>
                    </a:lnTo>
                    <a:lnTo>
                      <a:pt x="227639" y="535609"/>
                    </a:lnTo>
                    <a:lnTo>
                      <a:pt x="206904" y="531484"/>
                    </a:lnTo>
                    <a:lnTo>
                      <a:pt x="186556" y="525745"/>
                    </a:lnTo>
                    <a:lnTo>
                      <a:pt x="166721" y="518429"/>
                    </a:lnTo>
                    <a:lnTo>
                      <a:pt x="147521" y="509576"/>
                    </a:lnTo>
                    <a:lnTo>
                      <a:pt x="129076" y="499246"/>
                    </a:lnTo>
                    <a:lnTo>
                      <a:pt x="111497" y="487501"/>
                    </a:lnTo>
                    <a:lnTo>
                      <a:pt x="94895" y="474413"/>
                    </a:lnTo>
                    <a:lnTo>
                      <a:pt x="79370" y="460062"/>
                    </a:lnTo>
                    <a:lnTo>
                      <a:pt x="65018" y="444537"/>
                    </a:lnTo>
                    <a:lnTo>
                      <a:pt x="51930" y="427934"/>
                    </a:lnTo>
                    <a:lnTo>
                      <a:pt x="40185" y="410355"/>
                    </a:lnTo>
                    <a:lnTo>
                      <a:pt x="29855" y="391910"/>
                    </a:lnTo>
                    <a:lnTo>
                      <a:pt x="21004" y="372710"/>
                    </a:lnTo>
                    <a:lnTo>
                      <a:pt x="13686" y="352875"/>
                    </a:lnTo>
                    <a:lnTo>
                      <a:pt x="7947" y="332528"/>
                    </a:lnTo>
                    <a:lnTo>
                      <a:pt x="3822" y="311792"/>
                    </a:lnTo>
                    <a:lnTo>
                      <a:pt x="1338" y="290797"/>
                    </a:lnTo>
                    <a:lnTo>
                      <a:pt x="508" y="269671"/>
                    </a:lnTo>
                    <a:lnTo>
                      <a:pt x="1338" y="248547"/>
                    </a:lnTo>
                    <a:lnTo>
                      <a:pt x="3822" y="227552"/>
                    </a:lnTo>
                    <a:lnTo>
                      <a:pt x="7947" y="206816"/>
                    </a:lnTo>
                    <a:lnTo>
                      <a:pt x="13686" y="186469"/>
                    </a:lnTo>
                    <a:lnTo>
                      <a:pt x="21004" y="166634"/>
                    </a:lnTo>
                    <a:lnTo>
                      <a:pt x="29855" y="147434"/>
                    </a:lnTo>
                    <a:lnTo>
                      <a:pt x="40185" y="128989"/>
                    </a:lnTo>
                    <a:lnTo>
                      <a:pt x="51930" y="111410"/>
                    </a:lnTo>
                    <a:lnTo>
                      <a:pt x="65018" y="94806"/>
                    </a:lnTo>
                    <a:lnTo>
                      <a:pt x="79370" y="79282"/>
                    </a:lnTo>
                    <a:lnTo>
                      <a:pt x="94895" y="64931"/>
                    </a:lnTo>
                    <a:lnTo>
                      <a:pt x="111497" y="51843"/>
                    </a:lnTo>
                    <a:lnTo>
                      <a:pt x="129076" y="40096"/>
                    </a:lnTo>
                    <a:lnTo>
                      <a:pt x="147521" y="29766"/>
                    </a:lnTo>
                    <a:lnTo>
                      <a:pt x="166721" y="20915"/>
                    </a:lnTo>
                    <a:lnTo>
                      <a:pt x="186556" y="13599"/>
                    </a:lnTo>
                    <a:lnTo>
                      <a:pt x="206904" y="7860"/>
                    </a:lnTo>
                    <a:lnTo>
                      <a:pt x="227639" y="3735"/>
                    </a:lnTo>
                    <a:lnTo>
                      <a:pt x="248634" y="1249"/>
                    </a:lnTo>
                    <a:lnTo>
                      <a:pt x="269760" y="419"/>
                    </a:lnTo>
                    <a:lnTo>
                      <a:pt x="290884" y="1249"/>
                    </a:lnTo>
                    <a:lnTo>
                      <a:pt x="311881" y="3735"/>
                    </a:lnTo>
                    <a:lnTo>
                      <a:pt x="332615" y="7860"/>
                    </a:lnTo>
                    <a:lnTo>
                      <a:pt x="352963" y="13599"/>
                    </a:lnTo>
                    <a:lnTo>
                      <a:pt x="372797" y="20915"/>
                    </a:lnTo>
                    <a:lnTo>
                      <a:pt x="391997" y="29766"/>
                    </a:lnTo>
                    <a:lnTo>
                      <a:pt x="410444" y="40096"/>
                    </a:lnTo>
                    <a:lnTo>
                      <a:pt x="428022" y="51843"/>
                    </a:lnTo>
                    <a:lnTo>
                      <a:pt x="444626" y="64931"/>
                    </a:lnTo>
                    <a:lnTo>
                      <a:pt x="460149" y="79282"/>
                    </a:lnTo>
                    <a:lnTo>
                      <a:pt x="474500" y="94806"/>
                    </a:lnTo>
                    <a:lnTo>
                      <a:pt x="487589" y="111410"/>
                    </a:lnTo>
                    <a:lnTo>
                      <a:pt x="499335" y="128989"/>
                    </a:lnTo>
                    <a:lnTo>
                      <a:pt x="509665" y="147434"/>
                    </a:lnTo>
                    <a:lnTo>
                      <a:pt x="518516" y="166634"/>
                    </a:lnTo>
                    <a:lnTo>
                      <a:pt x="525834" y="186469"/>
                    </a:lnTo>
                    <a:lnTo>
                      <a:pt x="531572" y="206816"/>
                    </a:lnTo>
                    <a:lnTo>
                      <a:pt x="535697" y="227552"/>
                    </a:lnTo>
                    <a:lnTo>
                      <a:pt x="538182" y="248547"/>
                    </a:lnTo>
                    <a:close/>
                  </a:path>
                </a:pathLst>
              </a:custGeom>
              <a:solidFill>
                <a:srgbClr val="8CD600"/>
              </a:solidFill>
              <a:ln w="258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4" name="Freihandform: Form 443">
                <a:extLst>
                  <a:ext uri="{FF2B5EF4-FFF2-40B4-BE49-F238E27FC236}">
                    <a16:creationId xmlns:a16="http://schemas.microsoft.com/office/drawing/2014/main" id="{54C88405-FAF8-F322-1ED2-4D3447094522}"/>
                  </a:ext>
                </a:extLst>
              </p:cNvPr>
              <p:cNvSpPr/>
              <p:nvPr/>
            </p:nvSpPr>
            <p:spPr>
              <a:xfrm>
                <a:off x="7625481" y="33945985"/>
                <a:ext cx="742169" cy="241636"/>
              </a:xfrm>
              <a:custGeom>
                <a:avLst/>
                <a:gdLst>
                  <a:gd name="connsiteX0" fmla="*/ 508 w 742169"/>
                  <a:gd name="connsiteY0" fmla="*/ 431 h 241636"/>
                  <a:gd name="connsiteX1" fmla="*/ 742677 w 742169"/>
                  <a:gd name="connsiteY1" fmla="*/ 431 h 241636"/>
                  <a:gd name="connsiteX2" fmla="*/ 742677 w 742169"/>
                  <a:gd name="connsiteY2" fmla="*/ 242067 h 241636"/>
                  <a:gd name="connsiteX3" fmla="*/ 508 w 742169"/>
                  <a:gd name="connsiteY3" fmla="*/ 242067 h 241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42169" h="241636">
                    <a:moveTo>
                      <a:pt x="508" y="431"/>
                    </a:moveTo>
                    <a:lnTo>
                      <a:pt x="742677" y="431"/>
                    </a:lnTo>
                    <a:lnTo>
                      <a:pt x="742677" y="242067"/>
                    </a:lnTo>
                    <a:lnTo>
                      <a:pt x="508" y="242067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5" name="Textfeld 444">
                <a:extLst>
                  <a:ext uri="{FF2B5EF4-FFF2-40B4-BE49-F238E27FC236}">
                    <a16:creationId xmlns:a16="http://schemas.microsoft.com/office/drawing/2014/main" id="{29B49DC2-8084-7DC9-2F2A-40B2333C2FF3}"/>
                  </a:ext>
                </a:extLst>
              </p:cNvPr>
              <p:cNvSpPr txBox="1"/>
              <p:nvPr/>
            </p:nvSpPr>
            <p:spPr>
              <a:xfrm>
                <a:off x="7551301" y="33934785"/>
                <a:ext cx="890529" cy="3158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de-DE" sz="1019" spc="0" baseline="0">
                    <a:ln/>
                    <a:solidFill>
                      <a:srgbClr val="1F2933"/>
                    </a:solidFill>
                    <a:latin typeface="Helvetica"/>
                    <a:cs typeface="Helvetica"/>
                    <a:sym typeface="Helvetica"/>
                    <a:rtl val="0"/>
                  </a:rPr>
                  <a:t>DataCite</a:t>
                </a:r>
              </a:p>
            </p:txBody>
          </p:sp>
          <p:sp>
            <p:nvSpPr>
              <p:cNvPr id="446" name="Freihandform: Form 445">
                <a:extLst>
                  <a:ext uri="{FF2B5EF4-FFF2-40B4-BE49-F238E27FC236}">
                    <a16:creationId xmlns:a16="http://schemas.microsoft.com/office/drawing/2014/main" id="{01B72E1E-D6EF-D7E7-B340-597FEAD657CC}"/>
                  </a:ext>
                </a:extLst>
              </p:cNvPr>
              <p:cNvSpPr/>
              <p:nvPr/>
            </p:nvSpPr>
            <p:spPr>
              <a:xfrm>
                <a:off x="5971775" y="32227089"/>
                <a:ext cx="745620" cy="745620"/>
              </a:xfrm>
              <a:custGeom>
                <a:avLst/>
                <a:gdLst>
                  <a:gd name="connsiteX0" fmla="*/ 746081 w 745620"/>
                  <a:gd name="connsiteY0" fmla="*/ 373199 h 745620"/>
                  <a:gd name="connsiteX1" fmla="*/ 744932 w 745620"/>
                  <a:gd name="connsiteY1" fmla="*/ 402449 h 745620"/>
                  <a:gd name="connsiteX2" fmla="*/ 741492 w 745620"/>
                  <a:gd name="connsiteY2" fmla="*/ 431519 h 745620"/>
                  <a:gd name="connsiteX3" fmla="*/ 735781 w 745620"/>
                  <a:gd name="connsiteY3" fmla="*/ 460230 h 745620"/>
                  <a:gd name="connsiteX4" fmla="*/ 727834 w 745620"/>
                  <a:gd name="connsiteY4" fmla="*/ 488404 h 745620"/>
                  <a:gd name="connsiteX5" fmla="*/ 717703 w 745620"/>
                  <a:gd name="connsiteY5" fmla="*/ 515867 h 745620"/>
                  <a:gd name="connsiteX6" fmla="*/ 705447 w 745620"/>
                  <a:gd name="connsiteY6" fmla="*/ 542451 h 745620"/>
                  <a:gd name="connsiteX7" fmla="*/ 691143 w 745620"/>
                  <a:gd name="connsiteY7" fmla="*/ 567992 h 745620"/>
                  <a:gd name="connsiteX8" fmla="*/ 674881 w 745620"/>
                  <a:gd name="connsiteY8" fmla="*/ 592332 h 745620"/>
                  <a:gd name="connsiteX9" fmla="*/ 656759 w 745620"/>
                  <a:gd name="connsiteY9" fmla="*/ 615320 h 745620"/>
                  <a:gd name="connsiteX10" fmla="*/ 636887 w 745620"/>
                  <a:gd name="connsiteY10" fmla="*/ 636816 h 745620"/>
                  <a:gd name="connsiteX11" fmla="*/ 615392 w 745620"/>
                  <a:gd name="connsiteY11" fmla="*/ 656687 h 745620"/>
                  <a:gd name="connsiteX12" fmla="*/ 592404 w 745620"/>
                  <a:gd name="connsiteY12" fmla="*/ 674810 h 745620"/>
                  <a:gd name="connsiteX13" fmla="*/ 568064 w 745620"/>
                  <a:gd name="connsiteY13" fmla="*/ 691072 h 745620"/>
                  <a:gd name="connsiteX14" fmla="*/ 542523 w 745620"/>
                  <a:gd name="connsiteY14" fmla="*/ 705375 h 745620"/>
                  <a:gd name="connsiteX15" fmla="*/ 515940 w 745620"/>
                  <a:gd name="connsiteY15" fmla="*/ 717631 h 745620"/>
                  <a:gd name="connsiteX16" fmla="*/ 488476 w 745620"/>
                  <a:gd name="connsiteY16" fmla="*/ 727762 h 745620"/>
                  <a:gd name="connsiteX17" fmla="*/ 460301 w 745620"/>
                  <a:gd name="connsiteY17" fmla="*/ 735709 h 745620"/>
                  <a:gd name="connsiteX18" fmla="*/ 431591 w 745620"/>
                  <a:gd name="connsiteY18" fmla="*/ 741420 h 745620"/>
                  <a:gd name="connsiteX19" fmla="*/ 402521 w 745620"/>
                  <a:gd name="connsiteY19" fmla="*/ 744860 h 745620"/>
                  <a:gd name="connsiteX20" fmla="*/ 373271 w 745620"/>
                  <a:gd name="connsiteY20" fmla="*/ 746009 h 745620"/>
                  <a:gd name="connsiteX21" fmla="*/ 344021 w 745620"/>
                  <a:gd name="connsiteY21" fmla="*/ 744860 h 745620"/>
                  <a:gd name="connsiteX22" fmla="*/ 314950 w 745620"/>
                  <a:gd name="connsiteY22" fmla="*/ 741420 h 745620"/>
                  <a:gd name="connsiteX23" fmla="*/ 286240 w 745620"/>
                  <a:gd name="connsiteY23" fmla="*/ 735709 h 745620"/>
                  <a:gd name="connsiteX24" fmla="*/ 258065 w 745620"/>
                  <a:gd name="connsiteY24" fmla="*/ 727762 h 745620"/>
                  <a:gd name="connsiteX25" fmla="*/ 230602 w 745620"/>
                  <a:gd name="connsiteY25" fmla="*/ 717631 h 745620"/>
                  <a:gd name="connsiteX26" fmla="*/ 204018 w 745620"/>
                  <a:gd name="connsiteY26" fmla="*/ 705375 h 745620"/>
                  <a:gd name="connsiteX27" fmla="*/ 178477 w 745620"/>
                  <a:gd name="connsiteY27" fmla="*/ 691072 h 745620"/>
                  <a:gd name="connsiteX28" fmla="*/ 154138 w 745620"/>
                  <a:gd name="connsiteY28" fmla="*/ 674810 h 745620"/>
                  <a:gd name="connsiteX29" fmla="*/ 131149 w 745620"/>
                  <a:gd name="connsiteY29" fmla="*/ 656687 h 745620"/>
                  <a:gd name="connsiteX30" fmla="*/ 109654 w 745620"/>
                  <a:gd name="connsiteY30" fmla="*/ 636816 h 745620"/>
                  <a:gd name="connsiteX31" fmla="*/ 89783 w 745620"/>
                  <a:gd name="connsiteY31" fmla="*/ 615320 h 745620"/>
                  <a:gd name="connsiteX32" fmla="*/ 71660 w 745620"/>
                  <a:gd name="connsiteY32" fmla="*/ 592332 h 745620"/>
                  <a:gd name="connsiteX33" fmla="*/ 55398 w 745620"/>
                  <a:gd name="connsiteY33" fmla="*/ 567992 h 745620"/>
                  <a:gd name="connsiteX34" fmla="*/ 41095 w 745620"/>
                  <a:gd name="connsiteY34" fmla="*/ 542451 h 745620"/>
                  <a:gd name="connsiteX35" fmla="*/ 28839 w 745620"/>
                  <a:gd name="connsiteY35" fmla="*/ 515867 h 745620"/>
                  <a:gd name="connsiteX36" fmla="*/ 18707 w 745620"/>
                  <a:gd name="connsiteY36" fmla="*/ 488404 h 745620"/>
                  <a:gd name="connsiteX37" fmla="*/ 10761 w 745620"/>
                  <a:gd name="connsiteY37" fmla="*/ 460230 h 745620"/>
                  <a:gd name="connsiteX38" fmla="*/ 5050 w 745620"/>
                  <a:gd name="connsiteY38" fmla="*/ 431519 h 745620"/>
                  <a:gd name="connsiteX39" fmla="*/ 1610 w 745620"/>
                  <a:gd name="connsiteY39" fmla="*/ 402449 h 745620"/>
                  <a:gd name="connsiteX40" fmla="*/ 460 w 745620"/>
                  <a:gd name="connsiteY40" fmla="*/ 373199 h 745620"/>
                  <a:gd name="connsiteX41" fmla="*/ 1610 w 745620"/>
                  <a:gd name="connsiteY41" fmla="*/ 343949 h 745620"/>
                  <a:gd name="connsiteX42" fmla="*/ 5050 w 745620"/>
                  <a:gd name="connsiteY42" fmla="*/ 314879 h 745620"/>
                  <a:gd name="connsiteX43" fmla="*/ 10761 w 745620"/>
                  <a:gd name="connsiteY43" fmla="*/ 286168 h 745620"/>
                  <a:gd name="connsiteX44" fmla="*/ 18707 w 745620"/>
                  <a:gd name="connsiteY44" fmla="*/ 257994 h 745620"/>
                  <a:gd name="connsiteX45" fmla="*/ 28839 w 745620"/>
                  <a:gd name="connsiteY45" fmla="*/ 230531 h 745620"/>
                  <a:gd name="connsiteX46" fmla="*/ 41095 w 745620"/>
                  <a:gd name="connsiteY46" fmla="*/ 203946 h 745620"/>
                  <a:gd name="connsiteX47" fmla="*/ 55398 w 745620"/>
                  <a:gd name="connsiteY47" fmla="*/ 178405 h 745620"/>
                  <a:gd name="connsiteX48" fmla="*/ 71660 w 745620"/>
                  <a:gd name="connsiteY48" fmla="*/ 154066 h 745620"/>
                  <a:gd name="connsiteX49" fmla="*/ 89783 w 745620"/>
                  <a:gd name="connsiteY49" fmla="*/ 131078 h 745620"/>
                  <a:gd name="connsiteX50" fmla="*/ 109654 w 745620"/>
                  <a:gd name="connsiteY50" fmla="*/ 109582 h 745620"/>
                  <a:gd name="connsiteX51" fmla="*/ 131149 w 745620"/>
                  <a:gd name="connsiteY51" fmla="*/ 89711 h 745620"/>
                  <a:gd name="connsiteX52" fmla="*/ 154138 w 745620"/>
                  <a:gd name="connsiteY52" fmla="*/ 71588 h 745620"/>
                  <a:gd name="connsiteX53" fmla="*/ 178477 w 745620"/>
                  <a:gd name="connsiteY53" fmla="*/ 55326 h 745620"/>
                  <a:gd name="connsiteX54" fmla="*/ 204018 w 745620"/>
                  <a:gd name="connsiteY54" fmla="*/ 41023 h 745620"/>
                  <a:gd name="connsiteX55" fmla="*/ 230602 w 745620"/>
                  <a:gd name="connsiteY55" fmla="*/ 28767 h 745620"/>
                  <a:gd name="connsiteX56" fmla="*/ 258065 w 745620"/>
                  <a:gd name="connsiteY56" fmla="*/ 18635 h 745620"/>
                  <a:gd name="connsiteX57" fmla="*/ 286240 w 745620"/>
                  <a:gd name="connsiteY57" fmla="*/ 10689 h 745620"/>
                  <a:gd name="connsiteX58" fmla="*/ 314950 w 745620"/>
                  <a:gd name="connsiteY58" fmla="*/ 4978 h 745620"/>
                  <a:gd name="connsiteX59" fmla="*/ 344021 w 745620"/>
                  <a:gd name="connsiteY59" fmla="*/ 1538 h 745620"/>
                  <a:gd name="connsiteX60" fmla="*/ 373271 w 745620"/>
                  <a:gd name="connsiteY60" fmla="*/ 388 h 745620"/>
                  <a:gd name="connsiteX61" fmla="*/ 402521 w 745620"/>
                  <a:gd name="connsiteY61" fmla="*/ 1538 h 745620"/>
                  <a:gd name="connsiteX62" fmla="*/ 431591 w 745620"/>
                  <a:gd name="connsiteY62" fmla="*/ 4978 h 745620"/>
                  <a:gd name="connsiteX63" fmla="*/ 460301 w 745620"/>
                  <a:gd name="connsiteY63" fmla="*/ 10689 h 745620"/>
                  <a:gd name="connsiteX64" fmla="*/ 488476 w 745620"/>
                  <a:gd name="connsiteY64" fmla="*/ 18635 h 745620"/>
                  <a:gd name="connsiteX65" fmla="*/ 515940 w 745620"/>
                  <a:gd name="connsiteY65" fmla="*/ 28767 h 745620"/>
                  <a:gd name="connsiteX66" fmla="*/ 542523 w 745620"/>
                  <a:gd name="connsiteY66" fmla="*/ 41023 h 745620"/>
                  <a:gd name="connsiteX67" fmla="*/ 568064 w 745620"/>
                  <a:gd name="connsiteY67" fmla="*/ 55326 h 745620"/>
                  <a:gd name="connsiteX68" fmla="*/ 592404 w 745620"/>
                  <a:gd name="connsiteY68" fmla="*/ 71588 h 745620"/>
                  <a:gd name="connsiteX69" fmla="*/ 615392 w 745620"/>
                  <a:gd name="connsiteY69" fmla="*/ 89711 h 745620"/>
                  <a:gd name="connsiteX70" fmla="*/ 636887 w 745620"/>
                  <a:gd name="connsiteY70" fmla="*/ 109582 h 745620"/>
                  <a:gd name="connsiteX71" fmla="*/ 656759 w 745620"/>
                  <a:gd name="connsiteY71" fmla="*/ 131078 h 745620"/>
                  <a:gd name="connsiteX72" fmla="*/ 674881 w 745620"/>
                  <a:gd name="connsiteY72" fmla="*/ 154066 h 745620"/>
                  <a:gd name="connsiteX73" fmla="*/ 691143 w 745620"/>
                  <a:gd name="connsiteY73" fmla="*/ 178405 h 745620"/>
                  <a:gd name="connsiteX74" fmla="*/ 705447 w 745620"/>
                  <a:gd name="connsiteY74" fmla="*/ 203946 h 745620"/>
                  <a:gd name="connsiteX75" fmla="*/ 717703 w 745620"/>
                  <a:gd name="connsiteY75" fmla="*/ 230531 h 745620"/>
                  <a:gd name="connsiteX76" fmla="*/ 727834 w 745620"/>
                  <a:gd name="connsiteY76" fmla="*/ 257994 h 745620"/>
                  <a:gd name="connsiteX77" fmla="*/ 735781 w 745620"/>
                  <a:gd name="connsiteY77" fmla="*/ 286168 h 745620"/>
                  <a:gd name="connsiteX78" fmla="*/ 741492 w 745620"/>
                  <a:gd name="connsiteY78" fmla="*/ 314879 h 745620"/>
                  <a:gd name="connsiteX79" fmla="*/ 744932 w 745620"/>
                  <a:gd name="connsiteY79" fmla="*/ 343949 h 745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745620" h="745620">
                    <a:moveTo>
                      <a:pt x="746081" y="373199"/>
                    </a:moveTo>
                    <a:lnTo>
                      <a:pt x="744932" y="402449"/>
                    </a:lnTo>
                    <a:lnTo>
                      <a:pt x="741492" y="431519"/>
                    </a:lnTo>
                    <a:lnTo>
                      <a:pt x="735781" y="460230"/>
                    </a:lnTo>
                    <a:lnTo>
                      <a:pt x="727834" y="488404"/>
                    </a:lnTo>
                    <a:lnTo>
                      <a:pt x="717703" y="515867"/>
                    </a:lnTo>
                    <a:lnTo>
                      <a:pt x="705447" y="542451"/>
                    </a:lnTo>
                    <a:lnTo>
                      <a:pt x="691143" y="567992"/>
                    </a:lnTo>
                    <a:lnTo>
                      <a:pt x="674881" y="592332"/>
                    </a:lnTo>
                    <a:lnTo>
                      <a:pt x="656759" y="615320"/>
                    </a:lnTo>
                    <a:lnTo>
                      <a:pt x="636887" y="636816"/>
                    </a:lnTo>
                    <a:lnTo>
                      <a:pt x="615392" y="656687"/>
                    </a:lnTo>
                    <a:lnTo>
                      <a:pt x="592404" y="674810"/>
                    </a:lnTo>
                    <a:lnTo>
                      <a:pt x="568064" y="691072"/>
                    </a:lnTo>
                    <a:lnTo>
                      <a:pt x="542523" y="705375"/>
                    </a:lnTo>
                    <a:lnTo>
                      <a:pt x="515940" y="717631"/>
                    </a:lnTo>
                    <a:lnTo>
                      <a:pt x="488476" y="727762"/>
                    </a:lnTo>
                    <a:lnTo>
                      <a:pt x="460301" y="735709"/>
                    </a:lnTo>
                    <a:lnTo>
                      <a:pt x="431591" y="741420"/>
                    </a:lnTo>
                    <a:lnTo>
                      <a:pt x="402521" y="744860"/>
                    </a:lnTo>
                    <a:lnTo>
                      <a:pt x="373271" y="746009"/>
                    </a:lnTo>
                    <a:lnTo>
                      <a:pt x="344021" y="744860"/>
                    </a:lnTo>
                    <a:lnTo>
                      <a:pt x="314950" y="741420"/>
                    </a:lnTo>
                    <a:lnTo>
                      <a:pt x="286240" y="735709"/>
                    </a:lnTo>
                    <a:lnTo>
                      <a:pt x="258065" y="727762"/>
                    </a:lnTo>
                    <a:lnTo>
                      <a:pt x="230602" y="717631"/>
                    </a:lnTo>
                    <a:lnTo>
                      <a:pt x="204018" y="705375"/>
                    </a:lnTo>
                    <a:lnTo>
                      <a:pt x="178477" y="691072"/>
                    </a:lnTo>
                    <a:lnTo>
                      <a:pt x="154138" y="674810"/>
                    </a:lnTo>
                    <a:lnTo>
                      <a:pt x="131149" y="656687"/>
                    </a:lnTo>
                    <a:lnTo>
                      <a:pt x="109654" y="636816"/>
                    </a:lnTo>
                    <a:lnTo>
                      <a:pt x="89783" y="615320"/>
                    </a:lnTo>
                    <a:lnTo>
                      <a:pt x="71660" y="592332"/>
                    </a:lnTo>
                    <a:lnTo>
                      <a:pt x="55398" y="567992"/>
                    </a:lnTo>
                    <a:lnTo>
                      <a:pt x="41095" y="542451"/>
                    </a:lnTo>
                    <a:lnTo>
                      <a:pt x="28839" y="515867"/>
                    </a:lnTo>
                    <a:lnTo>
                      <a:pt x="18707" y="488404"/>
                    </a:lnTo>
                    <a:lnTo>
                      <a:pt x="10761" y="460230"/>
                    </a:lnTo>
                    <a:lnTo>
                      <a:pt x="5050" y="431519"/>
                    </a:lnTo>
                    <a:lnTo>
                      <a:pt x="1610" y="402449"/>
                    </a:lnTo>
                    <a:lnTo>
                      <a:pt x="460" y="373199"/>
                    </a:lnTo>
                    <a:lnTo>
                      <a:pt x="1610" y="343949"/>
                    </a:lnTo>
                    <a:lnTo>
                      <a:pt x="5050" y="314879"/>
                    </a:lnTo>
                    <a:lnTo>
                      <a:pt x="10761" y="286168"/>
                    </a:lnTo>
                    <a:lnTo>
                      <a:pt x="18707" y="257994"/>
                    </a:lnTo>
                    <a:lnTo>
                      <a:pt x="28839" y="230531"/>
                    </a:lnTo>
                    <a:lnTo>
                      <a:pt x="41095" y="203946"/>
                    </a:lnTo>
                    <a:lnTo>
                      <a:pt x="55398" y="178405"/>
                    </a:lnTo>
                    <a:lnTo>
                      <a:pt x="71660" y="154066"/>
                    </a:lnTo>
                    <a:lnTo>
                      <a:pt x="89783" y="131078"/>
                    </a:lnTo>
                    <a:lnTo>
                      <a:pt x="109654" y="109582"/>
                    </a:lnTo>
                    <a:lnTo>
                      <a:pt x="131149" y="89711"/>
                    </a:lnTo>
                    <a:lnTo>
                      <a:pt x="154138" y="71588"/>
                    </a:lnTo>
                    <a:lnTo>
                      <a:pt x="178477" y="55326"/>
                    </a:lnTo>
                    <a:lnTo>
                      <a:pt x="204018" y="41023"/>
                    </a:lnTo>
                    <a:lnTo>
                      <a:pt x="230602" y="28767"/>
                    </a:lnTo>
                    <a:lnTo>
                      <a:pt x="258065" y="18635"/>
                    </a:lnTo>
                    <a:lnTo>
                      <a:pt x="286240" y="10689"/>
                    </a:lnTo>
                    <a:lnTo>
                      <a:pt x="314950" y="4978"/>
                    </a:lnTo>
                    <a:lnTo>
                      <a:pt x="344021" y="1538"/>
                    </a:lnTo>
                    <a:lnTo>
                      <a:pt x="373271" y="388"/>
                    </a:lnTo>
                    <a:lnTo>
                      <a:pt x="402521" y="1538"/>
                    </a:lnTo>
                    <a:lnTo>
                      <a:pt x="431591" y="4978"/>
                    </a:lnTo>
                    <a:lnTo>
                      <a:pt x="460301" y="10689"/>
                    </a:lnTo>
                    <a:lnTo>
                      <a:pt x="488476" y="18635"/>
                    </a:lnTo>
                    <a:lnTo>
                      <a:pt x="515940" y="28767"/>
                    </a:lnTo>
                    <a:lnTo>
                      <a:pt x="542523" y="41023"/>
                    </a:lnTo>
                    <a:lnTo>
                      <a:pt x="568064" y="55326"/>
                    </a:lnTo>
                    <a:lnTo>
                      <a:pt x="592404" y="71588"/>
                    </a:lnTo>
                    <a:lnTo>
                      <a:pt x="615392" y="89711"/>
                    </a:lnTo>
                    <a:lnTo>
                      <a:pt x="636887" y="109582"/>
                    </a:lnTo>
                    <a:lnTo>
                      <a:pt x="656759" y="131078"/>
                    </a:lnTo>
                    <a:lnTo>
                      <a:pt x="674881" y="154066"/>
                    </a:lnTo>
                    <a:lnTo>
                      <a:pt x="691143" y="178405"/>
                    </a:lnTo>
                    <a:lnTo>
                      <a:pt x="705447" y="203946"/>
                    </a:lnTo>
                    <a:lnTo>
                      <a:pt x="717703" y="230531"/>
                    </a:lnTo>
                    <a:lnTo>
                      <a:pt x="727834" y="257994"/>
                    </a:lnTo>
                    <a:lnTo>
                      <a:pt x="735781" y="286168"/>
                    </a:lnTo>
                    <a:lnTo>
                      <a:pt x="741492" y="314879"/>
                    </a:lnTo>
                    <a:lnTo>
                      <a:pt x="744932" y="343949"/>
                    </a:lnTo>
                    <a:close/>
                  </a:path>
                </a:pathLst>
              </a:custGeom>
              <a:solidFill>
                <a:srgbClr val="8CD600"/>
              </a:solidFill>
              <a:ln w="258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de-DE" dirty="0"/>
              </a:p>
            </p:txBody>
          </p:sp>
          <p:sp>
            <p:nvSpPr>
              <p:cNvPr id="447" name="Freihandform: Form 446">
                <a:extLst>
                  <a:ext uri="{FF2B5EF4-FFF2-40B4-BE49-F238E27FC236}">
                    <a16:creationId xmlns:a16="http://schemas.microsoft.com/office/drawing/2014/main" id="{C9F5AD3F-5F01-94FE-2A98-5C210D3DF2CC}"/>
                  </a:ext>
                </a:extLst>
              </p:cNvPr>
              <p:cNvSpPr/>
              <p:nvPr/>
            </p:nvSpPr>
            <p:spPr>
              <a:xfrm>
                <a:off x="5852683" y="32989970"/>
                <a:ext cx="983805" cy="241636"/>
              </a:xfrm>
              <a:custGeom>
                <a:avLst/>
                <a:gdLst>
                  <a:gd name="connsiteX0" fmla="*/ 460 w 983805"/>
                  <a:gd name="connsiteY0" fmla="*/ 403 h 241636"/>
                  <a:gd name="connsiteX1" fmla="*/ 984266 w 983805"/>
                  <a:gd name="connsiteY1" fmla="*/ 403 h 241636"/>
                  <a:gd name="connsiteX2" fmla="*/ 984266 w 983805"/>
                  <a:gd name="connsiteY2" fmla="*/ 242040 h 241636"/>
                  <a:gd name="connsiteX3" fmla="*/ 460 w 983805"/>
                  <a:gd name="connsiteY3" fmla="*/ 242040 h 241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3805" h="241636">
                    <a:moveTo>
                      <a:pt x="460" y="403"/>
                    </a:moveTo>
                    <a:lnTo>
                      <a:pt x="984266" y="403"/>
                    </a:lnTo>
                    <a:lnTo>
                      <a:pt x="984266" y="242040"/>
                    </a:lnTo>
                    <a:lnTo>
                      <a:pt x="460" y="24204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8" name="Textfeld 447">
                <a:extLst>
                  <a:ext uri="{FF2B5EF4-FFF2-40B4-BE49-F238E27FC236}">
                    <a16:creationId xmlns:a16="http://schemas.microsoft.com/office/drawing/2014/main" id="{57CEAB28-0A27-4709-12ED-6A95FE37BB59}"/>
                  </a:ext>
                </a:extLst>
              </p:cNvPr>
              <p:cNvSpPr txBox="1"/>
              <p:nvPr/>
            </p:nvSpPr>
            <p:spPr>
              <a:xfrm>
                <a:off x="5769873" y="32978769"/>
                <a:ext cx="1149425" cy="3158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de-DE" sz="1019" spc="0" baseline="0">
                    <a:ln/>
                    <a:solidFill>
                      <a:srgbClr val="1F2933"/>
                    </a:solidFill>
                    <a:latin typeface="Helvetica"/>
                    <a:cs typeface="Helvetica"/>
                    <a:sym typeface="Helvetica"/>
                    <a:rtl val="0"/>
                  </a:rPr>
                  <a:t>Dublin Core</a:t>
                </a:r>
              </a:p>
            </p:txBody>
          </p:sp>
          <p:sp>
            <p:nvSpPr>
              <p:cNvPr id="449" name="Freihandform: Form 448">
                <a:extLst>
                  <a:ext uri="{FF2B5EF4-FFF2-40B4-BE49-F238E27FC236}">
                    <a16:creationId xmlns:a16="http://schemas.microsoft.com/office/drawing/2014/main" id="{272F3A29-3B00-DFB9-0AF3-D43BFAE101B8}"/>
                  </a:ext>
                </a:extLst>
              </p:cNvPr>
              <p:cNvSpPr/>
              <p:nvPr/>
            </p:nvSpPr>
            <p:spPr>
              <a:xfrm>
                <a:off x="10408600" y="33691628"/>
                <a:ext cx="621350" cy="621350"/>
              </a:xfrm>
              <a:custGeom>
                <a:avLst/>
                <a:gdLst>
                  <a:gd name="connsiteX0" fmla="*/ 621938 w 621350"/>
                  <a:gd name="connsiteY0" fmla="*/ 311105 h 621350"/>
                  <a:gd name="connsiteX1" fmla="*/ 620971 w 621350"/>
                  <a:gd name="connsiteY1" fmla="*/ 335479 h 621350"/>
                  <a:gd name="connsiteX2" fmla="*/ 618106 w 621350"/>
                  <a:gd name="connsiteY2" fmla="*/ 359705 h 621350"/>
                  <a:gd name="connsiteX3" fmla="*/ 613342 w 621350"/>
                  <a:gd name="connsiteY3" fmla="*/ 383630 h 621350"/>
                  <a:gd name="connsiteX4" fmla="*/ 606732 w 621350"/>
                  <a:gd name="connsiteY4" fmla="*/ 407108 h 621350"/>
                  <a:gd name="connsiteX5" fmla="*/ 598275 w 621350"/>
                  <a:gd name="connsiteY5" fmla="*/ 429995 h 621350"/>
                  <a:gd name="connsiteX6" fmla="*/ 588074 w 621350"/>
                  <a:gd name="connsiteY6" fmla="*/ 452148 h 621350"/>
                  <a:gd name="connsiteX7" fmla="*/ 576148 w 621350"/>
                  <a:gd name="connsiteY7" fmla="*/ 473431 h 621350"/>
                  <a:gd name="connsiteX8" fmla="*/ 562599 w 621350"/>
                  <a:gd name="connsiteY8" fmla="*/ 493714 h 621350"/>
                  <a:gd name="connsiteX9" fmla="*/ 547497 w 621350"/>
                  <a:gd name="connsiteY9" fmla="*/ 512871 h 621350"/>
                  <a:gd name="connsiteX10" fmla="*/ 530927 w 621350"/>
                  <a:gd name="connsiteY10" fmla="*/ 530785 h 621350"/>
                  <a:gd name="connsiteX11" fmla="*/ 513029 w 621350"/>
                  <a:gd name="connsiteY11" fmla="*/ 547344 h 621350"/>
                  <a:gd name="connsiteX12" fmla="*/ 493871 w 621350"/>
                  <a:gd name="connsiteY12" fmla="*/ 562446 h 621350"/>
                  <a:gd name="connsiteX13" fmla="*/ 473590 w 621350"/>
                  <a:gd name="connsiteY13" fmla="*/ 575999 h 621350"/>
                  <a:gd name="connsiteX14" fmla="*/ 452292 w 621350"/>
                  <a:gd name="connsiteY14" fmla="*/ 587918 h 621350"/>
                  <a:gd name="connsiteX15" fmla="*/ 430148 w 621350"/>
                  <a:gd name="connsiteY15" fmla="*/ 598131 h 621350"/>
                  <a:gd name="connsiteX16" fmla="*/ 407261 w 621350"/>
                  <a:gd name="connsiteY16" fmla="*/ 606574 h 621350"/>
                  <a:gd name="connsiteX17" fmla="*/ 383788 w 621350"/>
                  <a:gd name="connsiteY17" fmla="*/ 613195 h 621350"/>
                  <a:gd name="connsiteX18" fmla="*/ 359848 w 621350"/>
                  <a:gd name="connsiteY18" fmla="*/ 617953 h 621350"/>
                  <a:gd name="connsiteX19" fmla="*/ 335633 w 621350"/>
                  <a:gd name="connsiteY19" fmla="*/ 620822 h 621350"/>
                  <a:gd name="connsiteX20" fmla="*/ 311262 w 621350"/>
                  <a:gd name="connsiteY20" fmla="*/ 621780 h 621350"/>
                  <a:gd name="connsiteX21" fmla="*/ 286874 w 621350"/>
                  <a:gd name="connsiteY21" fmla="*/ 620822 h 621350"/>
                  <a:gd name="connsiteX22" fmla="*/ 262659 w 621350"/>
                  <a:gd name="connsiteY22" fmla="*/ 617953 h 621350"/>
                  <a:gd name="connsiteX23" fmla="*/ 238737 w 621350"/>
                  <a:gd name="connsiteY23" fmla="*/ 613195 h 621350"/>
                  <a:gd name="connsiteX24" fmla="*/ 215246 w 621350"/>
                  <a:gd name="connsiteY24" fmla="*/ 606574 h 621350"/>
                  <a:gd name="connsiteX25" fmla="*/ 192360 w 621350"/>
                  <a:gd name="connsiteY25" fmla="*/ 598131 h 621350"/>
                  <a:gd name="connsiteX26" fmla="*/ 170216 w 621350"/>
                  <a:gd name="connsiteY26" fmla="*/ 587918 h 621350"/>
                  <a:gd name="connsiteX27" fmla="*/ 148935 w 621350"/>
                  <a:gd name="connsiteY27" fmla="*/ 575999 h 621350"/>
                  <a:gd name="connsiteX28" fmla="*/ 128637 w 621350"/>
                  <a:gd name="connsiteY28" fmla="*/ 562446 h 621350"/>
                  <a:gd name="connsiteX29" fmla="*/ 109479 w 621350"/>
                  <a:gd name="connsiteY29" fmla="*/ 547344 h 621350"/>
                  <a:gd name="connsiteX30" fmla="*/ 91580 w 621350"/>
                  <a:gd name="connsiteY30" fmla="*/ 530785 h 621350"/>
                  <a:gd name="connsiteX31" fmla="*/ 75011 w 621350"/>
                  <a:gd name="connsiteY31" fmla="*/ 512871 h 621350"/>
                  <a:gd name="connsiteX32" fmla="*/ 59909 w 621350"/>
                  <a:gd name="connsiteY32" fmla="*/ 493714 h 621350"/>
                  <a:gd name="connsiteX33" fmla="*/ 46360 w 621350"/>
                  <a:gd name="connsiteY33" fmla="*/ 473431 h 621350"/>
                  <a:gd name="connsiteX34" fmla="*/ 34433 w 621350"/>
                  <a:gd name="connsiteY34" fmla="*/ 452148 h 621350"/>
                  <a:gd name="connsiteX35" fmla="*/ 24233 w 621350"/>
                  <a:gd name="connsiteY35" fmla="*/ 429995 h 621350"/>
                  <a:gd name="connsiteX36" fmla="*/ 15793 w 621350"/>
                  <a:gd name="connsiteY36" fmla="*/ 407108 h 621350"/>
                  <a:gd name="connsiteX37" fmla="*/ 9165 w 621350"/>
                  <a:gd name="connsiteY37" fmla="*/ 383630 h 621350"/>
                  <a:gd name="connsiteX38" fmla="*/ 4401 w 621350"/>
                  <a:gd name="connsiteY38" fmla="*/ 359705 h 621350"/>
                  <a:gd name="connsiteX39" fmla="*/ 1536 w 621350"/>
                  <a:gd name="connsiteY39" fmla="*/ 335479 h 621350"/>
                  <a:gd name="connsiteX40" fmla="*/ 587 w 621350"/>
                  <a:gd name="connsiteY40" fmla="*/ 311105 h 621350"/>
                  <a:gd name="connsiteX41" fmla="*/ 1536 w 621350"/>
                  <a:gd name="connsiteY41" fmla="*/ 286729 h 621350"/>
                  <a:gd name="connsiteX42" fmla="*/ 4401 w 621350"/>
                  <a:gd name="connsiteY42" fmla="*/ 262503 h 621350"/>
                  <a:gd name="connsiteX43" fmla="*/ 9165 w 621350"/>
                  <a:gd name="connsiteY43" fmla="*/ 238577 h 621350"/>
                  <a:gd name="connsiteX44" fmla="*/ 15793 w 621350"/>
                  <a:gd name="connsiteY44" fmla="*/ 215101 h 621350"/>
                  <a:gd name="connsiteX45" fmla="*/ 24233 w 621350"/>
                  <a:gd name="connsiteY45" fmla="*/ 192214 h 621350"/>
                  <a:gd name="connsiteX46" fmla="*/ 34433 w 621350"/>
                  <a:gd name="connsiteY46" fmla="*/ 170060 h 621350"/>
                  <a:gd name="connsiteX47" fmla="*/ 46360 w 621350"/>
                  <a:gd name="connsiteY47" fmla="*/ 148777 h 621350"/>
                  <a:gd name="connsiteX48" fmla="*/ 59909 w 621350"/>
                  <a:gd name="connsiteY48" fmla="*/ 128493 h 621350"/>
                  <a:gd name="connsiteX49" fmla="*/ 75011 w 621350"/>
                  <a:gd name="connsiteY49" fmla="*/ 109336 h 621350"/>
                  <a:gd name="connsiteX50" fmla="*/ 91580 w 621350"/>
                  <a:gd name="connsiteY50" fmla="*/ 91423 h 621350"/>
                  <a:gd name="connsiteX51" fmla="*/ 109479 w 621350"/>
                  <a:gd name="connsiteY51" fmla="*/ 74865 h 621350"/>
                  <a:gd name="connsiteX52" fmla="*/ 128637 w 621350"/>
                  <a:gd name="connsiteY52" fmla="*/ 59763 h 621350"/>
                  <a:gd name="connsiteX53" fmla="*/ 148935 w 621350"/>
                  <a:gd name="connsiteY53" fmla="*/ 46209 h 621350"/>
                  <a:gd name="connsiteX54" fmla="*/ 170216 w 621350"/>
                  <a:gd name="connsiteY54" fmla="*/ 34289 h 621350"/>
                  <a:gd name="connsiteX55" fmla="*/ 192360 w 621350"/>
                  <a:gd name="connsiteY55" fmla="*/ 24077 h 621350"/>
                  <a:gd name="connsiteX56" fmla="*/ 215246 w 621350"/>
                  <a:gd name="connsiteY56" fmla="*/ 15633 h 621350"/>
                  <a:gd name="connsiteX57" fmla="*/ 238737 w 621350"/>
                  <a:gd name="connsiteY57" fmla="*/ 9012 h 621350"/>
                  <a:gd name="connsiteX58" fmla="*/ 262659 w 621350"/>
                  <a:gd name="connsiteY58" fmla="*/ 4254 h 621350"/>
                  <a:gd name="connsiteX59" fmla="*/ 286874 w 621350"/>
                  <a:gd name="connsiteY59" fmla="*/ 1385 h 621350"/>
                  <a:gd name="connsiteX60" fmla="*/ 311262 w 621350"/>
                  <a:gd name="connsiteY60" fmla="*/ 429 h 621350"/>
                  <a:gd name="connsiteX61" fmla="*/ 335633 w 621350"/>
                  <a:gd name="connsiteY61" fmla="*/ 1385 h 621350"/>
                  <a:gd name="connsiteX62" fmla="*/ 359848 w 621350"/>
                  <a:gd name="connsiteY62" fmla="*/ 4254 h 621350"/>
                  <a:gd name="connsiteX63" fmla="*/ 383788 w 621350"/>
                  <a:gd name="connsiteY63" fmla="*/ 9012 h 621350"/>
                  <a:gd name="connsiteX64" fmla="*/ 407261 w 621350"/>
                  <a:gd name="connsiteY64" fmla="*/ 15633 h 621350"/>
                  <a:gd name="connsiteX65" fmla="*/ 430148 w 621350"/>
                  <a:gd name="connsiteY65" fmla="*/ 24077 h 621350"/>
                  <a:gd name="connsiteX66" fmla="*/ 452292 w 621350"/>
                  <a:gd name="connsiteY66" fmla="*/ 34289 h 621350"/>
                  <a:gd name="connsiteX67" fmla="*/ 473590 w 621350"/>
                  <a:gd name="connsiteY67" fmla="*/ 46209 h 621350"/>
                  <a:gd name="connsiteX68" fmla="*/ 493871 w 621350"/>
                  <a:gd name="connsiteY68" fmla="*/ 59763 h 621350"/>
                  <a:gd name="connsiteX69" fmla="*/ 513029 w 621350"/>
                  <a:gd name="connsiteY69" fmla="*/ 74865 h 621350"/>
                  <a:gd name="connsiteX70" fmla="*/ 530927 w 621350"/>
                  <a:gd name="connsiteY70" fmla="*/ 91423 h 621350"/>
                  <a:gd name="connsiteX71" fmla="*/ 547497 w 621350"/>
                  <a:gd name="connsiteY71" fmla="*/ 109336 h 621350"/>
                  <a:gd name="connsiteX72" fmla="*/ 562599 w 621350"/>
                  <a:gd name="connsiteY72" fmla="*/ 128493 h 621350"/>
                  <a:gd name="connsiteX73" fmla="*/ 576148 w 621350"/>
                  <a:gd name="connsiteY73" fmla="*/ 148777 h 621350"/>
                  <a:gd name="connsiteX74" fmla="*/ 588074 w 621350"/>
                  <a:gd name="connsiteY74" fmla="*/ 170060 h 621350"/>
                  <a:gd name="connsiteX75" fmla="*/ 598275 w 621350"/>
                  <a:gd name="connsiteY75" fmla="*/ 192214 h 621350"/>
                  <a:gd name="connsiteX76" fmla="*/ 606732 w 621350"/>
                  <a:gd name="connsiteY76" fmla="*/ 215101 h 621350"/>
                  <a:gd name="connsiteX77" fmla="*/ 613342 w 621350"/>
                  <a:gd name="connsiteY77" fmla="*/ 238577 h 621350"/>
                  <a:gd name="connsiteX78" fmla="*/ 618106 w 621350"/>
                  <a:gd name="connsiteY78" fmla="*/ 262503 h 621350"/>
                  <a:gd name="connsiteX79" fmla="*/ 620971 w 621350"/>
                  <a:gd name="connsiteY79" fmla="*/ 286729 h 621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621350" h="621350">
                    <a:moveTo>
                      <a:pt x="621938" y="311105"/>
                    </a:moveTo>
                    <a:lnTo>
                      <a:pt x="620971" y="335479"/>
                    </a:lnTo>
                    <a:lnTo>
                      <a:pt x="618106" y="359705"/>
                    </a:lnTo>
                    <a:lnTo>
                      <a:pt x="613342" y="383630"/>
                    </a:lnTo>
                    <a:lnTo>
                      <a:pt x="606732" y="407108"/>
                    </a:lnTo>
                    <a:lnTo>
                      <a:pt x="598275" y="429995"/>
                    </a:lnTo>
                    <a:lnTo>
                      <a:pt x="588074" y="452148"/>
                    </a:lnTo>
                    <a:lnTo>
                      <a:pt x="576148" y="473431"/>
                    </a:lnTo>
                    <a:lnTo>
                      <a:pt x="562599" y="493714"/>
                    </a:lnTo>
                    <a:lnTo>
                      <a:pt x="547497" y="512871"/>
                    </a:lnTo>
                    <a:lnTo>
                      <a:pt x="530927" y="530785"/>
                    </a:lnTo>
                    <a:lnTo>
                      <a:pt x="513029" y="547344"/>
                    </a:lnTo>
                    <a:lnTo>
                      <a:pt x="493871" y="562446"/>
                    </a:lnTo>
                    <a:lnTo>
                      <a:pt x="473590" y="575999"/>
                    </a:lnTo>
                    <a:lnTo>
                      <a:pt x="452292" y="587918"/>
                    </a:lnTo>
                    <a:lnTo>
                      <a:pt x="430148" y="598131"/>
                    </a:lnTo>
                    <a:lnTo>
                      <a:pt x="407261" y="606574"/>
                    </a:lnTo>
                    <a:lnTo>
                      <a:pt x="383788" y="613195"/>
                    </a:lnTo>
                    <a:lnTo>
                      <a:pt x="359848" y="617953"/>
                    </a:lnTo>
                    <a:lnTo>
                      <a:pt x="335633" y="620822"/>
                    </a:lnTo>
                    <a:lnTo>
                      <a:pt x="311262" y="621780"/>
                    </a:lnTo>
                    <a:lnTo>
                      <a:pt x="286874" y="620822"/>
                    </a:lnTo>
                    <a:lnTo>
                      <a:pt x="262659" y="617953"/>
                    </a:lnTo>
                    <a:lnTo>
                      <a:pt x="238737" y="613195"/>
                    </a:lnTo>
                    <a:lnTo>
                      <a:pt x="215246" y="606574"/>
                    </a:lnTo>
                    <a:lnTo>
                      <a:pt x="192360" y="598131"/>
                    </a:lnTo>
                    <a:lnTo>
                      <a:pt x="170216" y="587918"/>
                    </a:lnTo>
                    <a:lnTo>
                      <a:pt x="148935" y="575999"/>
                    </a:lnTo>
                    <a:lnTo>
                      <a:pt x="128637" y="562446"/>
                    </a:lnTo>
                    <a:lnTo>
                      <a:pt x="109479" y="547344"/>
                    </a:lnTo>
                    <a:lnTo>
                      <a:pt x="91580" y="530785"/>
                    </a:lnTo>
                    <a:lnTo>
                      <a:pt x="75011" y="512871"/>
                    </a:lnTo>
                    <a:lnTo>
                      <a:pt x="59909" y="493714"/>
                    </a:lnTo>
                    <a:lnTo>
                      <a:pt x="46360" y="473431"/>
                    </a:lnTo>
                    <a:lnTo>
                      <a:pt x="34433" y="452148"/>
                    </a:lnTo>
                    <a:lnTo>
                      <a:pt x="24233" y="429995"/>
                    </a:lnTo>
                    <a:lnTo>
                      <a:pt x="15793" y="407108"/>
                    </a:lnTo>
                    <a:lnTo>
                      <a:pt x="9165" y="383630"/>
                    </a:lnTo>
                    <a:lnTo>
                      <a:pt x="4401" y="359705"/>
                    </a:lnTo>
                    <a:lnTo>
                      <a:pt x="1536" y="335479"/>
                    </a:lnTo>
                    <a:lnTo>
                      <a:pt x="587" y="311105"/>
                    </a:lnTo>
                    <a:lnTo>
                      <a:pt x="1536" y="286729"/>
                    </a:lnTo>
                    <a:lnTo>
                      <a:pt x="4401" y="262503"/>
                    </a:lnTo>
                    <a:lnTo>
                      <a:pt x="9165" y="238577"/>
                    </a:lnTo>
                    <a:lnTo>
                      <a:pt x="15793" y="215101"/>
                    </a:lnTo>
                    <a:lnTo>
                      <a:pt x="24233" y="192214"/>
                    </a:lnTo>
                    <a:lnTo>
                      <a:pt x="34433" y="170060"/>
                    </a:lnTo>
                    <a:lnTo>
                      <a:pt x="46360" y="148777"/>
                    </a:lnTo>
                    <a:lnTo>
                      <a:pt x="59909" y="128493"/>
                    </a:lnTo>
                    <a:lnTo>
                      <a:pt x="75011" y="109336"/>
                    </a:lnTo>
                    <a:lnTo>
                      <a:pt x="91580" y="91423"/>
                    </a:lnTo>
                    <a:lnTo>
                      <a:pt x="109479" y="74865"/>
                    </a:lnTo>
                    <a:lnTo>
                      <a:pt x="128637" y="59763"/>
                    </a:lnTo>
                    <a:lnTo>
                      <a:pt x="148935" y="46209"/>
                    </a:lnTo>
                    <a:lnTo>
                      <a:pt x="170216" y="34289"/>
                    </a:lnTo>
                    <a:lnTo>
                      <a:pt x="192360" y="24077"/>
                    </a:lnTo>
                    <a:lnTo>
                      <a:pt x="215246" y="15633"/>
                    </a:lnTo>
                    <a:lnTo>
                      <a:pt x="238737" y="9012"/>
                    </a:lnTo>
                    <a:lnTo>
                      <a:pt x="262659" y="4254"/>
                    </a:lnTo>
                    <a:lnTo>
                      <a:pt x="286874" y="1385"/>
                    </a:lnTo>
                    <a:lnTo>
                      <a:pt x="311262" y="429"/>
                    </a:lnTo>
                    <a:lnTo>
                      <a:pt x="335633" y="1385"/>
                    </a:lnTo>
                    <a:lnTo>
                      <a:pt x="359848" y="4254"/>
                    </a:lnTo>
                    <a:lnTo>
                      <a:pt x="383788" y="9012"/>
                    </a:lnTo>
                    <a:lnTo>
                      <a:pt x="407261" y="15633"/>
                    </a:lnTo>
                    <a:lnTo>
                      <a:pt x="430148" y="24077"/>
                    </a:lnTo>
                    <a:lnTo>
                      <a:pt x="452292" y="34289"/>
                    </a:lnTo>
                    <a:lnTo>
                      <a:pt x="473590" y="46209"/>
                    </a:lnTo>
                    <a:lnTo>
                      <a:pt x="493871" y="59763"/>
                    </a:lnTo>
                    <a:lnTo>
                      <a:pt x="513029" y="74865"/>
                    </a:lnTo>
                    <a:lnTo>
                      <a:pt x="530927" y="91423"/>
                    </a:lnTo>
                    <a:lnTo>
                      <a:pt x="547497" y="109336"/>
                    </a:lnTo>
                    <a:lnTo>
                      <a:pt x="562599" y="128493"/>
                    </a:lnTo>
                    <a:lnTo>
                      <a:pt x="576148" y="148777"/>
                    </a:lnTo>
                    <a:lnTo>
                      <a:pt x="588074" y="170060"/>
                    </a:lnTo>
                    <a:lnTo>
                      <a:pt x="598275" y="192214"/>
                    </a:lnTo>
                    <a:lnTo>
                      <a:pt x="606732" y="215101"/>
                    </a:lnTo>
                    <a:lnTo>
                      <a:pt x="613342" y="238577"/>
                    </a:lnTo>
                    <a:lnTo>
                      <a:pt x="618106" y="262503"/>
                    </a:lnTo>
                    <a:lnTo>
                      <a:pt x="620971" y="286729"/>
                    </a:lnTo>
                    <a:close/>
                  </a:path>
                </a:pathLst>
              </a:custGeom>
              <a:solidFill>
                <a:srgbClr val="D23264"/>
              </a:solidFill>
              <a:ln w="258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50" name="Freihandform: Form 449">
                <a:extLst>
                  <a:ext uri="{FF2B5EF4-FFF2-40B4-BE49-F238E27FC236}">
                    <a16:creationId xmlns:a16="http://schemas.microsoft.com/office/drawing/2014/main" id="{D4D6D2C5-7110-D534-C38B-F680975F1D8D}"/>
                  </a:ext>
                </a:extLst>
              </p:cNvPr>
              <p:cNvSpPr/>
              <p:nvPr/>
            </p:nvSpPr>
            <p:spPr>
              <a:xfrm>
                <a:off x="10443119" y="34330241"/>
                <a:ext cx="552311" cy="241636"/>
              </a:xfrm>
              <a:custGeom>
                <a:avLst/>
                <a:gdLst>
                  <a:gd name="connsiteX0" fmla="*/ 587 w 552311"/>
                  <a:gd name="connsiteY0" fmla="*/ 442 h 241636"/>
                  <a:gd name="connsiteX1" fmla="*/ 552899 w 552311"/>
                  <a:gd name="connsiteY1" fmla="*/ 442 h 241636"/>
                  <a:gd name="connsiteX2" fmla="*/ 552899 w 552311"/>
                  <a:gd name="connsiteY2" fmla="*/ 242078 h 241636"/>
                  <a:gd name="connsiteX3" fmla="*/ 587 w 552311"/>
                  <a:gd name="connsiteY3" fmla="*/ 242078 h 241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311" h="241636">
                    <a:moveTo>
                      <a:pt x="587" y="442"/>
                    </a:moveTo>
                    <a:lnTo>
                      <a:pt x="552899" y="442"/>
                    </a:lnTo>
                    <a:lnTo>
                      <a:pt x="552899" y="242078"/>
                    </a:lnTo>
                    <a:lnTo>
                      <a:pt x="587" y="242078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51" name="Textfeld 450">
                <a:extLst>
                  <a:ext uri="{FF2B5EF4-FFF2-40B4-BE49-F238E27FC236}">
                    <a16:creationId xmlns:a16="http://schemas.microsoft.com/office/drawing/2014/main" id="{98B9D621-FFC3-3B33-2FDF-E0FB50BC0F00}"/>
                  </a:ext>
                </a:extLst>
              </p:cNvPr>
              <p:cNvSpPr txBox="1"/>
              <p:nvPr/>
            </p:nvSpPr>
            <p:spPr>
              <a:xfrm>
                <a:off x="10386199" y="34319040"/>
                <a:ext cx="666152" cy="3158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de-DE" sz="1019" spc="0" baseline="0">
                    <a:ln/>
                    <a:solidFill>
                      <a:srgbClr val="1F2933"/>
                    </a:solidFill>
                    <a:latin typeface="Helvetica"/>
                    <a:cs typeface="Helvetica"/>
                    <a:sym typeface="Helvetica"/>
                    <a:rtl val="0"/>
                  </a:rPr>
                  <a:t>ABCD</a:t>
                </a:r>
              </a:p>
            </p:txBody>
          </p:sp>
          <p:sp>
            <p:nvSpPr>
              <p:cNvPr id="452" name="Freihandform: Form 451">
                <a:extLst>
                  <a:ext uri="{FF2B5EF4-FFF2-40B4-BE49-F238E27FC236}">
                    <a16:creationId xmlns:a16="http://schemas.microsoft.com/office/drawing/2014/main" id="{ECE5FC16-45A1-9C13-1AA6-50ADC4659F72}"/>
                  </a:ext>
                </a:extLst>
              </p:cNvPr>
              <p:cNvSpPr/>
              <p:nvPr/>
            </p:nvSpPr>
            <p:spPr>
              <a:xfrm>
                <a:off x="8024504" y="35160210"/>
                <a:ext cx="455657" cy="455657"/>
              </a:xfrm>
              <a:custGeom>
                <a:avLst/>
                <a:gdLst>
                  <a:gd name="connsiteX0" fmla="*/ 456173 w 455657"/>
                  <a:gd name="connsiteY0" fmla="*/ 228298 h 455657"/>
                  <a:gd name="connsiteX1" fmla="*/ 455470 w 455657"/>
                  <a:gd name="connsiteY1" fmla="*/ 246179 h 455657"/>
                  <a:gd name="connsiteX2" fmla="*/ 453368 w 455657"/>
                  <a:gd name="connsiteY2" fmla="*/ 263939 h 455657"/>
                  <a:gd name="connsiteX3" fmla="*/ 449878 w 455657"/>
                  <a:gd name="connsiteY3" fmla="*/ 281475 h 455657"/>
                  <a:gd name="connsiteX4" fmla="*/ 445023 w 455657"/>
                  <a:gd name="connsiteY4" fmla="*/ 298700 h 455657"/>
                  <a:gd name="connsiteX5" fmla="*/ 438832 w 455657"/>
                  <a:gd name="connsiteY5" fmla="*/ 315477 h 455657"/>
                  <a:gd name="connsiteX6" fmla="*/ 431341 w 455657"/>
                  <a:gd name="connsiteY6" fmla="*/ 331736 h 455657"/>
                  <a:gd name="connsiteX7" fmla="*/ 422601 w 455657"/>
                  <a:gd name="connsiteY7" fmla="*/ 347338 h 455657"/>
                  <a:gd name="connsiteX8" fmla="*/ 412663 w 455657"/>
                  <a:gd name="connsiteY8" fmla="*/ 362216 h 455657"/>
                  <a:gd name="connsiteX9" fmla="*/ 401587 w 455657"/>
                  <a:gd name="connsiteY9" fmla="*/ 376266 h 455657"/>
                  <a:gd name="connsiteX10" fmla="*/ 389445 w 455657"/>
                  <a:gd name="connsiteY10" fmla="*/ 389400 h 455657"/>
                  <a:gd name="connsiteX11" fmla="*/ 376309 w 455657"/>
                  <a:gd name="connsiteY11" fmla="*/ 401534 h 455657"/>
                  <a:gd name="connsiteX12" fmla="*/ 362259 w 455657"/>
                  <a:gd name="connsiteY12" fmla="*/ 412615 h 455657"/>
                  <a:gd name="connsiteX13" fmla="*/ 347385 w 455657"/>
                  <a:gd name="connsiteY13" fmla="*/ 422556 h 455657"/>
                  <a:gd name="connsiteX14" fmla="*/ 331777 w 455657"/>
                  <a:gd name="connsiteY14" fmla="*/ 431290 h 455657"/>
                  <a:gd name="connsiteX15" fmla="*/ 315532 w 455657"/>
                  <a:gd name="connsiteY15" fmla="*/ 438781 h 455657"/>
                  <a:gd name="connsiteX16" fmla="*/ 298748 w 455657"/>
                  <a:gd name="connsiteY16" fmla="*/ 444977 h 455657"/>
                  <a:gd name="connsiteX17" fmla="*/ 281530 w 455657"/>
                  <a:gd name="connsiteY17" fmla="*/ 449827 h 455657"/>
                  <a:gd name="connsiteX18" fmla="*/ 263986 w 455657"/>
                  <a:gd name="connsiteY18" fmla="*/ 453313 h 455657"/>
                  <a:gd name="connsiteX19" fmla="*/ 246220 w 455657"/>
                  <a:gd name="connsiteY19" fmla="*/ 455419 h 455657"/>
                  <a:gd name="connsiteX20" fmla="*/ 228344 w 455657"/>
                  <a:gd name="connsiteY20" fmla="*/ 456127 h 455657"/>
                  <a:gd name="connsiteX21" fmla="*/ 210470 w 455657"/>
                  <a:gd name="connsiteY21" fmla="*/ 455419 h 455657"/>
                  <a:gd name="connsiteX22" fmla="*/ 192705 w 455657"/>
                  <a:gd name="connsiteY22" fmla="*/ 453313 h 455657"/>
                  <a:gd name="connsiteX23" fmla="*/ 175160 w 455657"/>
                  <a:gd name="connsiteY23" fmla="*/ 449827 h 455657"/>
                  <a:gd name="connsiteX24" fmla="*/ 157942 w 455657"/>
                  <a:gd name="connsiteY24" fmla="*/ 444977 h 455657"/>
                  <a:gd name="connsiteX25" fmla="*/ 141158 w 455657"/>
                  <a:gd name="connsiteY25" fmla="*/ 438781 h 455657"/>
                  <a:gd name="connsiteX26" fmla="*/ 124913 w 455657"/>
                  <a:gd name="connsiteY26" fmla="*/ 431290 h 455657"/>
                  <a:gd name="connsiteX27" fmla="*/ 109305 w 455657"/>
                  <a:gd name="connsiteY27" fmla="*/ 422556 h 455657"/>
                  <a:gd name="connsiteX28" fmla="*/ 94431 w 455657"/>
                  <a:gd name="connsiteY28" fmla="*/ 412615 h 455657"/>
                  <a:gd name="connsiteX29" fmla="*/ 80382 w 455657"/>
                  <a:gd name="connsiteY29" fmla="*/ 401534 h 455657"/>
                  <a:gd name="connsiteX30" fmla="*/ 67245 w 455657"/>
                  <a:gd name="connsiteY30" fmla="*/ 389400 h 455657"/>
                  <a:gd name="connsiteX31" fmla="*/ 55103 w 455657"/>
                  <a:gd name="connsiteY31" fmla="*/ 376266 h 455657"/>
                  <a:gd name="connsiteX32" fmla="*/ 44027 w 455657"/>
                  <a:gd name="connsiteY32" fmla="*/ 362216 h 455657"/>
                  <a:gd name="connsiteX33" fmla="*/ 34089 w 455657"/>
                  <a:gd name="connsiteY33" fmla="*/ 347338 h 455657"/>
                  <a:gd name="connsiteX34" fmla="*/ 25349 w 455657"/>
                  <a:gd name="connsiteY34" fmla="*/ 331736 h 455657"/>
                  <a:gd name="connsiteX35" fmla="*/ 17858 w 455657"/>
                  <a:gd name="connsiteY35" fmla="*/ 315477 h 455657"/>
                  <a:gd name="connsiteX36" fmla="*/ 11667 w 455657"/>
                  <a:gd name="connsiteY36" fmla="*/ 298700 h 455657"/>
                  <a:gd name="connsiteX37" fmla="*/ 6812 w 455657"/>
                  <a:gd name="connsiteY37" fmla="*/ 281475 h 455657"/>
                  <a:gd name="connsiteX38" fmla="*/ 3322 w 455657"/>
                  <a:gd name="connsiteY38" fmla="*/ 263939 h 455657"/>
                  <a:gd name="connsiteX39" fmla="*/ 1218 w 455657"/>
                  <a:gd name="connsiteY39" fmla="*/ 246179 h 455657"/>
                  <a:gd name="connsiteX40" fmla="*/ 516 w 455657"/>
                  <a:gd name="connsiteY40" fmla="*/ 228298 h 455657"/>
                  <a:gd name="connsiteX41" fmla="*/ 1218 w 455657"/>
                  <a:gd name="connsiteY41" fmla="*/ 210417 h 455657"/>
                  <a:gd name="connsiteX42" fmla="*/ 3322 w 455657"/>
                  <a:gd name="connsiteY42" fmla="*/ 192657 h 455657"/>
                  <a:gd name="connsiteX43" fmla="*/ 6812 w 455657"/>
                  <a:gd name="connsiteY43" fmla="*/ 175103 h 455657"/>
                  <a:gd name="connsiteX44" fmla="*/ 11667 w 455657"/>
                  <a:gd name="connsiteY44" fmla="*/ 157895 h 455657"/>
                  <a:gd name="connsiteX45" fmla="*/ 17858 w 455657"/>
                  <a:gd name="connsiteY45" fmla="*/ 141119 h 455657"/>
                  <a:gd name="connsiteX46" fmla="*/ 25349 w 455657"/>
                  <a:gd name="connsiteY46" fmla="*/ 124860 h 455657"/>
                  <a:gd name="connsiteX47" fmla="*/ 34089 w 455657"/>
                  <a:gd name="connsiteY47" fmla="*/ 109258 h 455657"/>
                  <a:gd name="connsiteX48" fmla="*/ 44027 w 455657"/>
                  <a:gd name="connsiteY48" fmla="*/ 94380 h 455657"/>
                  <a:gd name="connsiteX49" fmla="*/ 55103 w 455657"/>
                  <a:gd name="connsiteY49" fmla="*/ 80330 h 455657"/>
                  <a:gd name="connsiteX50" fmla="*/ 67245 w 455657"/>
                  <a:gd name="connsiteY50" fmla="*/ 67195 h 455657"/>
                  <a:gd name="connsiteX51" fmla="*/ 80382 w 455657"/>
                  <a:gd name="connsiteY51" fmla="*/ 55062 h 455657"/>
                  <a:gd name="connsiteX52" fmla="*/ 94431 w 455657"/>
                  <a:gd name="connsiteY52" fmla="*/ 43981 h 455657"/>
                  <a:gd name="connsiteX53" fmla="*/ 109305 w 455657"/>
                  <a:gd name="connsiteY53" fmla="*/ 34040 h 455657"/>
                  <a:gd name="connsiteX54" fmla="*/ 124913 w 455657"/>
                  <a:gd name="connsiteY54" fmla="*/ 25306 h 455657"/>
                  <a:gd name="connsiteX55" fmla="*/ 141158 w 455657"/>
                  <a:gd name="connsiteY55" fmla="*/ 17815 h 455657"/>
                  <a:gd name="connsiteX56" fmla="*/ 157942 w 455657"/>
                  <a:gd name="connsiteY56" fmla="*/ 11619 h 455657"/>
                  <a:gd name="connsiteX57" fmla="*/ 175160 w 455657"/>
                  <a:gd name="connsiteY57" fmla="*/ 6769 h 455657"/>
                  <a:gd name="connsiteX58" fmla="*/ 192705 w 455657"/>
                  <a:gd name="connsiteY58" fmla="*/ 3283 h 455657"/>
                  <a:gd name="connsiteX59" fmla="*/ 210470 w 455657"/>
                  <a:gd name="connsiteY59" fmla="*/ 1177 h 455657"/>
                  <a:gd name="connsiteX60" fmla="*/ 228344 w 455657"/>
                  <a:gd name="connsiteY60" fmla="*/ 469 h 455657"/>
                  <a:gd name="connsiteX61" fmla="*/ 246220 w 455657"/>
                  <a:gd name="connsiteY61" fmla="*/ 1177 h 455657"/>
                  <a:gd name="connsiteX62" fmla="*/ 263986 w 455657"/>
                  <a:gd name="connsiteY62" fmla="*/ 3283 h 455657"/>
                  <a:gd name="connsiteX63" fmla="*/ 281530 w 455657"/>
                  <a:gd name="connsiteY63" fmla="*/ 6769 h 455657"/>
                  <a:gd name="connsiteX64" fmla="*/ 298748 w 455657"/>
                  <a:gd name="connsiteY64" fmla="*/ 11619 h 455657"/>
                  <a:gd name="connsiteX65" fmla="*/ 315532 w 455657"/>
                  <a:gd name="connsiteY65" fmla="*/ 17815 h 455657"/>
                  <a:gd name="connsiteX66" fmla="*/ 331777 w 455657"/>
                  <a:gd name="connsiteY66" fmla="*/ 25306 h 455657"/>
                  <a:gd name="connsiteX67" fmla="*/ 347385 w 455657"/>
                  <a:gd name="connsiteY67" fmla="*/ 34040 h 455657"/>
                  <a:gd name="connsiteX68" fmla="*/ 362259 w 455657"/>
                  <a:gd name="connsiteY68" fmla="*/ 43981 h 455657"/>
                  <a:gd name="connsiteX69" fmla="*/ 376309 w 455657"/>
                  <a:gd name="connsiteY69" fmla="*/ 55062 h 455657"/>
                  <a:gd name="connsiteX70" fmla="*/ 389445 w 455657"/>
                  <a:gd name="connsiteY70" fmla="*/ 67195 h 455657"/>
                  <a:gd name="connsiteX71" fmla="*/ 401587 w 455657"/>
                  <a:gd name="connsiteY71" fmla="*/ 80330 h 455657"/>
                  <a:gd name="connsiteX72" fmla="*/ 412663 w 455657"/>
                  <a:gd name="connsiteY72" fmla="*/ 94380 h 455657"/>
                  <a:gd name="connsiteX73" fmla="*/ 422601 w 455657"/>
                  <a:gd name="connsiteY73" fmla="*/ 109258 h 455657"/>
                  <a:gd name="connsiteX74" fmla="*/ 431341 w 455657"/>
                  <a:gd name="connsiteY74" fmla="*/ 124860 h 455657"/>
                  <a:gd name="connsiteX75" fmla="*/ 438832 w 455657"/>
                  <a:gd name="connsiteY75" fmla="*/ 141119 h 455657"/>
                  <a:gd name="connsiteX76" fmla="*/ 445023 w 455657"/>
                  <a:gd name="connsiteY76" fmla="*/ 157895 h 455657"/>
                  <a:gd name="connsiteX77" fmla="*/ 449878 w 455657"/>
                  <a:gd name="connsiteY77" fmla="*/ 175103 h 455657"/>
                  <a:gd name="connsiteX78" fmla="*/ 453368 w 455657"/>
                  <a:gd name="connsiteY78" fmla="*/ 192657 h 455657"/>
                  <a:gd name="connsiteX79" fmla="*/ 455470 w 455657"/>
                  <a:gd name="connsiteY79" fmla="*/ 210417 h 455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455657" h="455657">
                    <a:moveTo>
                      <a:pt x="456173" y="228298"/>
                    </a:moveTo>
                    <a:lnTo>
                      <a:pt x="455470" y="246179"/>
                    </a:lnTo>
                    <a:lnTo>
                      <a:pt x="453368" y="263939"/>
                    </a:lnTo>
                    <a:lnTo>
                      <a:pt x="449878" y="281475"/>
                    </a:lnTo>
                    <a:lnTo>
                      <a:pt x="445023" y="298700"/>
                    </a:lnTo>
                    <a:lnTo>
                      <a:pt x="438832" y="315477"/>
                    </a:lnTo>
                    <a:lnTo>
                      <a:pt x="431341" y="331736"/>
                    </a:lnTo>
                    <a:lnTo>
                      <a:pt x="422601" y="347338"/>
                    </a:lnTo>
                    <a:lnTo>
                      <a:pt x="412663" y="362216"/>
                    </a:lnTo>
                    <a:lnTo>
                      <a:pt x="401587" y="376266"/>
                    </a:lnTo>
                    <a:lnTo>
                      <a:pt x="389445" y="389400"/>
                    </a:lnTo>
                    <a:lnTo>
                      <a:pt x="376309" y="401534"/>
                    </a:lnTo>
                    <a:lnTo>
                      <a:pt x="362259" y="412615"/>
                    </a:lnTo>
                    <a:lnTo>
                      <a:pt x="347385" y="422556"/>
                    </a:lnTo>
                    <a:lnTo>
                      <a:pt x="331777" y="431290"/>
                    </a:lnTo>
                    <a:lnTo>
                      <a:pt x="315532" y="438781"/>
                    </a:lnTo>
                    <a:lnTo>
                      <a:pt x="298748" y="444977"/>
                    </a:lnTo>
                    <a:lnTo>
                      <a:pt x="281530" y="449827"/>
                    </a:lnTo>
                    <a:lnTo>
                      <a:pt x="263986" y="453313"/>
                    </a:lnTo>
                    <a:lnTo>
                      <a:pt x="246220" y="455419"/>
                    </a:lnTo>
                    <a:lnTo>
                      <a:pt x="228344" y="456127"/>
                    </a:lnTo>
                    <a:lnTo>
                      <a:pt x="210470" y="455419"/>
                    </a:lnTo>
                    <a:lnTo>
                      <a:pt x="192705" y="453313"/>
                    </a:lnTo>
                    <a:lnTo>
                      <a:pt x="175160" y="449827"/>
                    </a:lnTo>
                    <a:lnTo>
                      <a:pt x="157942" y="444977"/>
                    </a:lnTo>
                    <a:lnTo>
                      <a:pt x="141158" y="438781"/>
                    </a:lnTo>
                    <a:lnTo>
                      <a:pt x="124913" y="431290"/>
                    </a:lnTo>
                    <a:lnTo>
                      <a:pt x="109305" y="422556"/>
                    </a:lnTo>
                    <a:lnTo>
                      <a:pt x="94431" y="412615"/>
                    </a:lnTo>
                    <a:lnTo>
                      <a:pt x="80382" y="401534"/>
                    </a:lnTo>
                    <a:lnTo>
                      <a:pt x="67245" y="389400"/>
                    </a:lnTo>
                    <a:lnTo>
                      <a:pt x="55103" y="376266"/>
                    </a:lnTo>
                    <a:lnTo>
                      <a:pt x="44027" y="362216"/>
                    </a:lnTo>
                    <a:lnTo>
                      <a:pt x="34089" y="347338"/>
                    </a:lnTo>
                    <a:lnTo>
                      <a:pt x="25349" y="331736"/>
                    </a:lnTo>
                    <a:lnTo>
                      <a:pt x="17858" y="315477"/>
                    </a:lnTo>
                    <a:lnTo>
                      <a:pt x="11667" y="298700"/>
                    </a:lnTo>
                    <a:lnTo>
                      <a:pt x="6812" y="281475"/>
                    </a:lnTo>
                    <a:lnTo>
                      <a:pt x="3322" y="263939"/>
                    </a:lnTo>
                    <a:lnTo>
                      <a:pt x="1218" y="246179"/>
                    </a:lnTo>
                    <a:lnTo>
                      <a:pt x="516" y="228298"/>
                    </a:lnTo>
                    <a:lnTo>
                      <a:pt x="1218" y="210417"/>
                    </a:lnTo>
                    <a:lnTo>
                      <a:pt x="3322" y="192657"/>
                    </a:lnTo>
                    <a:lnTo>
                      <a:pt x="6812" y="175103"/>
                    </a:lnTo>
                    <a:lnTo>
                      <a:pt x="11667" y="157895"/>
                    </a:lnTo>
                    <a:lnTo>
                      <a:pt x="17858" y="141119"/>
                    </a:lnTo>
                    <a:lnTo>
                      <a:pt x="25349" y="124860"/>
                    </a:lnTo>
                    <a:lnTo>
                      <a:pt x="34089" y="109258"/>
                    </a:lnTo>
                    <a:lnTo>
                      <a:pt x="44027" y="94380"/>
                    </a:lnTo>
                    <a:lnTo>
                      <a:pt x="55103" y="80330"/>
                    </a:lnTo>
                    <a:lnTo>
                      <a:pt x="67245" y="67195"/>
                    </a:lnTo>
                    <a:lnTo>
                      <a:pt x="80382" y="55062"/>
                    </a:lnTo>
                    <a:lnTo>
                      <a:pt x="94431" y="43981"/>
                    </a:lnTo>
                    <a:lnTo>
                      <a:pt x="109305" y="34040"/>
                    </a:lnTo>
                    <a:lnTo>
                      <a:pt x="124913" y="25306"/>
                    </a:lnTo>
                    <a:lnTo>
                      <a:pt x="141158" y="17815"/>
                    </a:lnTo>
                    <a:lnTo>
                      <a:pt x="157942" y="11619"/>
                    </a:lnTo>
                    <a:lnTo>
                      <a:pt x="175160" y="6769"/>
                    </a:lnTo>
                    <a:lnTo>
                      <a:pt x="192705" y="3283"/>
                    </a:lnTo>
                    <a:lnTo>
                      <a:pt x="210470" y="1177"/>
                    </a:lnTo>
                    <a:lnTo>
                      <a:pt x="228344" y="469"/>
                    </a:lnTo>
                    <a:lnTo>
                      <a:pt x="246220" y="1177"/>
                    </a:lnTo>
                    <a:lnTo>
                      <a:pt x="263986" y="3283"/>
                    </a:lnTo>
                    <a:lnTo>
                      <a:pt x="281530" y="6769"/>
                    </a:lnTo>
                    <a:lnTo>
                      <a:pt x="298748" y="11619"/>
                    </a:lnTo>
                    <a:lnTo>
                      <a:pt x="315532" y="17815"/>
                    </a:lnTo>
                    <a:lnTo>
                      <a:pt x="331777" y="25306"/>
                    </a:lnTo>
                    <a:lnTo>
                      <a:pt x="347385" y="34040"/>
                    </a:lnTo>
                    <a:lnTo>
                      <a:pt x="362259" y="43981"/>
                    </a:lnTo>
                    <a:lnTo>
                      <a:pt x="376309" y="55062"/>
                    </a:lnTo>
                    <a:lnTo>
                      <a:pt x="389445" y="67195"/>
                    </a:lnTo>
                    <a:lnTo>
                      <a:pt x="401587" y="80330"/>
                    </a:lnTo>
                    <a:lnTo>
                      <a:pt x="412663" y="94380"/>
                    </a:lnTo>
                    <a:lnTo>
                      <a:pt x="422601" y="109258"/>
                    </a:lnTo>
                    <a:lnTo>
                      <a:pt x="431341" y="124860"/>
                    </a:lnTo>
                    <a:lnTo>
                      <a:pt x="438832" y="141119"/>
                    </a:lnTo>
                    <a:lnTo>
                      <a:pt x="445023" y="157895"/>
                    </a:lnTo>
                    <a:lnTo>
                      <a:pt x="449878" y="175103"/>
                    </a:lnTo>
                    <a:lnTo>
                      <a:pt x="453368" y="192657"/>
                    </a:lnTo>
                    <a:lnTo>
                      <a:pt x="455470" y="210417"/>
                    </a:lnTo>
                    <a:close/>
                  </a:path>
                </a:pathLst>
              </a:custGeom>
              <a:solidFill>
                <a:srgbClr val="D23264"/>
              </a:solidFill>
              <a:ln w="258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53" name="Freihandform: Form 452">
                <a:extLst>
                  <a:ext uri="{FF2B5EF4-FFF2-40B4-BE49-F238E27FC236}">
                    <a16:creationId xmlns:a16="http://schemas.microsoft.com/office/drawing/2014/main" id="{52C6BEF5-06CD-79F0-DAD3-3BC7C5F78B33}"/>
                  </a:ext>
                </a:extLst>
              </p:cNvPr>
              <p:cNvSpPr/>
              <p:nvPr/>
            </p:nvSpPr>
            <p:spPr>
              <a:xfrm>
                <a:off x="7924398" y="35633127"/>
                <a:ext cx="655870" cy="241636"/>
              </a:xfrm>
              <a:custGeom>
                <a:avLst/>
                <a:gdLst>
                  <a:gd name="connsiteX0" fmla="*/ 516 w 655870"/>
                  <a:gd name="connsiteY0" fmla="*/ 480 h 241636"/>
                  <a:gd name="connsiteX1" fmla="*/ 656386 w 655870"/>
                  <a:gd name="connsiteY1" fmla="*/ 480 h 241636"/>
                  <a:gd name="connsiteX2" fmla="*/ 656386 w 655870"/>
                  <a:gd name="connsiteY2" fmla="*/ 242116 h 241636"/>
                  <a:gd name="connsiteX3" fmla="*/ 516 w 655870"/>
                  <a:gd name="connsiteY3" fmla="*/ 242116 h 241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5870" h="241636">
                    <a:moveTo>
                      <a:pt x="516" y="480"/>
                    </a:moveTo>
                    <a:lnTo>
                      <a:pt x="656386" y="480"/>
                    </a:lnTo>
                    <a:lnTo>
                      <a:pt x="656386" y="242116"/>
                    </a:lnTo>
                    <a:lnTo>
                      <a:pt x="516" y="242116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54" name="Textfeld 453">
                <a:extLst>
                  <a:ext uri="{FF2B5EF4-FFF2-40B4-BE49-F238E27FC236}">
                    <a16:creationId xmlns:a16="http://schemas.microsoft.com/office/drawing/2014/main" id="{445BC4FB-1FD7-E467-6884-0846295E9980}"/>
                  </a:ext>
                </a:extLst>
              </p:cNvPr>
              <p:cNvSpPr txBox="1"/>
              <p:nvPr/>
            </p:nvSpPr>
            <p:spPr>
              <a:xfrm>
                <a:off x="7867477" y="35621927"/>
                <a:ext cx="769711" cy="3158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de-DE" sz="1019" spc="0" baseline="0">
                    <a:ln/>
                    <a:solidFill>
                      <a:srgbClr val="1F2933"/>
                    </a:solidFill>
                    <a:latin typeface="Helvetica"/>
                    <a:cs typeface="Helvetica"/>
                    <a:sym typeface="Helvetica"/>
                    <a:rtl val="0"/>
                  </a:rPr>
                  <a:t>HISPID</a:t>
                </a:r>
              </a:p>
            </p:txBody>
          </p:sp>
          <p:sp>
            <p:nvSpPr>
              <p:cNvPr id="455" name="Freihandform: Form 454">
                <a:extLst>
                  <a:ext uri="{FF2B5EF4-FFF2-40B4-BE49-F238E27FC236}">
                    <a16:creationId xmlns:a16="http://schemas.microsoft.com/office/drawing/2014/main" id="{E29720C5-CC03-9D22-8629-1936AB5277A4}"/>
                  </a:ext>
                </a:extLst>
              </p:cNvPr>
              <p:cNvSpPr/>
              <p:nvPr/>
            </p:nvSpPr>
            <p:spPr>
              <a:xfrm>
                <a:off x="8606551" y="32931140"/>
                <a:ext cx="455650" cy="455657"/>
              </a:xfrm>
              <a:custGeom>
                <a:avLst/>
                <a:gdLst>
                  <a:gd name="connsiteX0" fmla="*/ 456183 w 455650"/>
                  <a:gd name="connsiteY0" fmla="*/ 228233 h 455657"/>
                  <a:gd name="connsiteX1" fmla="*/ 455492 w 455650"/>
                  <a:gd name="connsiteY1" fmla="*/ 246108 h 455657"/>
                  <a:gd name="connsiteX2" fmla="*/ 453387 w 455650"/>
                  <a:gd name="connsiteY2" fmla="*/ 263873 h 455657"/>
                  <a:gd name="connsiteX3" fmla="*/ 449900 w 455650"/>
                  <a:gd name="connsiteY3" fmla="*/ 281419 h 455657"/>
                  <a:gd name="connsiteX4" fmla="*/ 445033 w 455650"/>
                  <a:gd name="connsiteY4" fmla="*/ 298636 h 455657"/>
                  <a:gd name="connsiteX5" fmla="*/ 438854 w 455650"/>
                  <a:gd name="connsiteY5" fmla="*/ 315419 h 455657"/>
                  <a:gd name="connsiteX6" fmla="*/ 431363 w 455650"/>
                  <a:gd name="connsiteY6" fmla="*/ 331666 h 455657"/>
                  <a:gd name="connsiteX7" fmla="*/ 422616 w 455650"/>
                  <a:gd name="connsiteY7" fmla="*/ 347274 h 455657"/>
                  <a:gd name="connsiteX8" fmla="*/ 412678 w 455650"/>
                  <a:gd name="connsiteY8" fmla="*/ 362146 h 455657"/>
                  <a:gd name="connsiteX9" fmla="*/ 401604 w 455650"/>
                  <a:gd name="connsiteY9" fmla="*/ 376196 h 455657"/>
                  <a:gd name="connsiteX10" fmla="*/ 389460 w 455650"/>
                  <a:gd name="connsiteY10" fmla="*/ 389332 h 455657"/>
                  <a:gd name="connsiteX11" fmla="*/ 376324 w 455650"/>
                  <a:gd name="connsiteY11" fmla="*/ 401475 h 455657"/>
                  <a:gd name="connsiteX12" fmla="*/ 362276 w 455650"/>
                  <a:gd name="connsiteY12" fmla="*/ 412550 h 455657"/>
                  <a:gd name="connsiteX13" fmla="*/ 347402 w 455650"/>
                  <a:gd name="connsiteY13" fmla="*/ 422488 h 455657"/>
                  <a:gd name="connsiteX14" fmla="*/ 331794 w 455650"/>
                  <a:gd name="connsiteY14" fmla="*/ 431230 h 455657"/>
                  <a:gd name="connsiteX15" fmla="*/ 315547 w 455650"/>
                  <a:gd name="connsiteY15" fmla="*/ 438719 h 455657"/>
                  <a:gd name="connsiteX16" fmla="*/ 298764 w 455650"/>
                  <a:gd name="connsiteY16" fmla="*/ 444910 h 455657"/>
                  <a:gd name="connsiteX17" fmla="*/ 281547 w 455650"/>
                  <a:gd name="connsiteY17" fmla="*/ 449767 h 455657"/>
                  <a:gd name="connsiteX18" fmla="*/ 264001 w 455650"/>
                  <a:gd name="connsiteY18" fmla="*/ 453257 h 455657"/>
                  <a:gd name="connsiteX19" fmla="*/ 246237 w 455650"/>
                  <a:gd name="connsiteY19" fmla="*/ 455359 h 455657"/>
                  <a:gd name="connsiteX20" fmla="*/ 228361 w 455650"/>
                  <a:gd name="connsiteY20" fmla="*/ 456062 h 455657"/>
                  <a:gd name="connsiteX21" fmla="*/ 210485 w 455650"/>
                  <a:gd name="connsiteY21" fmla="*/ 455359 h 455657"/>
                  <a:gd name="connsiteX22" fmla="*/ 192721 w 455650"/>
                  <a:gd name="connsiteY22" fmla="*/ 453257 h 455657"/>
                  <a:gd name="connsiteX23" fmla="*/ 175175 w 455650"/>
                  <a:gd name="connsiteY23" fmla="*/ 449767 h 455657"/>
                  <a:gd name="connsiteX24" fmla="*/ 157959 w 455650"/>
                  <a:gd name="connsiteY24" fmla="*/ 444910 h 455657"/>
                  <a:gd name="connsiteX25" fmla="*/ 141175 w 455650"/>
                  <a:gd name="connsiteY25" fmla="*/ 438719 h 455657"/>
                  <a:gd name="connsiteX26" fmla="*/ 124929 w 455650"/>
                  <a:gd name="connsiteY26" fmla="*/ 431230 h 455657"/>
                  <a:gd name="connsiteX27" fmla="*/ 109321 w 455650"/>
                  <a:gd name="connsiteY27" fmla="*/ 422488 h 455657"/>
                  <a:gd name="connsiteX28" fmla="*/ 94446 w 455650"/>
                  <a:gd name="connsiteY28" fmla="*/ 412550 h 455657"/>
                  <a:gd name="connsiteX29" fmla="*/ 80398 w 455650"/>
                  <a:gd name="connsiteY29" fmla="*/ 401475 h 455657"/>
                  <a:gd name="connsiteX30" fmla="*/ 67262 w 455650"/>
                  <a:gd name="connsiteY30" fmla="*/ 389332 h 455657"/>
                  <a:gd name="connsiteX31" fmla="*/ 55118 w 455650"/>
                  <a:gd name="connsiteY31" fmla="*/ 376196 h 455657"/>
                  <a:gd name="connsiteX32" fmla="*/ 44044 w 455650"/>
                  <a:gd name="connsiteY32" fmla="*/ 362146 h 455657"/>
                  <a:gd name="connsiteX33" fmla="*/ 34104 w 455650"/>
                  <a:gd name="connsiteY33" fmla="*/ 347274 h 455657"/>
                  <a:gd name="connsiteX34" fmla="*/ 25364 w 455650"/>
                  <a:gd name="connsiteY34" fmla="*/ 331666 h 455657"/>
                  <a:gd name="connsiteX35" fmla="*/ 17875 w 455650"/>
                  <a:gd name="connsiteY35" fmla="*/ 315419 h 455657"/>
                  <a:gd name="connsiteX36" fmla="*/ 11682 w 455650"/>
                  <a:gd name="connsiteY36" fmla="*/ 298636 h 455657"/>
                  <a:gd name="connsiteX37" fmla="*/ 6827 w 455650"/>
                  <a:gd name="connsiteY37" fmla="*/ 281419 h 455657"/>
                  <a:gd name="connsiteX38" fmla="*/ 3337 w 455650"/>
                  <a:gd name="connsiteY38" fmla="*/ 263873 h 455657"/>
                  <a:gd name="connsiteX39" fmla="*/ 1235 w 455650"/>
                  <a:gd name="connsiteY39" fmla="*/ 246108 h 455657"/>
                  <a:gd name="connsiteX40" fmla="*/ 532 w 455650"/>
                  <a:gd name="connsiteY40" fmla="*/ 228233 h 455657"/>
                  <a:gd name="connsiteX41" fmla="*/ 1235 w 455650"/>
                  <a:gd name="connsiteY41" fmla="*/ 210357 h 455657"/>
                  <a:gd name="connsiteX42" fmla="*/ 3337 w 455650"/>
                  <a:gd name="connsiteY42" fmla="*/ 192592 h 455657"/>
                  <a:gd name="connsiteX43" fmla="*/ 6827 w 455650"/>
                  <a:gd name="connsiteY43" fmla="*/ 175047 h 455657"/>
                  <a:gd name="connsiteX44" fmla="*/ 11682 w 455650"/>
                  <a:gd name="connsiteY44" fmla="*/ 157831 h 455657"/>
                  <a:gd name="connsiteX45" fmla="*/ 17875 w 455650"/>
                  <a:gd name="connsiteY45" fmla="*/ 141047 h 455657"/>
                  <a:gd name="connsiteX46" fmla="*/ 25364 w 455650"/>
                  <a:gd name="connsiteY46" fmla="*/ 124801 h 455657"/>
                  <a:gd name="connsiteX47" fmla="*/ 34104 w 455650"/>
                  <a:gd name="connsiteY47" fmla="*/ 109193 h 455657"/>
                  <a:gd name="connsiteX48" fmla="*/ 44044 w 455650"/>
                  <a:gd name="connsiteY48" fmla="*/ 94318 h 455657"/>
                  <a:gd name="connsiteX49" fmla="*/ 55118 w 455650"/>
                  <a:gd name="connsiteY49" fmla="*/ 80271 h 455657"/>
                  <a:gd name="connsiteX50" fmla="*/ 67262 w 455650"/>
                  <a:gd name="connsiteY50" fmla="*/ 67134 h 455657"/>
                  <a:gd name="connsiteX51" fmla="*/ 80398 w 455650"/>
                  <a:gd name="connsiteY51" fmla="*/ 54990 h 455657"/>
                  <a:gd name="connsiteX52" fmla="*/ 94446 w 455650"/>
                  <a:gd name="connsiteY52" fmla="*/ 43916 h 455657"/>
                  <a:gd name="connsiteX53" fmla="*/ 109321 w 455650"/>
                  <a:gd name="connsiteY53" fmla="*/ 33977 h 455657"/>
                  <a:gd name="connsiteX54" fmla="*/ 124929 w 455650"/>
                  <a:gd name="connsiteY54" fmla="*/ 25236 h 455657"/>
                  <a:gd name="connsiteX55" fmla="*/ 141175 w 455650"/>
                  <a:gd name="connsiteY55" fmla="*/ 17747 h 455657"/>
                  <a:gd name="connsiteX56" fmla="*/ 157959 w 455650"/>
                  <a:gd name="connsiteY56" fmla="*/ 11554 h 455657"/>
                  <a:gd name="connsiteX57" fmla="*/ 175175 w 455650"/>
                  <a:gd name="connsiteY57" fmla="*/ 6699 h 455657"/>
                  <a:gd name="connsiteX58" fmla="*/ 192721 w 455650"/>
                  <a:gd name="connsiteY58" fmla="*/ 3209 h 455657"/>
                  <a:gd name="connsiteX59" fmla="*/ 210485 w 455650"/>
                  <a:gd name="connsiteY59" fmla="*/ 1107 h 455657"/>
                  <a:gd name="connsiteX60" fmla="*/ 228361 w 455650"/>
                  <a:gd name="connsiteY60" fmla="*/ 405 h 455657"/>
                  <a:gd name="connsiteX61" fmla="*/ 246237 w 455650"/>
                  <a:gd name="connsiteY61" fmla="*/ 1107 h 455657"/>
                  <a:gd name="connsiteX62" fmla="*/ 264001 w 455650"/>
                  <a:gd name="connsiteY62" fmla="*/ 3209 h 455657"/>
                  <a:gd name="connsiteX63" fmla="*/ 281547 w 455650"/>
                  <a:gd name="connsiteY63" fmla="*/ 6699 h 455657"/>
                  <a:gd name="connsiteX64" fmla="*/ 298764 w 455650"/>
                  <a:gd name="connsiteY64" fmla="*/ 11554 h 455657"/>
                  <a:gd name="connsiteX65" fmla="*/ 315547 w 455650"/>
                  <a:gd name="connsiteY65" fmla="*/ 17747 h 455657"/>
                  <a:gd name="connsiteX66" fmla="*/ 331794 w 455650"/>
                  <a:gd name="connsiteY66" fmla="*/ 25236 h 455657"/>
                  <a:gd name="connsiteX67" fmla="*/ 347402 w 455650"/>
                  <a:gd name="connsiteY67" fmla="*/ 33977 h 455657"/>
                  <a:gd name="connsiteX68" fmla="*/ 362276 w 455650"/>
                  <a:gd name="connsiteY68" fmla="*/ 43916 h 455657"/>
                  <a:gd name="connsiteX69" fmla="*/ 376324 w 455650"/>
                  <a:gd name="connsiteY69" fmla="*/ 54990 h 455657"/>
                  <a:gd name="connsiteX70" fmla="*/ 389460 w 455650"/>
                  <a:gd name="connsiteY70" fmla="*/ 67134 h 455657"/>
                  <a:gd name="connsiteX71" fmla="*/ 401604 w 455650"/>
                  <a:gd name="connsiteY71" fmla="*/ 80271 h 455657"/>
                  <a:gd name="connsiteX72" fmla="*/ 412678 w 455650"/>
                  <a:gd name="connsiteY72" fmla="*/ 94318 h 455657"/>
                  <a:gd name="connsiteX73" fmla="*/ 422616 w 455650"/>
                  <a:gd name="connsiteY73" fmla="*/ 109193 h 455657"/>
                  <a:gd name="connsiteX74" fmla="*/ 431363 w 455650"/>
                  <a:gd name="connsiteY74" fmla="*/ 124801 h 455657"/>
                  <a:gd name="connsiteX75" fmla="*/ 438854 w 455650"/>
                  <a:gd name="connsiteY75" fmla="*/ 141047 h 455657"/>
                  <a:gd name="connsiteX76" fmla="*/ 445033 w 455650"/>
                  <a:gd name="connsiteY76" fmla="*/ 157831 h 455657"/>
                  <a:gd name="connsiteX77" fmla="*/ 449900 w 455650"/>
                  <a:gd name="connsiteY77" fmla="*/ 175047 h 455657"/>
                  <a:gd name="connsiteX78" fmla="*/ 453387 w 455650"/>
                  <a:gd name="connsiteY78" fmla="*/ 192592 h 455657"/>
                  <a:gd name="connsiteX79" fmla="*/ 455492 w 455650"/>
                  <a:gd name="connsiteY79" fmla="*/ 210357 h 455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455650" h="455657">
                    <a:moveTo>
                      <a:pt x="456183" y="228233"/>
                    </a:moveTo>
                    <a:lnTo>
                      <a:pt x="455492" y="246108"/>
                    </a:lnTo>
                    <a:lnTo>
                      <a:pt x="453387" y="263873"/>
                    </a:lnTo>
                    <a:lnTo>
                      <a:pt x="449900" y="281419"/>
                    </a:lnTo>
                    <a:lnTo>
                      <a:pt x="445033" y="298636"/>
                    </a:lnTo>
                    <a:lnTo>
                      <a:pt x="438854" y="315419"/>
                    </a:lnTo>
                    <a:lnTo>
                      <a:pt x="431363" y="331666"/>
                    </a:lnTo>
                    <a:lnTo>
                      <a:pt x="422616" y="347274"/>
                    </a:lnTo>
                    <a:lnTo>
                      <a:pt x="412678" y="362146"/>
                    </a:lnTo>
                    <a:lnTo>
                      <a:pt x="401604" y="376196"/>
                    </a:lnTo>
                    <a:lnTo>
                      <a:pt x="389460" y="389332"/>
                    </a:lnTo>
                    <a:lnTo>
                      <a:pt x="376324" y="401475"/>
                    </a:lnTo>
                    <a:lnTo>
                      <a:pt x="362276" y="412550"/>
                    </a:lnTo>
                    <a:lnTo>
                      <a:pt x="347402" y="422488"/>
                    </a:lnTo>
                    <a:lnTo>
                      <a:pt x="331794" y="431230"/>
                    </a:lnTo>
                    <a:lnTo>
                      <a:pt x="315547" y="438719"/>
                    </a:lnTo>
                    <a:lnTo>
                      <a:pt x="298764" y="444910"/>
                    </a:lnTo>
                    <a:lnTo>
                      <a:pt x="281547" y="449767"/>
                    </a:lnTo>
                    <a:lnTo>
                      <a:pt x="264001" y="453257"/>
                    </a:lnTo>
                    <a:lnTo>
                      <a:pt x="246237" y="455359"/>
                    </a:lnTo>
                    <a:lnTo>
                      <a:pt x="228361" y="456062"/>
                    </a:lnTo>
                    <a:lnTo>
                      <a:pt x="210485" y="455359"/>
                    </a:lnTo>
                    <a:lnTo>
                      <a:pt x="192721" y="453257"/>
                    </a:lnTo>
                    <a:lnTo>
                      <a:pt x="175175" y="449767"/>
                    </a:lnTo>
                    <a:lnTo>
                      <a:pt x="157959" y="444910"/>
                    </a:lnTo>
                    <a:lnTo>
                      <a:pt x="141175" y="438719"/>
                    </a:lnTo>
                    <a:lnTo>
                      <a:pt x="124929" y="431230"/>
                    </a:lnTo>
                    <a:lnTo>
                      <a:pt x="109321" y="422488"/>
                    </a:lnTo>
                    <a:lnTo>
                      <a:pt x="94446" y="412550"/>
                    </a:lnTo>
                    <a:lnTo>
                      <a:pt x="80398" y="401475"/>
                    </a:lnTo>
                    <a:lnTo>
                      <a:pt x="67262" y="389332"/>
                    </a:lnTo>
                    <a:lnTo>
                      <a:pt x="55118" y="376196"/>
                    </a:lnTo>
                    <a:lnTo>
                      <a:pt x="44044" y="362146"/>
                    </a:lnTo>
                    <a:lnTo>
                      <a:pt x="34104" y="347274"/>
                    </a:lnTo>
                    <a:lnTo>
                      <a:pt x="25364" y="331666"/>
                    </a:lnTo>
                    <a:lnTo>
                      <a:pt x="17875" y="315419"/>
                    </a:lnTo>
                    <a:lnTo>
                      <a:pt x="11682" y="298636"/>
                    </a:lnTo>
                    <a:lnTo>
                      <a:pt x="6827" y="281419"/>
                    </a:lnTo>
                    <a:lnTo>
                      <a:pt x="3337" y="263873"/>
                    </a:lnTo>
                    <a:lnTo>
                      <a:pt x="1235" y="246108"/>
                    </a:lnTo>
                    <a:lnTo>
                      <a:pt x="532" y="228233"/>
                    </a:lnTo>
                    <a:lnTo>
                      <a:pt x="1235" y="210357"/>
                    </a:lnTo>
                    <a:lnTo>
                      <a:pt x="3337" y="192592"/>
                    </a:lnTo>
                    <a:lnTo>
                      <a:pt x="6827" y="175047"/>
                    </a:lnTo>
                    <a:lnTo>
                      <a:pt x="11682" y="157831"/>
                    </a:lnTo>
                    <a:lnTo>
                      <a:pt x="17875" y="141047"/>
                    </a:lnTo>
                    <a:lnTo>
                      <a:pt x="25364" y="124801"/>
                    </a:lnTo>
                    <a:lnTo>
                      <a:pt x="34104" y="109193"/>
                    </a:lnTo>
                    <a:lnTo>
                      <a:pt x="44044" y="94318"/>
                    </a:lnTo>
                    <a:lnTo>
                      <a:pt x="55118" y="80271"/>
                    </a:lnTo>
                    <a:lnTo>
                      <a:pt x="67262" y="67134"/>
                    </a:lnTo>
                    <a:lnTo>
                      <a:pt x="80398" y="54990"/>
                    </a:lnTo>
                    <a:lnTo>
                      <a:pt x="94446" y="43916"/>
                    </a:lnTo>
                    <a:lnTo>
                      <a:pt x="109321" y="33977"/>
                    </a:lnTo>
                    <a:lnTo>
                      <a:pt x="124929" y="25236"/>
                    </a:lnTo>
                    <a:lnTo>
                      <a:pt x="141175" y="17747"/>
                    </a:lnTo>
                    <a:lnTo>
                      <a:pt x="157959" y="11554"/>
                    </a:lnTo>
                    <a:lnTo>
                      <a:pt x="175175" y="6699"/>
                    </a:lnTo>
                    <a:lnTo>
                      <a:pt x="192721" y="3209"/>
                    </a:lnTo>
                    <a:lnTo>
                      <a:pt x="210485" y="1107"/>
                    </a:lnTo>
                    <a:lnTo>
                      <a:pt x="228361" y="405"/>
                    </a:lnTo>
                    <a:lnTo>
                      <a:pt x="246237" y="1107"/>
                    </a:lnTo>
                    <a:lnTo>
                      <a:pt x="264001" y="3209"/>
                    </a:lnTo>
                    <a:lnTo>
                      <a:pt x="281547" y="6699"/>
                    </a:lnTo>
                    <a:lnTo>
                      <a:pt x="298764" y="11554"/>
                    </a:lnTo>
                    <a:lnTo>
                      <a:pt x="315547" y="17747"/>
                    </a:lnTo>
                    <a:lnTo>
                      <a:pt x="331794" y="25236"/>
                    </a:lnTo>
                    <a:lnTo>
                      <a:pt x="347402" y="33977"/>
                    </a:lnTo>
                    <a:lnTo>
                      <a:pt x="362276" y="43916"/>
                    </a:lnTo>
                    <a:lnTo>
                      <a:pt x="376324" y="54990"/>
                    </a:lnTo>
                    <a:lnTo>
                      <a:pt x="389460" y="67134"/>
                    </a:lnTo>
                    <a:lnTo>
                      <a:pt x="401604" y="80271"/>
                    </a:lnTo>
                    <a:lnTo>
                      <a:pt x="412678" y="94318"/>
                    </a:lnTo>
                    <a:lnTo>
                      <a:pt x="422616" y="109193"/>
                    </a:lnTo>
                    <a:lnTo>
                      <a:pt x="431363" y="124801"/>
                    </a:lnTo>
                    <a:lnTo>
                      <a:pt x="438854" y="141047"/>
                    </a:lnTo>
                    <a:lnTo>
                      <a:pt x="445033" y="157831"/>
                    </a:lnTo>
                    <a:lnTo>
                      <a:pt x="449900" y="175047"/>
                    </a:lnTo>
                    <a:lnTo>
                      <a:pt x="453387" y="192592"/>
                    </a:lnTo>
                    <a:lnTo>
                      <a:pt x="455492" y="210357"/>
                    </a:lnTo>
                    <a:close/>
                  </a:path>
                </a:pathLst>
              </a:custGeom>
              <a:solidFill>
                <a:srgbClr val="D23264"/>
              </a:solidFill>
              <a:ln w="258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56" name="Freihandform: Form 455">
                <a:extLst>
                  <a:ext uri="{FF2B5EF4-FFF2-40B4-BE49-F238E27FC236}">
                    <a16:creationId xmlns:a16="http://schemas.microsoft.com/office/drawing/2014/main" id="{3DDE8619-2EF8-7C68-66EA-1AC9D81BC738}"/>
                  </a:ext>
                </a:extLst>
              </p:cNvPr>
              <p:cNvSpPr/>
              <p:nvPr/>
            </p:nvSpPr>
            <p:spPr>
              <a:xfrm>
                <a:off x="8402886" y="33404057"/>
                <a:ext cx="862987" cy="241636"/>
              </a:xfrm>
              <a:custGeom>
                <a:avLst/>
                <a:gdLst>
                  <a:gd name="connsiteX0" fmla="*/ 532 w 862987"/>
                  <a:gd name="connsiteY0" fmla="*/ 415 h 241636"/>
                  <a:gd name="connsiteX1" fmla="*/ 863520 w 862987"/>
                  <a:gd name="connsiteY1" fmla="*/ 415 h 241636"/>
                  <a:gd name="connsiteX2" fmla="*/ 863520 w 862987"/>
                  <a:gd name="connsiteY2" fmla="*/ 242052 h 241636"/>
                  <a:gd name="connsiteX3" fmla="*/ 532 w 862987"/>
                  <a:gd name="connsiteY3" fmla="*/ 242052 h 241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2987" h="241636">
                    <a:moveTo>
                      <a:pt x="532" y="415"/>
                    </a:moveTo>
                    <a:lnTo>
                      <a:pt x="863520" y="415"/>
                    </a:lnTo>
                    <a:lnTo>
                      <a:pt x="863520" y="242052"/>
                    </a:lnTo>
                    <a:lnTo>
                      <a:pt x="532" y="242052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57" name="Textfeld 456">
                <a:extLst>
                  <a:ext uri="{FF2B5EF4-FFF2-40B4-BE49-F238E27FC236}">
                    <a16:creationId xmlns:a16="http://schemas.microsoft.com/office/drawing/2014/main" id="{3FD0DD38-5C9A-5CE7-2397-9FDA68CC3247}"/>
                  </a:ext>
                </a:extLst>
              </p:cNvPr>
              <p:cNvSpPr txBox="1"/>
              <p:nvPr/>
            </p:nvSpPr>
            <p:spPr>
              <a:xfrm>
                <a:off x="8345966" y="33392856"/>
                <a:ext cx="976828" cy="3158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de-DE" sz="1019" spc="0" baseline="0">
                    <a:ln/>
                    <a:solidFill>
                      <a:srgbClr val="1F2933"/>
                    </a:solidFill>
                    <a:latin typeface="Helvetica"/>
                    <a:cs typeface="Helvetica"/>
                    <a:sym typeface="Helvetica"/>
                    <a:rtl val="0"/>
                  </a:rPr>
                  <a:t>EURISCO</a:t>
                </a:r>
              </a:p>
            </p:txBody>
          </p:sp>
          <p:sp>
            <p:nvSpPr>
              <p:cNvPr id="458" name="Freihandform: Form 457">
                <a:extLst>
                  <a:ext uri="{FF2B5EF4-FFF2-40B4-BE49-F238E27FC236}">
                    <a16:creationId xmlns:a16="http://schemas.microsoft.com/office/drawing/2014/main" id="{30315708-673F-9B05-A1F8-AEC4281FB0CF}"/>
                  </a:ext>
                </a:extLst>
              </p:cNvPr>
              <p:cNvSpPr/>
              <p:nvPr/>
            </p:nvSpPr>
            <p:spPr>
              <a:xfrm>
                <a:off x="9409347" y="32022043"/>
                <a:ext cx="497080" cy="497081"/>
              </a:xfrm>
              <a:custGeom>
                <a:avLst/>
                <a:gdLst>
                  <a:gd name="connsiteX0" fmla="*/ 497637 w 497080"/>
                  <a:gd name="connsiteY0" fmla="*/ 248919 h 497081"/>
                  <a:gd name="connsiteX1" fmla="*/ 496877 w 497080"/>
                  <a:gd name="connsiteY1" fmla="*/ 268419 h 497081"/>
                  <a:gd name="connsiteX2" fmla="*/ 494582 w 497080"/>
                  <a:gd name="connsiteY2" fmla="*/ 287800 h 497081"/>
                  <a:gd name="connsiteX3" fmla="*/ 490767 w 497080"/>
                  <a:gd name="connsiteY3" fmla="*/ 306940 h 497081"/>
                  <a:gd name="connsiteX4" fmla="*/ 485469 w 497080"/>
                  <a:gd name="connsiteY4" fmla="*/ 325723 h 497081"/>
                  <a:gd name="connsiteX5" fmla="*/ 478720 w 497080"/>
                  <a:gd name="connsiteY5" fmla="*/ 344033 h 497081"/>
                  <a:gd name="connsiteX6" fmla="*/ 470556 w 497080"/>
                  <a:gd name="connsiteY6" fmla="*/ 361755 h 497081"/>
                  <a:gd name="connsiteX7" fmla="*/ 461012 w 497080"/>
                  <a:gd name="connsiteY7" fmla="*/ 378782 h 497081"/>
                  <a:gd name="connsiteX8" fmla="*/ 450173 w 497080"/>
                  <a:gd name="connsiteY8" fmla="*/ 395007 h 497081"/>
                  <a:gd name="connsiteX9" fmla="*/ 438091 w 497080"/>
                  <a:gd name="connsiteY9" fmla="*/ 410334 h 497081"/>
                  <a:gd name="connsiteX10" fmla="*/ 424852 w 497080"/>
                  <a:gd name="connsiteY10" fmla="*/ 424664 h 497081"/>
                  <a:gd name="connsiteX11" fmla="*/ 410510 w 497080"/>
                  <a:gd name="connsiteY11" fmla="*/ 437911 h 497081"/>
                  <a:gd name="connsiteX12" fmla="*/ 395183 w 497080"/>
                  <a:gd name="connsiteY12" fmla="*/ 449993 h 497081"/>
                  <a:gd name="connsiteX13" fmla="*/ 378959 w 497080"/>
                  <a:gd name="connsiteY13" fmla="*/ 460835 h 497081"/>
                  <a:gd name="connsiteX14" fmla="*/ 361941 w 497080"/>
                  <a:gd name="connsiteY14" fmla="*/ 470371 h 497081"/>
                  <a:gd name="connsiteX15" fmla="*/ 344215 w 497080"/>
                  <a:gd name="connsiteY15" fmla="*/ 478541 h 497081"/>
                  <a:gd name="connsiteX16" fmla="*/ 325903 w 497080"/>
                  <a:gd name="connsiteY16" fmla="*/ 485296 h 497081"/>
                  <a:gd name="connsiteX17" fmla="*/ 307124 w 497080"/>
                  <a:gd name="connsiteY17" fmla="*/ 490593 h 497081"/>
                  <a:gd name="connsiteX18" fmla="*/ 287983 w 497080"/>
                  <a:gd name="connsiteY18" fmla="*/ 494400 h 497081"/>
                  <a:gd name="connsiteX19" fmla="*/ 268600 w 497080"/>
                  <a:gd name="connsiteY19" fmla="*/ 496694 h 497081"/>
                  <a:gd name="connsiteX20" fmla="*/ 249096 w 497080"/>
                  <a:gd name="connsiteY20" fmla="*/ 497460 h 497081"/>
                  <a:gd name="connsiteX21" fmla="*/ 229593 w 497080"/>
                  <a:gd name="connsiteY21" fmla="*/ 496694 h 497081"/>
                  <a:gd name="connsiteX22" fmla="*/ 210228 w 497080"/>
                  <a:gd name="connsiteY22" fmla="*/ 494400 h 497081"/>
                  <a:gd name="connsiteX23" fmla="*/ 191087 w 497080"/>
                  <a:gd name="connsiteY23" fmla="*/ 490593 h 497081"/>
                  <a:gd name="connsiteX24" fmla="*/ 172291 w 497080"/>
                  <a:gd name="connsiteY24" fmla="*/ 485296 h 497081"/>
                  <a:gd name="connsiteX25" fmla="*/ 153995 w 497080"/>
                  <a:gd name="connsiteY25" fmla="*/ 478541 h 497081"/>
                  <a:gd name="connsiteX26" fmla="*/ 136269 w 497080"/>
                  <a:gd name="connsiteY26" fmla="*/ 470371 h 497081"/>
                  <a:gd name="connsiteX27" fmla="*/ 119234 w 497080"/>
                  <a:gd name="connsiteY27" fmla="*/ 460835 h 497081"/>
                  <a:gd name="connsiteX28" fmla="*/ 103010 w 497080"/>
                  <a:gd name="connsiteY28" fmla="*/ 449993 h 497081"/>
                  <a:gd name="connsiteX29" fmla="*/ 87683 w 497080"/>
                  <a:gd name="connsiteY29" fmla="*/ 437911 h 497081"/>
                  <a:gd name="connsiteX30" fmla="*/ 73358 w 497080"/>
                  <a:gd name="connsiteY30" fmla="*/ 424664 h 497081"/>
                  <a:gd name="connsiteX31" fmla="*/ 60102 w 497080"/>
                  <a:gd name="connsiteY31" fmla="*/ 410334 h 497081"/>
                  <a:gd name="connsiteX32" fmla="*/ 48021 w 497080"/>
                  <a:gd name="connsiteY32" fmla="*/ 395007 h 497081"/>
                  <a:gd name="connsiteX33" fmla="*/ 37181 w 497080"/>
                  <a:gd name="connsiteY33" fmla="*/ 378782 h 497081"/>
                  <a:gd name="connsiteX34" fmla="*/ 27654 w 497080"/>
                  <a:gd name="connsiteY34" fmla="*/ 361755 h 497081"/>
                  <a:gd name="connsiteX35" fmla="*/ 19473 w 497080"/>
                  <a:gd name="connsiteY35" fmla="*/ 344033 h 497081"/>
                  <a:gd name="connsiteX36" fmla="*/ 12724 w 497080"/>
                  <a:gd name="connsiteY36" fmla="*/ 325723 h 497081"/>
                  <a:gd name="connsiteX37" fmla="*/ 7426 w 497080"/>
                  <a:gd name="connsiteY37" fmla="*/ 306940 h 497081"/>
                  <a:gd name="connsiteX38" fmla="*/ 3629 w 497080"/>
                  <a:gd name="connsiteY38" fmla="*/ 287800 h 497081"/>
                  <a:gd name="connsiteX39" fmla="*/ 1333 w 497080"/>
                  <a:gd name="connsiteY39" fmla="*/ 268419 h 497081"/>
                  <a:gd name="connsiteX40" fmla="*/ 556 w 497080"/>
                  <a:gd name="connsiteY40" fmla="*/ 248919 h 497081"/>
                  <a:gd name="connsiteX41" fmla="*/ 1333 w 497080"/>
                  <a:gd name="connsiteY41" fmla="*/ 229419 h 497081"/>
                  <a:gd name="connsiteX42" fmla="*/ 3629 w 497080"/>
                  <a:gd name="connsiteY42" fmla="*/ 210040 h 497081"/>
                  <a:gd name="connsiteX43" fmla="*/ 7426 w 497080"/>
                  <a:gd name="connsiteY43" fmla="*/ 190899 h 497081"/>
                  <a:gd name="connsiteX44" fmla="*/ 12724 w 497080"/>
                  <a:gd name="connsiteY44" fmla="*/ 172117 h 497081"/>
                  <a:gd name="connsiteX45" fmla="*/ 19473 w 497080"/>
                  <a:gd name="connsiteY45" fmla="*/ 153808 h 497081"/>
                  <a:gd name="connsiteX46" fmla="*/ 27654 w 497080"/>
                  <a:gd name="connsiteY46" fmla="*/ 136085 h 497081"/>
                  <a:gd name="connsiteX47" fmla="*/ 37181 w 497080"/>
                  <a:gd name="connsiteY47" fmla="*/ 119059 h 497081"/>
                  <a:gd name="connsiteX48" fmla="*/ 48021 w 497080"/>
                  <a:gd name="connsiteY48" fmla="*/ 102831 h 497081"/>
                  <a:gd name="connsiteX49" fmla="*/ 60102 w 497080"/>
                  <a:gd name="connsiteY49" fmla="*/ 87506 h 497081"/>
                  <a:gd name="connsiteX50" fmla="*/ 73358 w 497080"/>
                  <a:gd name="connsiteY50" fmla="*/ 73175 h 497081"/>
                  <a:gd name="connsiteX51" fmla="*/ 87683 w 497080"/>
                  <a:gd name="connsiteY51" fmla="*/ 59928 h 497081"/>
                  <a:gd name="connsiteX52" fmla="*/ 103010 w 497080"/>
                  <a:gd name="connsiteY52" fmla="*/ 47847 h 497081"/>
                  <a:gd name="connsiteX53" fmla="*/ 119234 w 497080"/>
                  <a:gd name="connsiteY53" fmla="*/ 37004 h 497081"/>
                  <a:gd name="connsiteX54" fmla="*/ 136269 w 497080"/>
                  <a:gd name="connsiteY54" fmla="*/ 27468 h 497081"/>
                  <a:gd name="connsiteX55" fmla="*/ 153995 w 497080"/>
                  <a:gd name="connsiteY55" fmla="*/ 19299 h 497081"/>
                  <a:gd name="connsiteX56" fmla="*/ 172291 w 497080"/>
                  <a:gd name="connsiteY56" fmla="*/ 12544 h 497081"/>
                  <a:gd name="connsiteX57" fmla="*/ 191087 w 497080"/>
                  <a:gd name="connsiteY57" fmla="*/ 7247 h 497081"/>
                  <a:gd name="connsiteX58" fmla="*/ 210228 w 497080"/>
                  <a:gd name="connsiteY58" fmla="*/ 3439 h 497081"/>
                  <a:gd name="connsiteX59" fmla="*/ 229593 w 497080"/>
                  <a:gd name="connsiteY59" fmla="*/ 1145 h 497081"/>
                  <a:gd name="connsiteX60" fmla="*/ 249096 w 497080"/>
                  <a:gd name="connsiteY60" fmla="*/ 379 h 497081"/>
                  <a:gd name="connsiteX61" fmla="*/ 268600 w 497080"/>
                  <a:gd name="connsiteY61" fmla="*/ 1145 h 497081"/>
                  <a:gd name="connsiteX62" fmla="*/ 287983 w 497080"/>
                  <a:gd name="connsiteY62" fmla="*/ 3439 h 497081"/>
                  <a:gd name="connsiteX63" fmla="*/ 307124 w 497080"/>
                  <a:gd name="connsiteY63" fmla="*/ 7247 h 497081"/>
                  <a:gd name="connsiteX64" fmla="*/ 325903 w 497080"/>
                  <a:gd name="connsiteY64" fmla="*/ 12544 h 497081"/>
                  <a:gd name="connsiteX65" fmla="*/ 344215 w 497080"/>
                  <a:gd name="connsiteY65" fmla="*/ 19299 h 497081"/>
                  <a:gd name="connsiteX66" fmla="*/ 361941 w 497080"/>
                  <a:gd name="connsiteY66" fmla="*/ 27468 h 497081"/>
                  <a:gd name="connsiteX67" fmla="*/ 378959 w 497080"/>
                  <a:gd name="connsiteY67" fmla="*/ 37004 h 497081"/>
                  <a:gd name="connsiteX68" fmla="*/ 395183 w 497080"/>
                  <a:gd name="connsiteY68" fmla="*/ 47847 h 497081"/>
                  <a:gd name="connsiteX69" fmla="*/ 410510 w 497080"/>
                  <a:gd name="connsiteY69" fmla="*/ 59928 h 497081"/>
                  <a:gd name="connsiteX70" fmla="*/ 424852 w 497080"/>
                  <a:gd name="connsiteY70" fmla="*/ 73175 h 497081"/>
                  <a:gd name="connsiteX71" fmla="*/ 438091 w 497080"/>
                  <a:gd name="connsiteY71" fmla="*/ 87506 h 497081"/>
                  <a:gd name="connsiteX72" fmla="*/ 450173 w 497080"/>
                  <a:gd name="connsiteY72" fmla="*/ 102831 h 497081"/>
                  <a:gd name="connsiteX73" fmla="*/ 461012 w 497080"/>
                  <a:gd name="connsiteY73" fmla="*/ 119059 h 497081"/>
                  <a:gd name="connsiteX74" fmla="*/ 470556 w 497080"/>
                  <a:gd name="connsiteY74" fmla="*/ 136085 h 497081"/>
                  <a:gd name="connsiteX75" fmla="*/ 478720 w 497080"/>
                  <a:gd name="connsiteY75" fmla="*/ 153808 h 497081"/>
                  <a:gd name="connsiteX76" fmla="*/ 485469 w 497080"/>
                  <a:gd name="connsiteY76" fmla="*/ 172117 h 497081"/>
                  <a:gd name="connsiteX77" fmla="*/ 490767 w 497080"/>
                  <a:gd name="connsiteY77" fmla="*/ 190899 h 497081"/>
                  <a:gd name="connsiteX78" fmla="*/ 494582 w 497080"/>
                  <a:gd name="connsiteY78" fmla="*/ 210040 h 497081"/>
                  <a:gd name="connsiteX79" fmla="*/ 496877 w 497080"/>
                  <a:gd name="connsiteY79" fmla="*/ 229419 h 497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497080" h="497081">
                    <a:moveTo>
                      <a:pt x="497637" y="248919"/>
                    </a:moveTo>
                    <a:lnTo>
                      <a:pt x="496877" y="268419"/>
                    </a:lnTo>
                    <a:lnTo>
                      <a:pt x="494582" y="287800"/>
                    </a:lnTo>
                    <a:lnTo>
                      <a:pt x="490767" y="306940"/>
                    </a:lnTo>
                    <a:lnTo>
                      <a:pt x="485469" y="325723"/>
                    </a:lnTo>
                    <a:lnTo>
                      <a:pt x="478720" y="344033"/>
                    </a:lnTo>
                    <a:lnTo>
                      <a:pt x="470556" y="361755"/>
                    </a:lnTo>
                    <a:lnTo>
                      <a:pt x="461012" y="378782"/>
                    </a:lnTo>
                    <a:lnTo>
                      <a:pt x="450173" y="395007"/>
                    </a:lnTo>
                    <a:lnTo>
                      <a:pt x="438091" y="410334"/>
                    </a:lnTo>
                    <a:lnTo>
                      <a:pt x="424852" y="424664"/>
                    </a:lnTo>
                    <a:lnTo>
                      <a:pt x="410510" y="437911"/>
                    </a:lnTo>
                    <a:lnTo>
                      <a:pt x="395183" y="449993"/>
                    </a:lnTo>
                    <a:lnTo>
                      <a:pt x="378959" y="460835"/>
                    </a:lnTo>
                    <a:lnTo>
                      <a:pt x="361941" y="470371"/>
                    </a:lnTo>
                    <a:lnTo>
                      <a:pt x="344215" y="478541"/>
                    </a:lnTo>
                    <a:lnTo>
                      <a:pt x="325903" y="485296"/>
                    </a:lnTo>
                    <a:lnTo>
                      <a:pt x="307124" y="490593"/>
                    </a:lnTo>
                    <a:lnTo>
                      <a:pt x="287983" y="494400"/>
                    </a:lnTo>
                    <a:lnTo>
                      <a:pt x="268600" y="496694"/>
                    </a:lnTo>
                    <a:lnTo>
                      <a:pt x="249096" y="497460"/>
                    </a:lnTo>
                    <a:lnTo>
                      <a:pt x="229593" y="496694"/>
                    </a:lnTo>
                    <a:lnTo>
                      <a:pt x="210228" y="494400"/>
                    </a:lnTo>
                    <a:lnTo>
                      <a:pt x="191087" y="490593"/>
                    </a:lnTo>
                    <a:lnTo>
                      <a:pt x="172291" y="485296"/>
                    </a:lnTo>
                    <a:lnTo>
                      <a:pt x="153995" y="478541"/>
                    </a:lnTo>
                    <a:lnTo>
                      <a:pt x="136269" y="470371"/>
                    </a:lnTo>
                    <a:lnTo>
                      <a:pt x="119234" y="460835"/>
                    </a:lnTo>
                    <a:lnTo>
                      <a:pt x="103010" y="449993"/>
                    </a:lnTo>
                    <a:lnTo>
                      <a:pt x="87683" y="437911"/>
                    </a:lnTo>
                    <a:lnTo>
                      <a:pt x="73358" y="424664"/>
                    </a:lnTo>
                    <a:lnTo>
                      <a:pt x="60102" y="410334"/>
                    </a:lnTo>
                    <a:lnTo>
                      <a:pt x="48021" y="395007"/>
                    </a:lnTo>
                    <a:lnTo>
                      <a:pt x="37181" y="378782"/>
                    </a:lnTo>
                    <a:lnTo>
                      <a:pt x="27654" y="361755"/>
                    </a:lnTo>
                    <a:lnTo>
                      <a:pt x="19473" y="344033"/>
                    </a:lnTo>
                    <a:lnTo>
                      <a:pt x="12724" y="325723"/>
                    </a:lnTo>
                    <a:lnTo>
                      <a:pt x="7426" y="306940"/>
                    </a:lnTo>
                    <a:lnTo>
                      <a:pt x="3629" y="287800"/>
                    </a:lnTo>
                    <a:lnTo>
                      <a:pt x="1333" y="268419"/>
                    </a:lnTo>
                    <a:lnTo>
                      <a:pt x="556" y="248919"/>
                    </a:lnTo>
                    <a:lnTo>
                      <a:pt x="1333" y="229419"/>
                    </a:lnTo>
                    <a:lnTo>
                      <a:pt x="3629" y="210040"/>
                    </a:lnTo>
                    <a:lnTo>
                      <a:pt x="7426" y="190899"/>
                    </a:lnTo>
                    <a:lnTo>
                      <a:pt x="12724" y="172117"/>
                    </a:lnTo>
                    <a:lnTo>
                      <a:pt x="19473" y="153808"/>
                    </a:lnTo>
                    <a:lnTo>
                      <a:pt x="27654" y="136085"/>
                    </a:lnTo>
                    <a:lnTo>
                      <a:pt x="37181" y="119059"/>
                    </a:lnTo>
                    <a:lnTo>
                      <a:pt x="48021" y="102831"/>
                    </a:lnTo>
                    <a:lnTo>
                      <a:pt x="60102" y="87506"/>
                    </a:lnTo>
                    <a:lnTo>
                      <a:pt x="73358" y="73175"/>
                    </a:lnTo>
                    <a:lnTo>
                      <a:pt x="87683" y="59928"/>
                    </a:lnTo>
                    <a:lnTo>
                      <a:pt x="103010" y="47847"/>
                    </a:lnTo>
                    <a:lnTo>
                      <a:pt x="119234" y="37004"/>
                    </a:lnTo>
                    <a:lnTo>
                      <a:pt x="136269" y="27468"/>
                    </a:lnTo>
                    <a:lnTo>
                      <a:pt x="153995" y="19299"/>
                    </a:lnTo>
                    <a:lnTo>
                      <a:pt x="172291" y="12544"/>
                    </a:lnTo>
                    <a:lnTo>
                      <a:pt x="191087" y="7247"/>
                    </a:lnTo>
                    <a:lnTo>
                      <a:pt x="210228" y="3439"/>
                    </a:lnTo>
                    <a:lnTo>
                      <a:pt x="229593" y="1145"/>
                    </a:lnTo>
                    <a:lnTo>
                      <a:pt x="249096" y="379"/>
                    </a:lnTo>
                    <a:lnTo>
                      <a:pt x="268600" y="1145"/>
                    </a:lnTo>
                    <a:lnTo>
                      <a:pt x="287983" y="3439"/>
                    </a:lnTo>
                    <a:lnTo>
                      <a:pt x="307124" y="7247"/>
                    </a:lnTo>
                    <a:lnTo>
                      <a:pt x="325903" y="12544"/>
                    </a:lnTo>
                    <a:lnTo>
                      <a:pt x="344215" y="19299"/>
                    </a:lnTo>
                    <a:lnTo>
                      <a:pt x="361941" y="27468"/>
                    </a:lnTo>
                    <a:lnTo>
                      <a:pt x="378959" y="37004"/>
                    </a:lnTo>
                    <a:lnTo>
                      <a:pt x="395183" y="47847"/>
                    </a:lnTo>
                    <a:lnTo>
                      <a:pt x="410510" y="59928"/>
                    </a:lnTo>
                    <a:lnTo>
                      <a:pt x="424852" y="73175"/>
                    </a:lnTo>
                    <a:lnTo>
                      <a:pt x="438091" y="87506"/>
                    </a:lnTo>
                    <a:lnTo>
                      <a:pt x="450173" y="102831"/>
                    </a:lnTo>
                    <a:lnTo>
                      <a:pt x="461012" y="119059"/>
                    </a:lnTo>
                    <a:lnTo>
                      <a:pt x="470556" y="136085"/>
                    </a:lnTo>
                    <a:lnTo>
                      <a:pt x="478720" y="153808"/>
                    </a:lnTo>
                    <a:lnTo>
                      <a:pt x="485469" y="172117"/>
                    </a:lnTo>
                    <a:lnTo>
                      <a:pt x="490767" y="190899"/>
                    </a:lnTo>
                    <a:lnTo>
                      <a:pt x="494582" y="210040"/>
                    </a:lnTo>
                    <a:lnTo>
                      <a:pt x="496877" y="229419"/>
                    </a:lnTo>
                    <a:close/>
                  </a:path>
                </a:pathLst>
              </a:custGeom>
              <a:solidFill>
                <a:srgbClr val="D23264"/>
              </a:solidFill>
              <a:ln w="258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59" name="Freihandform: Form 458">
                <a:extLst>
                  <a:ext uri="{FF2B5EF4-FFF2-40B4-BE49-F238E27FC236}">
                    <a16:creationId xmlns:a16="http://schemas.microsoft.com/office/drawing/2014/main" id="{BC38E31E-6950-A49A-461A-12D713694688}"/>
                  </a:ext>
                </a:extLst>
              </p:cNvPr>
              <p:cNvSpPr/>
              <p:nvPr/>
            </p:nvSpPr>
            <p:spPr>
              <a:xfrm>
                <a:off x="9140095" y="32536384"/>
                <a:ext cx="1035584" cy="241636"/>
              </a:xfrm>
              <a:custGeom>
                <a:avLst/>
                <a:gdLst>
                  <a:gd name="connsiteX0" fmla="*/ 556 w 1035584"/>
                  <a:gd name="connsiteY0" fmla="*/ 390 h 241636"/>
                  <a:gd name="connsiteX1" fmla="*/ 1036141 w 1035584"/>
                  <a:gd name="connsiteY1" fmla="*/ 390 h 241636"/>
                  <a:gd name="connsiteX2" fmla="*/ 1036141 w 1035584"/>
                  <a:gd name="connsiteY2" fmla="*/ 242027 h 241636"/>
                  <a:gd name="connsiteX3" fmla="*/ 556 w 1035584"/>
                  <a:gd name="connsiteY3" fmla="*/ 242027 h 241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5584" h="241636">
                    <a:moveTo>
                      <a:pt x="556" y="390"/>
                    </a:moveTo>
                    <a:lnTo>
                      <a:pt x="1036141" y="390"/>
                    </a:lnTo>
                    <a:lnTo>
                      <a:pt x="1036141" y="242027"/>
                    </a:lnTo>
                    <a:lnTo>
                      <a:pt x="556" y="242027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60" name="Textfeld 459">
                <a:extLst>
                  <a:ext uri="{FF2B5EF4-FFF2-40B4-BE49-F238E27FC236}">
                    <a16:creationId xmlns:a16="http://schemas.microsoft.com/office/drawing/2014/main" id="{AD8FF774-074B-5CAB-EA3A-400F59CCAD99}"/>
                  </a:ext>
                </a:extLst>
              </p:cNvPr>
              <p:cNvSpPr txBox="1"/>
              <p:nvPr/>
            </p:nvSpPr>
            <p:spPr>
              <a:xfrm>
                <a:off x="9074544" y="32525184"/>
                <a:ext cx="1166685" cy="3158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de-DE" sz="1019" spc="0" baseline="0">
                    <a:ln/>
                    <a:solidFill>
                      <a:srgbClr val="1F2933"/>
                    </a:solidFill>
                    <a:latin typeface="Helvetica"/>
                    <a:cs typeface="Helvetica"/>
                    <a:sym typeface="Helvetica"/>
                    <a:rtl val="0"/>
                  </a:rPr>
                  <a:t>Darwin Core</a:t>
                </a:r>
              </a:p>
            </p:txBody>
          </p:sp>
          <p:sp>
            <p:nvSpPr>
              <p:cNvPr id="461" name="Freihandform: Form 460">
                <a:extLst>
                  <a:ext uri="{FF2B5EF4-FFF2-40B4-BE49-F238E27FC236}">
                    <a16:creationId xmlns:a16="http://schemas.microsoft.com/office/drawing/2014/main" id="{B977617B-609D-DD98-AE98-39BCE5FDA615}"/>
                  </a:ext>
                </a:extLst>
              </p:cNvPr>
              <p:cNvSpPr/>
              <p:nvPr/>
            </p:nvSpPr>
            <p:spPr>
              <a:xfrm>
                <a:off x="4547501" y="31417462"/>
                <a:ext cx="455657" cy="455657"/>
              </a:xfrm>
              <a:custGeom>
                <a:avLst/>
                <a:gdLst>
                  <a:gd name="connsiteX0" fmla="*/ 456072 w 455657"/>
                  <a:gd name="connsiteY0" fmla="*/ 228189 h 455657"/>
                  <a:gd name="connsiteX1" fmla="*/ 455364 w 455657"/>
                  <a:gd name="connsiteY1" fmla="*/ 246064 h 455657"/>
                  <a:gd name="connsiteX2" fmla="*/ 453259 w 455657"/>
                  <a:gd name="connsiteY2" fmla="*/ 263829 h 455657"/>
                  <a:gd name="connsiteX3" fmla="*/ 449772 w 455657"/>
                  <a:gd name="connsiteY3" fmla="*/ 281374 h 455657"/>
                  <a:gd name="connsiteX4" fmla="*/ 444922 w 455657"/>
                  <a:gd name="connsiteY4" fmla="*/ 298592 h 455657"/>
                  <a:gd name="connsiteX5" fmla="*/ 438726 w 455657"/>
                  <a:gd name="connsiteY5" fmla="*/ 315375 h 455657"/>
                  <a:gd name="connsiteX6" fmla="*/ 431235 w 455657"/>
                  <a:gd name="connsiteY6" fmla="*/ 331620 h 455657"/>
                  <a:gd name="connsiteX7" fmla="*/ 422502 w 455657"/>
                  <a:gd name="connsiteY7" fmla="*/ 347230 h 455657"/>
                  <a:gd name="connsiteX8" fmla="*/ 412560 w 455657"/>
                  <a:gd name="connsiteY8" fmla="*/ 362103 h 455657"/>
                  <a:gd name="connsiteX9" fmla="*/ 401480 w 455657"/>
                  <a:gd name="connsiteY9" fmla="*/ 376152 h 455657"/>
                  <a:gd name="connsiteX10" fmla="*/ 389346 w 455657"/>
                  <a:gd name="connsiteY10" fmla="*/ 389288 h 455657"/>
                  <a:gd name="connsiteX11" fmla="*/ 376211 w 455657"/>
                  <a:gd name="connsiteY11" fmla="*/ 401431 h 455657"/>
                  <a:gd name="connsiteX12" fmla="*/ 362162 w 455657"/>
                  <a:gd name="connsiteY12" fmla="*/ 412506 h 455657"/>
                  <a:gd name="connsiteX13" fmla="*/ 347284 w 455657"/>
                  <a:gd name="connsiteY13" fmla="*/ 422444 h 455657"/>
                  <a:gd name="connsiteX14" fmla="*/ 331681 w 455657"/>
                  <a:gd name="connsiteY14" fmla="*/ 431186 h 455657"/>
                  <a:gd name="connsiteX15" fmla="*/ 315422 w 455657"/>
                  <a:gd name="connsiteY15" fmla="*/ 438675 h 455657"/>
                  <a:gd name="connsiteX16" fmla="*/ 298646 w 455657"/>
                  <a:gd name="connsiteY16" fmla="*/ 444867 h 455657"/>
                  <a:gd name="connsiteX17" fmla="*/ 281421 w 455657"/>
                  <a:gd name="connsiteY17" fmla="*/ 449723 h 455657"/>
                  <a:gd name="connsiteX18" fmla="*/ 263885 w 455657"/>
                  <a:gd name="connsiteY18" fmla="*/ 453213 h 455657"/>
                  <a:gd name="connsiteX19" fmla="*/ 246124 w 455657"/>
                  <a:gd name="connsiteY19" fmla="*/ 455316 h 455657"/>
                  <a:gd name="connsiteX20" fmla="*/ 228243 w 455657"/>
                  <a:gd name="connsiteY20" fmla="*/ 456018 h 455657"/>
                  <a:gd name="connsiteX21" fmla="*/ 210362 w 455657"/>
                  <a:gd name="connsiteY21" fmla="*/ 455316 h 455657"/>
                  <a:gd name="connsiteX22" fmla="*/ 192602 w 455657"/>
                  <a:gd name="connsiteY22" fmla="*/ 453213 h 455657"/>
                  <a:gd name="connsiteX23" fmla="*/ 175049 w 455657"/>
                  <a:gd name="connsiteY23" fmla="*/ 449723 h 455657"/>
                  <a:gd name="connsiteX24" fmla="*/ 157841 w 455657"/>
                  <a:gd name="connsiteY24" fmla="*/ 444867 h 455657"/>
                  <a:gd name="connsiteX25" fmla="*/ 141065 w 455657"/>
                  <a:gd name="connsiteY25" fmla="*/ 438675 h 455657"/>
                  <a:gd name="connsiteX26" fmla="*/ 124806 w 455657"/>
                  <a:gd name="connsiteY26" fmla="*/ 431186 h 455657"/>
                  <a:gd name="connsiteX27" fmla="*/ 109203 w 455657"/>
                  <a:gd name="connsiteY27" fmla="*/ 422444 h 455657"/>
                  <a:gd name="connsiteX28" fmla="*/ 94325 w 455657"/>
                  <a:gd name="connsiteY28" fmla="*/ 412506 h 455657"/>
                  <a:gd name="connsiteX29" fmla="*/ 80276 w 455657"/>
                  <a:gd name="connsiteY29" fmla="*/ 401431 h 455657"/>
                  <a:gd name="connsiteX30" fmla="*/ 67141 w 455657"/>
                  <a:gd name="connsiteY30" fmla="*/ 389288 h 455657"/>
                  <a:gd name="connsiteX31" fmla="*/ 55007 w 455657"/>
                  <a:gd name="connsiteY31" fmla="*/ 376152 h 455657"/>
                  <a:gd name="connsiteX32" fmla="*/ 43927 w 455657"/>
                  <a:gd name="connsiteY32" fmla="*/ 362103 h 455657"/>
                  <a:gd name="connsiteX33" fmla="*/ 33985 w 455657"/>
                  <a:gd name="connsiteY33" fmla="*/ 347230 h 455657"/>
                  <a:gd name="connsiteX34" fmla="*/ 25251 w 455657"/>
                  <a:gd name="connsiteY34" fmla="*/ 331620 h 455657"/>
                  <a:gd name="connsiteX35" fmla="*/ 17761 w 455657"/>
                  <a:gd name="connsiteY35" fmla="*/ 315375 h 455657"/>
                  <a:gd name="connsiteX36" fmla="*/ 11565 w 455657"/>
                  <a:gd name="connsiteY36" fmla="*/ 298592 h 455657"/>
                  <a:gd name="connsiteX37" fmla="*/ 6714 w 455657"/>
                  <a:gd name="connsiteY37" fmla="*/ 281374 h 455657"/>
                  <a:gd name="connsiteX38" fmla="*/ 3211 w 455657"/>
                  <a:gd name="connsiteY38" fmla="*/ 263829 h 455657"/>
                  <a:gd name="connsiteX39" fmla="*/ 1122 w 455657"/>
                  <a:gd name="connsiteY39" fmla="*/ 246064 h 455657"/>
                  <a:gd name="connsiteX40" fmla="*/ 415 w 455657"/>
                  <a:gd name="connsiteY40" fmla="*/ 228189 h 455657"/>
                  <a:gd name="connsiteX41" fmla="*/ 1122 w 455657"/>
                  <a:gd name="connsiteY41" fmla="*/ 210314 h 455657"/>
                  <a:gd name="connsiteX42" fmla="*/ 3211 w 455657"/>
                  <a:gd name="connsiteY42" fmla="*/ 192548 h 455657"/>
                  <a:gd name="connsiteX43" fmla="*/ 6714 w 455657"/>
                  <a:gd name="connsiteY43" fmla="*/ 175004 h 455657"/>
                  <a:gd name="connsiteX44" fmla="*/ 11565 w 455657"/>
                  <a:gd name="connsiteY44" fmla="*/ 157785 h 455657"/>
                  <a:gd name="connsiteX45" fmla="*/ 17761 w 455657"/>
                  <a:gd name="connsiteY45" fmla="*/ 141002 h 455657"/>
                  <a:gd name="connsiteX46" fmla="*/ 25251 w 455657"/>
                  <a:gd name="connsiteY46" fmla="*/ 124757 h 455657"/>
                  <a:gd name="connsiteX47" fmla="*/ 33985 w 455657"/>
                  <a:gd name="connsiteY47" fmla="*/ 109149 h 455657"/>
                  <a:gd name="connsiteX48" fmla="*/ 43927 w 455657"/>
                  <a:gd name="connsiteY48" fmla="*/ 94275 h 455657"/>
                  <a:gd name="connsiteX49" fmla="*/ 55007 w 455657"/>
                  <a:gd name="connsiteY49" fmla="*/ 80227 h 455657"/>
                  <a:gd name="connsiteX50" fmla="*/ 67141 w 455657"/>
                  <a:gd name="connsiteY50" fmla="*/ 67090 h 455657"/>
                  <a:gd name="connsiteX51" fmla="*/ 80276 w 455657"/>
                  <a:gd name="connsiteY51" fmla="*/ 54946 h 455657"/>
                  <a:gd name="connsiteX52" fmla="*/ 94325 w 455657"/>
                  <a:gd name="connsiteY52" fmla="*/ 43871 h 455657"/>
                  <a:gd name="connsiteX53" fmla="*/ 109203 w 455657"/>
                  <a:gd name="connsiteY53" fmla="*/ 33933 h 455657"/>
                  <a:gd name="connsiteX54" fmla="*/ 124806 w 455657"/>
                  <a:gd name="connsiteY54" fmla="*/ 25192 h 455657"/>
                  <a:gd name="connsiteX55" fmla="*/ 141065 w 455657"/>
                  <a:gd name="connsiteY55" fmla="*/ 17703 h 455657"/>
                  <a:gd name="connsiteX56" fmla="*/ 157841 w 455657"/>
                  <a:gd name="connsiteY56" fmla="*/ 11511 h 455657"/>
                  <a:gd name="connsiteX57" fmla="*/ 175049 w 455657"/>
                  <a:gd name="connsiteY57" fmla="*/ 6655 h 455657"/>
                  <a:gd name="connsiteX58" fmla="*/ 192602 w 455657"/>
                  <a:gd name="connsiteY58" fmla="*/ 3165 h 455657"/>
                  <a:gd name="connsiteX59" fmla="*/ 210362 w 455657"/>
                  <a:gd name="connsiteY59" fmla="*/ 1063 h 455657"/>
                  <a:gd name="connsiteX60" fmla="*/ 228243 w 455657"/>
                  <a:gd name="connsiteY60" fmla="*/ 361 h 455657"/>
                  <a:gd name="connsiteX61" fmla="*/ 246124 w 455657"/>
                  <a:gd name="connsiteY61" fmla="*/ 1063 h 455657"/>
                  <a:gd name="connsiteX62" fmla="*/ 263885 w 455657"/>
                  <a:gd name="connsiteY62" fmla="*/ 3165 h 455657"/>
                  <a:gd name="connsiteX63" fmla="*/ 281421 w 455657"/>
                  <a:gd name="connsiteY63" fmla="*/ 6655 h 455657"/>
                  <a:gd name="connsiteX64" fmla="*/ 298646 w 455657"/>
                  <a:gd name="connsiteY64" fmla="*/ 11511 h 455657"/>
                  <a:gd name="connsiteX65" fmla="*/ 315422 w 455657"/>
                  <a:gd name="connsiteY65" fmla="*/ 17703 h 455657"/>
                  <a:gd name="connsiteX66" fmla="*/ 331681 w 455657"/>
                  <a:gd name="connsiteY66" fmla="*/ 25192 h 455657"/>
                  <a:gd name="connsiteX67" fmla="*/ 347284 w 455657"/>
                  <a:gd name="connsiteY67" fmla="*/ 33933 h 455657"/>
                  <a:gd name="connsiteX68" fmla="*/ 362162 w 455657"/>
                  <a:gd name="connsiteY68" fmla="*/ 43871 h 455657"/>
                  <a:gd name="connsiteX69" fmla="*/ 376211 w 455657"/>
                  <a:gd name="connsiteY69" fmla="*/ 54946 h 455657"/>
                  <a:gd name="connsiteX70" fmla="*/ 389346 w 455657"/>
                  <a:gd name="connsiteY70" fmla="*/ 67090 h 455657"/>
                  <a:gd name="connsiteX71" fmla="*/ 401480 w 455657"/>
                  <a:gd name="connsiteY71" fmla="*/ 80227 h 455657"/>
                  <a:gd name="connsiteX72" fmla="*/ 412560 w 455657"/>
                  <a:gd name="connsiteY72" fmla="*/ 94275 h 455657"/>
                  <a:gd name="connsiteX73" fmla="*/ 422502 w 455657"/>
                  <a:gd name="connsiteY73" fmla="*/ 109149 h 455657"/>
                  <a:gd name="connsiteX74" fmla="*/ 431235 w 455657"/>
                  <a:gd name="connsiteY74" fmla="*/ 124757 h 455657"/>
                  <a:gd name="connsiteX75" fmla="*/ 438726 w 455657"/>
                  <a:gd name="connsiteY75" fmla="*/ 141002 h 455657"/>
                  <a:gd name="connsiteX76" fmla="*/ 444922 w 455657"/>
                  <a:gd name="connsiteY76" fmla="*/ 157785 h 455657"/>
                  <a:gd name="connsiteX77" fmla="*/ 449772 w 455657"/>
                  <a:gd name="connsiteY77" fmla="*/ 175004 h 455657"/>
                  <a:gd name="connsiteX78" fmla="*/ 453259 w 455657"/>
                  <a:gd name="connsiteY78" fmla="*/ 192548 h 455657"/>
                  <a:gd name="connsiteX79" fmla="*/ 455364 w 455657"/>
                  <a:gd name="connsiteY79" fmla="*/ 210314 h 455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455657" h="455657">
                    <a:moveTo>
                      <a:pt x="456072" y="228189"/>
                    </a:moveTo>
                    <a:lnTo>
                      <a:pt x="455364" y="246064"/>
                    </a:lnTo>
                    <a:lnTo>
                      <a:pt x="453259" y="263829"/>
                    </a:lnTo>
                    <a:lnTo>
                      <a:pt x="449772" y="281374"/>
                    </a:lnTo>
                    <a:lnTo>
                      <a:pt x="444922" y="298592"/>
                    </a:lnTo>
                    <a:lnTo>
                      <a:pt x="438726" y="315375"/>
                    </a:lnTo>
                    <a:lnTo>
                      <a:pt x="431235" y="331620"/>
                    </a:lnTo>
                    <a:lnTo>
                      <a:pt x="422502" y="347230"/>
                    </a:lnTo>
                    <a:lnTo>
                      <a:pt x="412560" y="362103"/>
                    </a:lnTo>
                    <a:lnTo>
                      <a:pt x="401480" y="376152"/>
                    </a:lnTo>
                    <a:lnTo>
                      <a:pt x="389346" y="389288"/>
                    </a:lnTo>
                    <a:lnTo>
                      <a:pt x="376211" y="401431"/>
                    </a:lnTo>
                    <a:lnTo>
                      <a:pt x="362162" y="412506"/>
                    </a:lnTo>
                    <a:lnTo>
                      <a:pt x="347284" y="422444"/>
                    </a:lnTo>
                    <a:lnTo>
                      <a:pt x="331681" y="431186"/>
                    </a:lnTo>
                    <a:lnTo>
                      <a:pt x="315422" y="438675"/>
                    </a:lnTo>
                    <a:lnTo>
                      <a:pt x="298646" y="444867"/>
                    </a:lnTo>
                    <a:lnTo>
                      <a:pt x="281421" y="449723"/>
                    </a:lnTo>
                    <a:lnTo>
                      <a:pt x="263885" y="453213"/>
                    </a:lnTo>
                    <a:lnTo>
                      <a:pt x="246124" y="455316"/>
                    </a:lnTo>
                    <a:lnTo>
                      <a:pt x="228243" y="456018"/>
                    </a:lnTo>
                    <a:lnTo>
                      <a:pt x="210362" y="455316"/>
                    </a:lnTo>
                    <a:lnTo>
                      <a:pt x="192602" y="453213"/>
                    </a:lnTo>
                    <a:lnTo>
                      <a:pt x="175049" y="449723"/>
                    </a:lnTo>
                    <a:lnTo>
                      <a:pt x="157841" y="444867"/>
                    </a:lnTo>
                    <a:lnTo>
                      <a:pt x="141065" y="438675"/>
                    </a:lnTo>
                    <a:lnTo>
                      <a:pt x="124806" y="431186"/>
                    </a:lnTo>
                    <a:lnTo>
                      <a:pt x="109203" y="422444"/>
                    </a:lnTo>
                    <a:lnTo>
                      <a:pt x="94325" y="412506"/>
                    </a:lnTo>
                    <a:lnTo>
                      <a:pt x="80276" y="401431"/>
                    </a:lnTo>
                    <a:lnTo>
                      <a:pt x="67141" y="389288"/>
                    </a:lnTo>
                    <a:lnTo>
                      <a:pt x="55007" y="376152"/>
                    </a:lnTo>
                    <a:lnTo>
                      <a:pt x="43927" y="362103"/>
                    </a:lnTo>
                    <a:lnTo>
                      <a:pt x="33985" y="347230"/>
                    </a:lnTo>
                    <a:lnTo>
                      <a:pt x="25251" y="331620"/>
                    </a:lnTo>
                    <a:lnTo>
                      <a:pt x="17761" y="315375"/>
                    </a:lnTo>
                    <a:lnTo>
                      <a:pt x="11565" y="298592"/>
                    </a:lnTo>
                    <a:lnTo>
                      <a:pt x="6714" y="281374"/>
                    </a:lnTo>
                    <a:lnTo>
                      <a:pt x="3211" y="263829"/>
                    </a:lnTo>
                    <a:lnTo>
                      <a:pt x="1122" y="246064"/>
                    </a:lnTo>
                    <a:lnTo>
                      <a:pt x="415" y="228189"/>
                    </a:lnTo>
                    <a:lnTo>
                      <a:pt x="1122" y="210314"/>
                    </a:lnTo>
                    <a:lnTo>
                      <a:pt x="3211" y="192548"/>
                    </a:lnTo>
                    <a:lnTo>
                      <a:pt x="6714" y="175004"/>
                    </a:lnTo>
                    <a:lnTo>
                      <a:pt x="11565" y="157785"/>
                    </a:lnTo>
                    <a:lnTo>
                      <a:pt x="17761" y="141002"/>
                    </a:lnTo>
                    <a:lnTo>
                      <a:pt x="25251" y="124757"/>
                    </a:lnTo>
                    <a:lnTo>
                      <a:pt x="33985" y="109149"/>
                    </a:lnTo>
                    <a:lnTo>
                      <a:pt x="43927" y="94275"/>
                    </a:lnTo>
                    <a:lnTo>
                      <a:pt x="55007" y="80227"/>
                    </a:lnTo>
                    <a:lnTo>
                      <a:pt x="67141" y="67090"/>
                    </a:lnTo>
                    <a:lnTo>
                      <a:pt x="80276" y="54946"/>
                    </a:lnTo>
                    <a:lnTo>
                      <a:pt x="94325" y="43871"/>
                    </a:lnTo>
                    <a:lnTo>
                      <a:pt x="109203" y="33933"/>
                    </a:lnTo>
                    <a:lnTo>
                      <a:pt x="124806" y="25192"/>
                    </a:lnTo>
                    <a:lnTo>
                      <a:pt x="141065" y="17703"/>
                    </a:lnTo>
                    <a:lnTo>
                      <a:pt x="157841" y="11511"/>
                    </a:lnTo>
                    <a:lnTo>
                      <a:pt x="175049" y="6655"/>
                    </a:lnTo>
                    <a:lnTo>
                      <a:pt x="192602" y="3165"/>
                    </a:lnTo>
                    <a:lnTo>
                      <a:pt x="210362" y="1063"/>
                    </a:lnTo>
                    <a:lnTo>
                      <a:pt x="228243" y="361"/>
                    </a:lnTo>
                    <a:lnTo>
                      <a:pt x="246124" y="1063"/>
                    </a:lnTo>
                    <a:lnTo>
                      <a:pt x="263885" y="3165"/>
                    </a:lnTo>
                    <a:lnTo>
                      <a:pt x="281421" y="6655"/>
                    </a:lnTo>
                    <a:lnTo>
                      <a:pt x="298646" y="11511"/>
                    </a:lnTo>
                    <a:lnTo>
                      <a:pt x="315422" y="17703"/>
                    </a:lnTo>
                    <a:lnTo>
                      <a:pt x="331681" y="25192"/>
                    </a:lnTo>
                    <a:lnTo>
                      <a:pt x="347284" y="33933"/>
                    </a:lnTo>
                    <a:lnTo>
                      <a:pt x="362162" y="43871"/>
                    </a:lnTo>
                    <a:lnTo>
                      <a:pt x="376211" y="54946"/>
                    </a:lnTo>
                    <a:lnTo>
                      <a:pt x="389346" y="67090"/>
                    </a:lnTo>
                    <a:lnTo>
                      <a:pt x="401480" y="80227"/>
                    </a:lnTo>
                    <a:lnTo>
                      <a:pt x="412560" y="94275"/>
                    </a:lnTo>
                    <a:lnTo>
                      <a:pt x="422502" y="109149"/>
                    </a:lnTo>
                    <a:lnTo>
                      <a:pt x="431235" y="124757"/>
                    </a:lnTo>
                    <a:lnTo>
                      <a:pt x="438726" y="141002"/>
                    </a:lnTo>
                    <a:lnTo>
                      <a:pt x="444922" y="157785"/>
                    </a:lnTo>
                    <a:lnTo>
                      <a:pt x="449772" y="175004"/>
                    </a:lnTo>
                    <a:lnTo>
                      <a:pt x="453259" y="192548"/>
                    </a:lnTo>
                    <a:lnTo>
                      <a:pt x="455364" y="210314"/>
                    </a:lnTo>
                    <a:close/>
                  </a:path>
                </a:pathLst>
              </a:custGeom>
              <a:solidFill>
                <a:srgbClr val="A0235A"/>
              </a:solidFill>
              <a:ln w="258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62" name="Freihandform: Form 461">
                <a:extLst>
                  <a:ext uri="{FF2B5EF4-FFF2-40B4-BE49-F238E27FC236}">
                    <a16:creationId xmlns:a16="http://schemas.microsoft.com/office/drawing/2014/main" id="{3FEC44D2-65B0-EDAD-245E-D02B9383BDD9}"/>
                  </a:ext>
                </a:extLst>
              </p:cNvPr>
              <p:cNvSpPr/>
              <p:nvPr/>
            </p:nvSpPr>
            <p:spPr>
              <a:xfrm>
                <a:off x="4585472" y="31890379"/>
                <a:ext cx="379714" cy="241636"/>
              </a:xfrm>
              <a:custGeom>
                <a:avLst/>
                <a:gdLst>
                  <a:gd name="connsiteX0" fmla="*/ 415 w 379714"/>
                  <a:gd name="connsiteY0" fmla="*/ 371 h 241636"/>
                  <a:gd name="connsiteX1" fmla="*/ 380129 w 379714"/>
                  <a:gd name="connsiteY1" fmla="*/ 371 h 241636"/>
                  <a:gd name="connsiteX2" fmla="*/ 380129 w 379714"/>
                  <a:gd name="connsiteY2" fmla="*/ 242008 h 241636"/>
                  <a:gd name="connsiteX3" fmla="*/ 415 w 379714"/>
                  <a:gd name="connsiteY3" fmla="*/ 242008 h 241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9714" h="241636">
                    <a:moveTo>
                      <a:pt x="415" y="371"/>
                    </a:moveTo>
                    <a:lnTo>
                      <a:pt x="380129" y="371"/>
                    </a:lnTo>
                    <a:lnTo>
                      <a:pt x="380129" y="242008"/>
                    </a:lnTo>
                    <a:lnTo>
                      <a:pt x="415" y="242008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63" name="Textfeld 462">
                <a:extLst>
                  <a:ext uri="{FF2B5EF4-FFF2-40B4-BE49-F238E27FC236}">
                    <a16:creationId xmlns:a16="http://schemas.microsoft.com/office/drawing/2014/main" id="{4AE209DF-BA1F-8020-A621-CE38E79E9D82}"/>
                  </a:ext>
                </a:extLst>
              </p:cNvPr>
              <p:cNvSpPr txBox="1"/>
              <p:nvPr/>
            </p:nvSpPr>
            <p:spPr>
              <a:xfrm>
                <a:off x="4537182" y="31879179"/>
                <a:ext cx="476295" cy="3158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de-DE" sz="1019" spc="0" baseline="0">
                    <a:ln/>
                    <a:solidFill>
                      <a:srgbClr val="1F2933"/>
                    </a:solidFill>
                    <a:latin typeface="Helvetica"/>
                    <a:cs typeface="Helvetica"/>
                    <a:sym typeface="Helvetica"/>
                    <a:rtl val="0"/>
                  </a:rPr>
                  <a:t>DDI</a:t>
                </a:r>
              </a:p>
            </p:txBody>
          </p:sp>
          <p:sp>
            <p:nvSpPr>
              <p:cNvPr id="464" name="Freihandform: Form 463">
                <a:extLst>
                  <a:ext uri="{FF2B5EF4-FFF2-40B4-BE49-F238E27FC236}">
                    <a16:creationId xmlns:a16="http://schemas.microsoft.com/office/drawing/2014/main" id="{8EAF192A-2BE8-2975-5670-D1B836F40819}"/>
                  </a:ext>
                </a:extLst>
              </p:cNvPr>
              <p:cNvSpPr/>
              <p:nvPr/>
            </p:nvSpPr>
            <p:spPr>
              <a:xfrm>
                <a:off x="1756773" y="33000843"/>
                <a:ext cx="579927" cy="579927"/>
              </a:xfrm>
              <a:custGeom>
                <a:avLst/>
                <a:gdLst>
                  <a:gd name="connsiteX0" fmla="*/ 580263 w 579927"/>
                  <a:gd name="connsiteY0" fmla="*/ 290372 h 579927"/>
                  <a:gd name="connsiteX1" fmla="*/ 579366 w 579927"/>
                  <a:gd name="connsiteY1" fmla="*/ 313122 h 579927"/>
                  <a:gd name="connsiteX2" fmla="*/ 576691 w 579927"/>
                  <a:gd name="connsiteY2" fmla="*/ 335733 h 579927"/>
                  <a:gd name="connsiteX3" fmla="*/ 572254 w 579927"/>
                  <a:gd name="connsiteY3" fmla="*/ 358063 h 579927"/>
                  <a:gd name="connsiteX4" fmla="*/ 566075 w 579927"/>
                  <a:gd name="connsiteY4" fmla="*/ 379976 h 579927"/>
                  <a:gd name="connsiteX5" fmla="*/ 558188 w 579927"/>
                  <a:gd name="connsiteY5" fmla="*/ 401337 h 579927"/>
                  <a:gd name="connsiteX6" fmla="*/ 548661 w 579927"/>
                  <a:gd name="connsiteY6" fmla="*/ 422012 h 579927"/>
                  <a:gd name="connsiteX7" fmla="*/ 537528 w 579927"/>
                  <a:gd name="connsiteY7" fmla="*/ 441878 h 579927"/>
                  <a:gd name="connsiteX8" fmla="*/ 524877 w 579927"/>
                  <a:gd name="connsiteY8" fmla="*/ 460809 h 579927"/>
                  <a:gd name="connsiteX9" fmla="*/ 510793 w 579927"/>
                  <a:gd name="connsiteY9" fmla="*/ 478688 h 579927"/>
                  <a:gd name="connsiteX10" fmla="*/ 495328 w 579927"/>
                  <a:gd name="connsiteY10" fmla="*/ 495408 h 579927"/>
                  <a:gd name="connsiteX11" fmla="*/ 478621 w 579927"/>
                  <a:gd name="connsiteY11" fmla="*/ 510862 h 579927"/>
                  <a:gd name="connsiteX12" fmla="*/ 460739 w 579927"/>
                  <a:gd name="connsiteY12" fmla="*/ 524958 h 579927"/>
                  <a:gd name="connsiteX13" fmla="*/ 441806 w 579927"/>
                  <a:gd name="connsiteY13" fmla="*/ 537608 h 579927"/>
                  <a:gd name="connsiteX14" fmla="*/ 421940 w 579927"/>
                  <a:gd name="connsiteY14" fmla="*/ 548732 h 579927"/>
                  <a:gd name="connsiteX15" fmla="*/ 401262 w 579927"/>
                  <a:gd name="connsiteY15" fmla="*/ 558264 h 579927"/>
                  <a:gd name="connsiteX16" fmla="*/ 379895 w 579927"/>
                  <a:gd name="connsiteY16" fmla="*/ 566143 h 579927"/>
                  <a:gd name="connsiteX17" fmla="*/ 357992 w 579927"/>
                  <a:gd name="connsiteY17" fmla="*/ 572324 h 579927"/>
                  <a:gd name="connsiteX18" fmla="*/ 335658 w 579927"/>
                  <a:gd name="connsiteY18" fmla="*/ 576767 h 579927"/>
                  <a:gd name="connsiteX19" fmla="*/ 313048 w 579927"/>
                  <a:gd name="connsiteY19" fmla="*/ 579442 h 579927"/>
                  <a:gd name="connsiteX20" fmla="*/ 290299 w 579927"/>
                  <a:gd name="connsiteY20" fmla="*/ 580336 h 579927"/>
                  <a:gd name="connsiteX21" fmla="*/ 267551 w 579927"/>
                  <a:gd name="connsiteY21" fmla="*/ 579442 h 579927"/>
                  <a:gd name="connsiteX22" fmla="*/ 244941 w 579927"/>
                  <a:gd name="connsiteY22" fmla="*/ 576767 h 579927"/>
                  <a:gd name="connsiteX23" fmla="*/ 222607 w 579927"/>
                  <a:gd name="connsiteY23" fmla="*/ 572324 h 579927"/>
                  <a:gd name="connsiteX24" fmla="*/ 200704 w 579927"/>
                  <a:gd name="connsiteY24" fmla="*/ 566143 h 579927"/>
                  <a:gd name="connsiteX25" fmla="*/ 179337 w 579927"/>
                  <a:gd name="connsiteY25" fmla="*/ 558264 h 579927"/>
                  <a:gd name="connsiteX26" fmla="*/ 158659 w 579927"/>
                  <a:gd name="connsiteY26" fmla="*/ 548732 h 579927"/>
                  <a:gd name="connsiteX27" fmla="*/ 138794 w 579927"/>
                  <a:gd name="connsiteY27" fmla="*/ 537608 h 579927"/>
                  <a:gd name="connsiteX28" fmla="*/ 119859 w 579927"/>
                  <a:gd name="connsiteY28" fmla="*/ 524958 h 579927"/>
                  <a:gd name="connsiteX29" fmla="*/ 101979 w 579927"/>
                  <a:gd name="connsiteY29" fmla="*/ 510862 h 579927"/>
                  <a:gd name="connsiteX30" fmla="*/ 85271 w 579927"/>
                  <a:gd name="connsiteY30" fmla="*/ 495408 h 579927"/>
                  <a:gd name="connsiteX31" fmla="*/ 69806 w 579927"/>
                  <a:gd name="connsiteY31" fmla="*/ 478688 h 579927"/>
                  <a:gd name="connsiteX32" fmla="*/ 55722 w 579927"/>
                  <a:gd name="connsiteY32" fmla="*/ 460809 h 579927"/>
                  <a:gd name="connsiteX33" fmla="*/ 43071 w 579927"/>
                  <a:gd name="connsiteY33" fmla="*/ 441878 h 579927"/>
                  <a:gd name="connsiteX34" fmla="*/ 31938 w 579927"/>
                  <a:gd name="connsiteY34" fmla="*/ 422012 h 579927"/>
                  <a:gd name="connsiteX35" fmla="*/ 22411 w 579927"/>
                  <a:gd name="connsiteY35" fmla="*/ 401337 h 579927"/>
                  <a:gd name="connsiteX36" fmla="*/ 14523 w 579927"/>
                  <a:gd name="connsiteY36" fmla="*/ 379976 h 579927"/>
                  <a:gd name="connsiteX37" fmla="*/ 8344 w 579927"/>
                  <a:gd name="connsiteY37" fmla="*/ 358063 h 579927"/>
                  <a:gd name="connsiteX38" fmla="*/ 3909 w 579927"/>
                  <a:gd name="connsiteY38" fmla="*/ 335733 h 579927"/>
                  <a:gd name="connsiteX39" fmla="*/ 1233 w 579927"/>
                  <a:gd name="connsiteY39" fmla="*/ 313122 h 579927"/>
                  <a:gd name="connsiteX40" fmla="*/ 336 w 579927"/>
                  <a:gd name="connsiteY40" fmla="*/ 290372 h 579927"/>
                  <a:gd name="connsiteX41" fmla="*/ 1233 w 579927"/>
                  <a:gd name="connsiteY41" fmla="*/ 267622 h 579927"/>
                  <a:gd name="connsiteX42" fmla="*/ 3909 w 579927"/>
                  <a:gd name="connsiteY42" fmla="*/ 245012 h 579927"/>
                  <a:gd name="connsiteX43" fmla="*/ 8344 w 579927"/>
                  <a:gd name="connsiteY43" fmla="*/ 222681 h 579927"/>
                  <a:gd name="connsiteX44" fmla="*/ 14523 w 579927"/>
                  <a:gd name="connsiteY44" fmla="*/ 200768 h 579927"/>
                  <a:gd name="connsiteX45" fmla="*/ 22411 w 579927"/>
                  <a:gd name="connsiteY45" fmla="*/ 179408 h 579927"/>
                  <a:gd name="connsiteX46" fmla="*/ 31938 w 579927"/>
                  <a:gd name="connsiteY46" fmla="*/ 158732 h 579927"/>
                  <a:gd name="connsiteX47" fmla="*/ 43071 w 579927"/>
                  <a:gd name="connsiteY47" fmla="*/ 138866 h 579927"/>
                  <a:gd name="connsiteX48" fmla="*/ 55722 w 579927"/>
                  <a:gd name="connsiteY48" fmla="*/ 119936 h 579927"/>
                  <a:gd name="connsiteX49" fmla="*/ 69806 w 579927"/>
                  <a:gd name="connsiteY49" fmla="*/ 102056 h 579927"/>
                  <a:gd name="connsiteX50" fmla="*/ 85271 w 579927"/>
                  <a:gd name="connsiteY50" fmla="*/ 85337 h 579927"/>
                  <a:gd name="connsiteX51" fmla="*/ 101979 w 579927"/>
                  <a:gd name="connsiteY51" fmla="*/ 69882 h 579927"/>
                  <a:gd name="connsiteX52" fmla="*/ 119859 w 579927"/>
                  <a:gd name="connsiteY52" fmla="*/ 55786 h 579927"/>
                  <a:gd name="connsiteX53" fmla="*/ 138794 w 579927"/>
                  <a:gd name="connsiteY53" fmla="*/ 43137 h 579927"/>
                  <a:gd name="connsiteX54" fmla="*/ 158659 w 579927"/>
                  <a:gd name="connsiteY54" fmla="*/ 32013 h 579927"/>
                  <a:gd name="connsiteX55" fmla="*/ 179337 w 579927"/>
                  <a:gd name="connsiteY55" fmla="*/ 22480 h 579927"/>
                  <a:gd name="connsiteX56" fmla="*/ 200704 w 579927"/>
                  <a:gd name="connsiteY56" fmla="*/ 14599 h 579927"/>
                  <a:gd name="connsiteX57" fmla="*/ 222607 w 579927"/>
                  <a:gd name="connsiteY57" fmla="*/ 8420 h 579927"/>
                  <a:gd name="connsiteX58" fmla="*/ 244941 w 579927"/>
                  <a:gd name="connsiteY58" fmla="*/ 3978 h 579927"/>
                  <a:gd name="connsiteX59" fmla="*/ 267551 w 579927"/>
                  <a:gd name="connsiteY59" fmla="*/ 1303 h 579927"/>
                  <a:gd name="connsiteX60" fmla="*/ 290299 w 579927"/>
                  <a:gd name="connsiteY60" fmla="*/ 408 h 579927"/>
                  <a:gd name="connsiteX61" fmla="*/ 313048 w 579927"/>
                  <a:gd name="connsiteY61" fmla="*/ 1303 h 579927"/>
                  <a:gd name="connsiteX62" fmla="*/ 335658 w 579927"/>
                  <a:gd name="connsiteY62" fmla="*/ 3978 h 579927"/>
                  <a:gd name="connsiteX63" fmla="*/ 357992 w 579927"/>
                  <a:gd name="connsiteY63" fmla="*/ 8420 h 579927"/>
                  <a:gd name="connsiteX64" fmla="*/ 379895 w 579927"/>
                  <a:gd name="connsiteY64" fmla="*/ 14599 h 579927"/>
                  <a:gd name="connsiteX65" fmla="*/ 401262 w 579927"/>
                  <a:gd name="connsiteY65" fmla="*/ 22480 h 579927"/>
                  <a:gd name="connsiteX66" fmla="*/ 421940 w 579927"/>
                  <a:gd name="connsiteY66" fmla="*/ 32013 h 579927"/>
                  <a:gd name="connsiteX67" fmla="*/ 441806 w 579927"/>
                  <a:gd name="connsiteY67" fmla="*/ 43137 h 579927"/>
                  <a:gd name="connsiteX68" fmla="*/ 460739 w 579927"/>
                  <a:gd name="connsiteY68" fmla="*/ 55786 h 579927"/>
                  <a:gd name="connsiteX69" fmla="*/ 478621 w 579927"/>
                  <a:gd name="connsiteY69" fmla="*/ 69882 h 579927"/>
                  <a:gd name="connsiteX70" fmla="*/ 495328 w 579927"/>
                  <a:gd name="connsiteY70" fmla="*/ 85337 h 579927"/>
                  <a:gd name="connsiteX71" fmla="*/ 510793 w 579927"/>
                  <a:gd name="connsiteY71" fmla="*/ 102056 h 579927"/>
                  <a:gd name="connsiteX72" fmla="*/ 524877 w 579927"/>
                  <a:gd name="connsiteY72" fmla="*/ 119936 h 579927"/>
                  <a:gd name="connsiteX73" fmla="*/ 537528 w 579927"/>
                  <a:gd name="connsiteY73" fmla="*/ 138866 h 579927"/>
                  <a:gd name="connsiteX74" fmla="*/ 548661 w 579927"/>
                  <a:gd name="connsiteY74" fmla="*/ 158732 h 579927"/>
                  <a:gd name="connsiteX75" fmla="*/ 558188 w 579927"/>
                  <a:gd name="connsiteY75" fmla="*/ 179408 h 579927"/>
                  <a:gd name="connsiteX76" fmla="*/ 566075 w 579927"/>
                  <a:gd name="connsiteY76" fmla="*/ 200768 h 579927"/>
                  <a:gd name="connsiteX77" fmla="*/ 572254 w 579927"/>
                  <a:gd name="connsiteY77" fmla="*/ 222681 h 579927"/>
                  <a:gd name="connsiteX78" fmla="*/ 576691 w 579927"/>
                  <a:gd name="connsiteY78" fmla="*/ 245012 h 579927"/>
                  <a:gd name="connsiteX79" fmla="*/ 579366 w 579927"/>
                  <a:gd name="connsiteY79" fmla="*/ 267622 h 579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579927" h="579927">
                    <a:moveTo>
                      <a:pt x="580263" y="290372"/>
                    </a:moveTo>
                    <a:lnTo>
                      <a:pt x="579366" y="313122"/>
                    </a:lnTo>
                    <a:lnTo>
                      <a:pt x="576691" y="335733"/>
                    </a:lnTo>
                    <a:lnTo>
                      <a:pt x="572254" y="358063"/>
                    </a:lnTo>
                    <a:lnTo>
                      <a:pt x="566075" y="379976"/>
                    </a:lnTo>
                    <a:lnTo>
                      <a:pt x="558188" y="401337"/>
                    </a:lnTo>
                    <a:lnTo>
                      <a:pt x="548661" y="422012"/>
                    </a:lnTo>
                    <a:lnTo>
                      <a:pt x="537528" y="441878"/>
                    </a:lnTo>
                    <a:lnTo>
                      <a:pt x="524877" y="460809"/>
                    </a:lnTo>
                    <a:lnTo>
                      <a:pt x="510793" y="478688"/>
                    </a:lnTo>
                    <a:lnTo>
                      <a:pt x="495328" y="495408"/>
                    </a:lnTo>
                    <a:lnTo>
                      <a:pt x="478621" y="510862"/>
                    </a:lnTo>
                    <a:lnTo>
                      <a:pt x="460739" y="524958"/>
                    </a:lnTo>
                    <a:lnTo>
                      <a:pt x="441806" y="537608"/>
                    </a:lnTo>
                    <a:lnTo>
                      <a:pt x="421940" y="548732"/>
                    </a:lnTo>
                    <a:lnTo>
                      <a:pt x="401262" y="558264"/>
                    </a:lnTo>
                    <a:lnTo>
                      <a:pt x="379895" y="566143"/>
                    </a:lnTo>
                    <a:lnTo>
                      <a:pt x="357992" y="572324"/>
                    </a:lnTo>
                    <a:lnTo>
                      <a:pt x="335658" y="576767"/>
                    </a:lnTo>
                    <a:lnTo>
                      <a:pt x="313048" y="579442"/>
                    </a:lnTo>
                    <a:lnTo>
                      <a:pt x="290299" y="580336"/>
                    </a:lnTo>
                    <a:lnTo>
                      <a:pt x="267551" y="579442"/>
                    </a:lnTo>
                    <a:lnTo>
                      <a:pt x="244941" y="576767"/>
                    </a:lnTo>
                    <a:lnTo>
                      <a:pt x="222607" y="572324"/>
                    </a:lnTo>
                    <a:lnTo>
                      <a:pt x="200704" y="566143"/>
                    </a:lnTo>
                    <a:lnTo>
                      <a:pt x="179337" y="558264"/>
                    </a:lnTo>
                    <a:lnTo>
                      <a:pt x="158659" y="548732"/>
                    </a:lnTo>
                    <a:lnTo>
                      <a:pt x="138794" y="537608"/>
                    </a:lnTo>
                    <a:lnTo>
                      <a:pt x="119859" y="524958"/>
                    </a:lnTo>
                    <a:lnTo>
                      <a:pt x="101979" y="510862"/>
                    </a:lnTo>
                    <a:lnTo>
                      <a:pt x="85271" y="495408"/>
                    </a:lnTo>
                    <a:lnTo>
                      <a:pt x="69806" y="478688"/>
                    </a:lnTo>
                    <a:lnTo>
                      <a:pt x="55722" y="460809"/>
                    </a:lnTo>
                    <a:lnTo>
                      <a:pt x="43071" y="441878"/>
                    </a:lnTo>
                    <a:lnTo>
                      <a:pt x="31938" y="422012"/>
                    </a:lnTo>
                    <a:lnTo>
                      <a:pt x="22411" y="401337"/>
                    </a:lnTo>
                    <a:lnTo>
                      <a:pt x="14523" y="379976"/>
                    </a:lnTo>
                    <a:lnTo>
                      <a:pt x="8344" y="358063"/>
                    </a:lnTo>
                    <a:lnTo>
                      <a:pt x="3909" y="335733"/>
                    </a:lnTo>
                    <a:lnTo>
                      <a:pt x="1233" y="313122"/>
                    </a:lnTo>
                    <a:lnTo>
                      <a:pt x="336" y="290372"/>
                    </a:lnTo>
                    <a:lnTo>
                      <a:pt x="1233" y="267622"/>
                    </a:lnTo>
                    <a:lnTo>
                      <a:pt x="3909" y="245012"/>
                    </a:lnTo>
                    <a:lnTo>
                      <a:pt x="8344" y="222681"/>
                    </a:lnTo>
                    <a:lnTo>
                      <a:pt x="14523" y="200768"/>
                    </a:lnTo>
                    <a:lnTo>
                      <a:pt x="22411" y="179408"/>
                    </a:lnTo>
                    <a:lnTo>
                      <a:pt x="31938" y="158732"/>
                    </a:lnTo>
                    <a:lnTo>
                      <a:pt x="43071" y="138866"/>
                    </a:lnTo>
                    <a:lnTo>
                      <a:pt x="55722" y="119936"/>
                    </a:lnTo>
                    <a:lnTo>
                      <a:pt x="69806" y="102056"/>
                    </a:lnTo>
                    <a:lnTo>
                      <a:pt x="85271" y="85337"/>
                    </a:lnTo>
                    <a:lnTo>
                      <a:pt x="101979" y="69882"/>
                    </a:lnTo>
                    <a:lnTo>
                      <a:pt x="119859" y="55786"/>
                    </a:lnTo>
                    <a:lnTo>
                      <a:pt x="138794" y="43137"/>
                    </a:lnTo>
                    <a:lnTo>
                      <a:pt x="158659" y="32013"/>
                    </a:lnTo>
                    <a:lnTo>
                      <a:pt x="179337" y="22480"/>
                    </a:lnTo>
                    <a:lnTo>
                      <a:pt x="200704" y="14599"/>
                    </a:lnTo>
                    <a:lnTo>
                      <a:pt x="222607" y="8420"/>
                    </a:lnTo>
                    <a:lnTo>
                      <a:pt x="244941" y="3978"/>
                    </a:lnTo>
                    <a:lnTo>
                      <a:pt x="267551" y="1303"/>
                    </a:lnTo>
                    <a:lnTo>
                      <a:pt x="290299" y="408"/>
                    </a:lnTo>
                    <a:lnTo>
                      <a:pt x="313048" y="1303"/>
                    </a:lnTo>
                    <a:lnTo>
                      <a:pt x="335658" y="3978"/>
                    </a:lnTo>
                    <a:lnTo>
                      <a:pt x="357992" y="8420"/>
                    </a:lnTo>
                    <a:lnTo>
                      <a:pt x="379895" y="14599"/>
                    </a:lnTo>
                    <a:lnTo>
                      <a:pt x="401262" y="22480"/>
                    </a:lnTo>
                    <a:lnTo>
                      <a:pt x="421940" y="32013"/>
                    </a:lnTo>
                    <a:lnTo>
                      <a:pt x="441806" y="43137"/>
                    </a:lnTo>
                    <a:lnTo>
                      <a:pt x="460739" y="55786"/>
                    </a:lnTo>
                    <a:lnTo>
                      <a:pt x="478621" y="69882"/>
                    </a:lnTo>
                    <a:lnTo>
                      <a:pt x="495328" y="85337"/>
                    </a:lnTo>
                    <a:lnTo>
                      <a:pt x="510793" y="102056"/>
                    </a:lnTo>
                    <a:lnTo>
                      <a:pt x="524877" y="119936"/>
                    </a:lnTo>
                    <a:lnTo>
                      <a:pt x="537528" y="138866"/>
                    </a:lnTo>
                    <a:lnTo>
                      <a:pt x="548661" y="158732"/>
                    </a:lnTo>
                    <a:lnTo>
                      <a:pt x="558188" y="179408"/>
                    </a:lnTo>
                    <a:lnTo>
                      <a:pt x="566075" y="200768"/>
                    </a:lnTo>
                    <a:lnTo>
                      <a:pt x="572254" y="222681"/>
                    </a:lnTo>
                    <a:lnTo>
                      <a:pt x="576691" y="245012"/>
                    </a:lnTo>
                    <a:lnTo>
                      <a:pt x="579366" y="267622"/>
                    </a:lnTo>
                    <a:close/>
                  </a:path>
                </a:pathLst>
              </a:custGeom>
              <a:solidFill>
                <a:srgbClr val="A0235A"/>
              </a:solidFill>
              <a:ln w="258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65" name="Freihandform: Form 464">
                <a:extLst>
                  <a:ext uri="{FF2B5EF4-FFF2-40B4-BE49-F238E27FC236}">
                    <a16:creationId xmlns:a16="http://schemas.microsoft.com/office/drawing/2014/main" id="{FB09EB2F-3480-89D2-7E3C-7F69624A5004}"/>
                  </a:ext>
                </a:extLst>
              </p:cNvPr>
              <p:cNvSpPr/>
              <p:nvPr/>
            </p:nvSpPr>
            <p:spPr>
              <a:xfrm>
                <a:off x="1753321" y="33598031"/>
                <a:ext cx="586831" cy="241636"/>
              </a:xfrm>
              <a:custGeom>
                <a:avLst/>
                <a:gdLst>
                  <a:gd name="connsiteX0" fmla="*/ 336 w 586831"/>
                  <a:gd name="connsiteY0" fmla="*/ 421 h 241636"/>
                  <a:gd name="connsiteX1" fmla="*/ 587167 w 586831"/>
                  <a:gd name="connsiteY1" fmla="*/ 421 h 241636"/>
                  <a:gd name="connsiteX2" fmla="*/ 587167 w 586831"/>
                  <a:gd name="connsiteY2" fmla="*/ 242057 h 241636"/>
                  <a:gd name="connsiteX3" fmla="*/ 336 w 586831"/>
                  <a:gd name="connsiteY3" fmla="*/ 242057 h 241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6831" h="241636">
                    <a:moveTo>
                      <a:pt x="336" y="421"/>
                    </a:moveTo>
                    <a:lnTo>
                      <a:pt x="587167" y="421"/>
                    </a:lnTo>
                    <a:lnTo>
                      <a:pt x="587167" y="242057"/>
                    </a:lnTo>
                    <a:lnTo>
                      <a:pt x="336" y="242057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66" name="Textfeld 465">
                <a:extLst>
                  <a:ext uri="{FF2B5EF4-FFF2-40B4-BE49-F238E27FC236}">
                    <a16:creationId xmlns:a16="http://schemas.microsoft.com/office/drawing/2014/main" id="{8C145237-D68A-A1C8-242D-192851F4EBCC}"/>
                  </a:ext>
                </a:extLst>
              </p:cNvPr>
              <p:cNvSpPr txBox="1"/>
              <p:nvPr/>
            </p:nvSpPr>
            <p:spPr>
              <a:xfrm>
                <a:off x="1696400" y="33586830"/>
                <a:ext cx="700672" cy="3158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de-DE" sz="1019" spc="0" baseline="0">
                    <a:ln/>
                    <a:solidFill>
                      <a:srgbClr val="1F2933"/>
                    </a:solidFill>
                    <a:latin typeface="Helvetica"/>
                    <a:cs typeface="Helvetica"/>
                    <a:sym typeface="Helvetica"/>
                    <a:rtl val="0"/>
                  </a:rPr>
                  <a:t>MARC</a:t>
                </a:r>
              </a:p>
            </p:txBody>
          </p:sp>
          <p:sp>
            <p:nvSpPr>
              <p:cNvPr id="467" name="Freihandform: Form 466">
                <a:extLst>
                  <a:ext uri="{FF2B5EF4-FFF2-40B4-BE49-F238E27FC236}">
                    <a16:creationId xmlns:a16="http://schemas.microsoft.com/office/drawing/2014/main" id="{5FFD08B0-D7D4-521B-5881-0345F2DED822}"/>
                  </a:ext>
                </a:extLst>
              </p:cNvPr>
              <p:cNvSpPr/>
              <p:nvPr/>
            </p:nvSpPr>
            <p:spPr>
              <a:xfrm>
                <a:off x="4471679" y="34566302"/>
                <a:ext cx="455657" cy="455657"/>
              </a:xfrm>
              <a:custGeom>
                <a:avLst/>
                <a:gdLst>
                  <a:gd name="connsiteX0" fmla="*/ 456070 w 455657"/>
                  <a:gd name="connsiteY0" fmla="*/ 228281 h 455657"/>
                  <a:gd name="connsiteX1" fmla="*/ 455362 w 455657"/>
                  <a:gd name="connsiteY1" fmla="*/ 246162 h 455657"/>
                  <a:gd name="connsiteX2" fmla="*/ 453274 w 455657"/>
                  <a:gd name="connsiteY2" fmla="*/ 263922 h 455657"/>
                  <a:gd name="connsiteX3" fmla="*/ 449770 w 455657"/>
                  <a:gd name="connsiteY3" fmla="*/ 281475 h 455657"/>
                  <a:gd name="connsiteX4" fmla="*/ 444920 w 455657"/>
                  <a:gd name="connsiteY4" fmla="*/ 298683 h 455657"/>
                  <a:gd name="connsiteX5" fmla="*/ 438724 w 455657"/>
                  <a:gd name="connsiteY5" fmla="*/ 315460 h 455657"/>
                  <a:gd name="connsiteX6" fmla="*/ 431233 w 455657"/>
                  <a:gd name="connsiteY6" fmla="*/ 331718 h 455657"/>
                  <a:gd name="connsiteX7" fmla="*/ 422500 w 455657"/>
                  <a:gd name="connsiteY7" fmla="*/ 347321 h 455657"/>
                  <a:gd name="connsiteX8" fmla="*/ 412558 w 455657"/>
                  <a:gd name="connsiteY8" fmla="*/ 362199 h 455657"/>
                  <a:gd name="connsiteX9" fmla="*/ 401477 w 455657"/>
                  <a:gd name="connsiteY9" fmla="*/ 376249 h 455657"/>
                  <a:gd name="connsiteX10" fmla="*/ 389344 w 455657"/>
                  <a:gd name="connsiteY10" fmla="*/ 389383 h 455657"/>
                  <a:gd name="connsiteX11" fmla="*/ 376209 w 455657"/>
                  <a:gd name="connsiteY11" fmla="*/ 401517 h 455657"/>
                  <a:gd name="connsiteX12" fmla="*/ 362160 w 455657"/>
                  <a:gd name="connsiteY12" fmla="*/ 412598 h 455657"/>
                  <a:gd name="connsiteX13" fmla="*/ 347282 w 455657"/>
                  <a:gd name="connsiteY13" fmla="*/ 422539 h 455657"/>
                  <a:gd name="connsiteX14" fmla="*/ 331679 w 455657"/>
                  <a:gd name="connsiteY14" fmla="*/ 431273 h 455657"/>
                  <a:gd name="connsiteX15" fmla="*/ 315420 w 455657"/>
                  <a:gd name="connsiteY15" fmla="*/ 438763 h 455657"/>
                  <a:gd name="connsiteX16" fmla="*/ 298644 w 455657"/>
                  <a:gd name="connsiteY16" fmla="*/ 444960 h 455657"/>
                  <a:gd name="connsiteX17" fmla="*/ 281436 w 455657"/>
                  <a:gd name="connsiteY17" fmla="*/ 449809 h 455657"/>
                  <a:gd name="connsiteX18" fmla="*/ 263883 w 455657"/>
                  <a:gd name="connsiteY18" fmla="*/ 453313 h 455657"/>
                  <a:gd name="connsiteX19" fmla="*/ 246122 w 455657"/>
                  <a:gd name="connsiteY19" fmla="*/ 455402 h 455657"/>
                  <a:gd name="connsiteX20" fmla="*/ 228241 w 455657"/>
                  <a:gd name="connsiteY20" fmla="*/ 456109 h 455657"/>
                  <a:gd name="connsiteX21" fmla="*/ 210360 w 455657"/>
                  <a:gd name="connsiteY21" fmla="*/ 455402 h 455657"/>
                  <a:gd name="connsiteX22" fmla="*/ 192600 w 455657"/>
                  <a:gd name="connsiteY22" fmla="*/ 453313 h 455657"/>
                  <a:gd name="connsiteX23" fmla="*/ 175064 w 455657"/>
                  <a:gd name="connsiteY23" fmla="*/ 449809 h 455657"/>
                  <a:gd name="connsiteX24" fmla="*/ 157839 w 455657"/>
                  <a:gd name="connsiteY24" fmla="*/ 444960 h 455657"/>
                  <a:gd name="connsiteX25" fmla="*/ 141062 w 455657"/>
                  <a:gd name="connsiteY25" fmla="*/ 438763 h 455657"/>
                  <a:gd name="connsiteX26" fmla="*/ 124804 w 455657"/>
                  <a:gd name="connsiteY26" fmla="*/ 431273 h 455657"/>
                  <a:gd name="connsiteX27" fmla="*/ 109201 w 455657"/>
                  <a:gd name="connsiteY27" fmla="*/ 422539 h 455657"/>
                  <a:gd name="connsiteX28" fmla="*/ 94323 w 455657"/>
                  <a:gd name="connsiteY28" fmla="*/ 412598 h 455657"/>
                  <a:gd name="connsiteX29" fmla="*/ 80273 w 455657"/>
                  <a:gd name="connsiteY29" fmla="*/ 401517 h 455657"/>
                  <a:gd name="connsiteX30" fmla="*/ 67139 w 455657"/>
                  <a:gd name="connsiteY30" fmla="*/ 389383 h 455657"/>
                  <a:gd name="connsiteX31" fmla="*/ 55005 w 455657"/>
                  <a:gd name="connsiteY31" fmla="*/ 376249 h 455657"/>
                  <a:gd name="connsiteX32" fmla="*/ 43924 w 455657"/>
                  <a:gd name="connsiteY32" fmla="*/ 362199 h 455657"/>
                  <a:gd name="connsiteX33" fmla="*/ 33983 w 455657"/>
                  <a:gd name="connsiteY33" fmla="*/ 347321 h 455657"/>
                  <a:gd name="connsiteX34" fmla="*/ 25249 w 455657"/>
                  <a:gd name="connsiteY34" fmla="*/ 331718 h 455657"/>
                  <a:gd name="connsiteX35" fmla="*/ 17759 w 455657"/>
                  <a:gd name="connsiteY35" fmla="*/ 315460 h 455657"/>
                  <a:gd name="connsiteX36" fmla="*/ 11562 w 455657"/>
                  <a:gd name="connsiteY36" fmla="*/ 298683 h 455657"/>
                  <a:gd name="connsiteX37" fmla="*/ 6713 w 455657"/>
                  <a:gd name="connsiteY37" fmla="*/ 281475 h 455657"/>
                  <a:gd name="connsiteX38" fmla="*/ 3226 w 455657"/>
                  <a:gd name="connsiteY38" fmla="*/ 263922 h 455657"/>
                  <a:gd name="connsiteX39" fmla="*/ 1120 w 455657"/>
                  <a:gd name="connsiteY39" fmla="*/ 246162 h 455657"/>
                  <a:gd name="connsiteX40" fmla="*/ 413 w 455657"/>
                  <a:gd name="connsiteY40" fmla="*/ 228281 h 455657"/>
                  <a:gd name="connsiteX41" fmla="*/ 1120 w 455657"/>
                  <a:gd name="connsiteY41" fmla="*/ 210400 h 455657"/>
                  <a:gd name="connsiteX42" fmla="*/ 3226 w 455657"/>
                  <a:gd name="connsiteY42" fmla="*/ 192639 h 455657"/>
                  <a:gd name="connsiteX43" fmla="*/ 6713 w 455657"/>
                  <a:gd name="connsiteY43" fmla="*/ 175103 h 455657"/>
                  <a:gd name="connsiteX44" fmla="*/ 11562 w 455657"/>
                  <a:gd name="connsiteY44" fmla="*/ 157878 h 455657"/>
                  <a:gd name="connsiteX45" fmla="*/ 17759 w 455657"/>
                  <a:gd name="connsiteY45" fmla="*/ 141102 h 455657"/>
                  <a:gd name="connsiteX46" fmla="*/ 25249 w 455657"/>
                  <a:gd name="connsiteY46" fmla="*/ 124843 h 455657"/>
                  <a:gd name="connsiteX47" fmla="*/ 33983 w 455657"/>
                  <a:gd name="connsiteY47" fmla="*/ 109240 h 455657"/>
                  <a:gd name="connsiteX48" fmla="*/ 43924 w 455657"/>
                  <a:gd name="connsiteY48" fmla="*/ 94362 h 455657"/>
                  <a:gd name="connsiteX49" fmla="*/ 55005 w 455657"/>
                  <a:gd name="connsiteY49" fmla="*/ 80313 h 455657"/>
                  <a:gd name="connsiteX50" fmla="*/ 67139 w 455657"/>
                  <a:gd name="connsiteY50" fmla="*/ 67178 h 455657"/>
                  <a:gd name="connsiteX51" fmla="*/ 80273 w 455657"/>
                  <a:gd name="connsiteY51" fmla="*/ 55045 h 455657"/>
                  <a:gd name="connsiteX52" fmla="*/ 94323 w 455657"/>
                  <a:gd name="connsiteY52" fmla="*/ 43964 h 455657"/>
                  <a:gd name="connsiteX53" fmla="*/ 109201 w 455657"/>
                  <a:gd name="connsiteY53" fmla="*/ 34022 h 455657"/>
                  <a:gd name="connsiteX54" fmla="*/ 124804 w 455657"/>
                  <a:gd name="connsiteY54" fmla="*/ 25289 h 455657"/>
                  <a:gd name="connsiteX55" fmla="*/ 141062 w 455657"/>
                  <a:gd name="connsiteY55" fmla="*/ 17798 h 455657"/>
                  <a:gd name="connsiteX56" fmla="*/ 157839 w 455657"/>
                  <a:gd name="connsiteY56" fmla="*/ 11602 h 455657"/>
                  <a:gd name="connsiteX57" fmla="*/ 175064 w 455657"/>
                  <a:gd name="connsiteY57" fmla="*/ 6752 h 455657"/>
                  <a:gd name="connsiteX58" fmla="*/ 192600 w 455657"/>
                  <a:gd name="connsiteY58" fmla="*/ 3265 h 455657"/>
                  <a:gd name="connsiteX59" fmla="*/ 210360 w 455657"/>
                  <a:gd name="connsiteY59" fmla="*/ 1160 h 455657"/>
                  <a:gd name="connsiteX60" fmla="*/ 228241 w 455657"/>
                  <a:gd name="connsiteY60" fmla="*/ 452 h 455657"/>
                  <a:gd name="connsiteX61" fmla="*/ 246122 w 455657"/>
                  <a:gd name="connsiteY61" fmla="*/ 1160 h 455657"/>
                  <a:gd name="connsiteX62" fmla="*/ 263883 w 455657"/>
                  <a:gd name="connsiteY62" fmla="*/ 3265 h 455657"/>
                  <a:gd name="connsiteX63" fmla="*/ 281436 w 455657"/>
                  <a:gd name="connsiteY63" fmla="*/ 6752 h 455657"/>
                  <a:gd name="connsiteX64" fmla="*/ 298644 w 455657"/>
                  <a:gd name="connsiteY64" fmla="*/ 11602 h 455657"/>
                  <a:gd name="connsiteX65" fmla="*/ 315420 w 455657"/>
                  <a:gd name="connsiteY65" fmla="*/ 17798 h 455657"/>
                  <a:gd name="connsiteX66" fmla="*/ 331679 w 455657"/>
                  <a:gd name="connsiteY66" fmla="*/ 25289 h 455657"/>
                  <a:gd name="connsiteX67" fmla="*/ 347282 w 455657"/>
                  <a:gd name="connsiteY67" fmla="*/ 34022 h 455657"/>
                  <a:gd name="connsiteX68" fmla="*/ 362160 w 455657"/>
                  <a:gd name="connsiteY68" fmla="*/ 43964 h 455657"/>
                  <a:gd name="connsiteX69" fmla="*/ 376209 w 455657"/>
                  <a:gd name="connsiteY69" fmla="*/ 55045 h 455657"/>
                  <a:gd name="connsiteX70" fmla="*/ 389344 w 455657"/>
                  <a:gd name="connsiteY70" fmla="*/ 67178 h 455657"/>
                  <a:gd name="connsiteX71" fmla="*/ 401477 w 455657"/>
                  <a:gd name="connsiteY71" fmla="*/ 80313 h 455657"/>
                  <a:gd name="connsiteX72" fmla="*/ 412558 w 455657"/>
                  <a:gd name="connsiteY72" fmla="*/ 94362 h 455657"/>
                  <a:gd name="connsiteX73" fmla="*/ 422500 w 455657"/>
                  <a:gd name="connsiteY73" fmla="*/ 109240 h 455657"/>
                  <a:gd name="connsiteX74" fmla="*/ 431233 w 455657"/>
                  <a:gd name="connsiteY74" fmla="*/ 124843 h 455657"/>
                  <a:gd name="connsiteX75" fmla="*/ 438724 w 455657"/>
                  <a:gd name="connsiteY75" fmla="*/ 141102 h 455657"/>
                  <a:gd name="connsiteX76" fmla="*/ 444920 w 455657"/>
                  <a:gd name="connsiteY76" fmla="*/ 157878 h 455657"/>
                  <a:gd name="connsiteX77" fmla="*/ 449770 w 455657"/>
                  <a:gd name="connsiteY77" fmla="*/ 175103 h 455657"/>
                  <a:gd name="connsiteX78" fmla="*/ 453274 w 455657"/>
                  <a:gd name="connsiteY78" fmla="*/ 192639 h 455657"/>
                  <a:gd name="connsiteX79" fmla="*/ 455362 w 455657"/>
                  <a:gd name="connsiteY79" fmla="*/ 210400 h 455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455657" h="455657">
                    <a:moveTo>
                      <a:pt x="456070" y="228281"/>
                    </a:moveTo>
                    <a:lnTo>
                      <a:pt x="455362" y="246162"/>
                    </a:lnTo>
                    <a:lnTo>
                      <a:pt x="453274" y="263922"/>
                    </a:lnTo>
                    <a:lnTo>
                      <a:pt x="449770" y="281475"/>
                    </a:lnTo>
                    <a:lnTo>
                      <a:pt x="444920" y="298683"/>
                    </a:lnTo>
                    <a:lnTo>
                      <a:pt x="438724" y="315460"/>
                    </a:lnTo>
                    <a:lnTo>
                      <a:pt x="431233" y="331718"/>
                    </a:lnTo>
                    <a:lnTo>
                      <a:pt x="422500" y="347321"/>
                    </a:lnTo>
                    <a:lnTo>
                      <a:pt x="412558" y="362199"/>
                    </a:lnTo>
                    <a:lnTo>
                      <a:pt x="401477" y="376249"/>
                    </a:lnTo>
                    <a:lnTo>
                      <a:pt x="389344" y="389383"/>
                    </a:lnTo>
                    <a:lnTo>
                      <a:pt x="376209" y="401517"/>
                    </a:lnTo>
                    <a:lnTo>
                      <a:pt x="362160" y="412598"/>
                    </a:lnTo>
                    <a:lnTo>
                      <a:pt x="347282" y="422539"/>
                    </a:lnTo>
                    <a:lnTo>
                      <a:pt x="331679" y="431273"/>
                    </a:lnTo>
                    <a:lnTo>
                      <a:pt x="315420" y="438763"/>
                    </a:lnTo>
                    <a:lnTo>
                      <a:pt x="298644" y="444960"/>
                    </a:lnTo>
                    <a:lnTo>
                      <a:pt x="281436" y="449809"/>
                    </a:lnTo>
                    <a:lnTo>
                      <a:pt x="263883" y="453313"/>
                    </a:lnTo>
                    <a:lnTo>
                      <a:pt x="246122" y="455402"/>
                    </a:lnTo>
                    <a:lnTo>
                      <a:pt x="228241" y="456109"/>
                    </a:lnTo>
                    <a:lnTo>
                      <a:pt x="210360" y="455402"/>
                    </a:lnTo>
                    <a:lnTo>
                      <a:pt x="192600" y="453313"/>
                    </a:lnTo>
                    <a:lnTo>
                      <a:pt x="175064" y="449809"/>
                    </a:lnTo>
                    <a:lnTo>
                      <a:pt x="157839" y="444960"/>
                    </a:lnTo>
                    <a:lnTo>
                      <a:pt x="141062" y="438763"/>
                    </a:lnTo>
                    <a:lnTo>
                      <a:pt x="124804" y="431273"/>
                    </a:lnTo>
                    <a:lnTo>
                      <a:pt x="109201" y="422539"/>
                    </a:lnTo>
                    <a:lnTo>
                      <a:pt x="94323" y="412598"/>
                    </a:lnTo>
                    <a:lnTo>
                      <a:pt x="80273" y="401517"/>
                    </a:lnTo>
                    <a:lnTo>
                      <a:pt x="67139" y="389383"/>
                    </a:lnTo>
                    <a:lnTo>
                      <a:pt x="55005" y="376249"/>
                    </a:lnTo>
                    <a:lnTo>
                      <a:pt x="43924" y="362199"/>
                    </a:lnTo>
                    <a:lnTo>
                      <a:pt x="33983" y="347321"/>
                    </a:lnTo>
                    <a:lnTo>
                      <a:pt x="25249" y="331718"/>
                    </a:lnTo>
                    <a:lnTo>
                      <a:pt x="17759" y="315460"/>
                    </a:lnTo>
                    <a:lnTo>
                      <a:pt x="11562" y="298683"/>
                    </a:lnTo>
                    <a:lnTo>
                      <a:pt x="6713" y="281475"/>
                    </a:lnTo>
                    <a:lnTo>
                      <a:pt x="3226" y="263922"/>
                    </a:lnTo>
                    <a:lnTo>
                      <a:pt x="1120" y="246162"/>
                    </a:lnTo>
                    <a:lnTo>
                      <a:pt x="413" y="228281"/>
                    </a:lnTo>
                    <a:lnTo>
                      <a:pt x="1120" y="210400"/>
                    </a:lnTo>
                    <a:lnTo>
                      <a:pt x="3226" y="192639"/>
                    </a:lnTo>
                    <a:lnTo>
                      <a:pt x="6713" y="175103"/>
                    </a:lnTo>
                    <a:lnTo>
                      <a:pt x="11562" y="157878"/>
                    </a:lnTo>
                    <a:lnTo>
                      <a:pt x="17759" y="141102"/>
                    </a:lnTo>
                    <a:lnTo>
                      <a:pt x="25249" y="124843"/>
                    </a:lnTo>
                    <a:lnTo>
                      <a:pt x="33983" y="109240"/>
                    </a:lnTo>
                    <a:lnTo>
                      <a:pt x="43924" y="94362"/>
                    </a:lnTo>
                    <a:lnTo>
                      <a:pt x="55005" y="80313"/>
                    </a:lnTo>
                    <a:lnTo>
                      <a:pt x="67139" y="67178"/>
                    </a:lnTo>
                    <a:lnTo>
                      <a:pt x="80273" y="55045"/>
                    </a:lnTo>
                    <a:lnTo>
                      <a:pt x="94323" y="43964"/>
                    </a:lnTo>
                    <a:lnTo>
                      <a:pt x="109201" y="34022"/>
                    </a:lnTo>
                    <a:lnTo>
                      <a:pt x="124804" y="25289"/>
                    </a:lnTo>
                    <a:lnTo>
                      <a:pt x="141062" y="17798"/>
                    </a:lnTo>
                    <a:lnTo>
                      <a:pt x="157839" y="11602"/>
                    </a:lnTo>
                    <a:lnTo>
                      <a:pt x="175064" y="6752"/>
                    </a:lnTo>
                    <a:lnTo>
                      <a:pt x="192600" y="3265"/>
                    </a:lnTo>
                    <a:lnTo>
                      <a:pt x="210360" y="1160"/>
                    </a:lnTo>
                    <a:lnTo>
                      <a:pt x="228241" y="452"/>
                    </a:lnTo>
                    <a:lnTo>
                      <a:pt x="246122" y="1160"/>
                    </a:lnTo>
                    <a:lnTo>
                      <a:pt x="263883" y="3265"/>
                    </a:lnTo>
                    <a:lnTo>
                      <a:pt x="281436" y="6752"/>
                    </a:lnTo>
                    <a:lnTo>
                      <a:pt x="298644" y="11602"/>
                    </a:lnTo>
                    <a:lnTo>
                      <a:pt x="315420" y="17798"/>
                    </a:lnTo>
                    <a:lnTo>
                      <a:pt x="331679" y="25289"/>
                    </a:lnTo>
                    <a:lnTo>
                      <a:pt x="347282" y="34022"/>
                    </a:lnTo>
                    <a:lnTo>
                      <a:pt x="362160" y="43964"/>
                    </a:lnTo>
                    <a:lnTo>
                      <a:pt x="376209" y="55045"/>
                    </a:lnTo>
                    <a:lnTo>
                      <a:pt x="389344" y="67178"/>
                    </a:lnTo>
                    <a:lnTo>
                      <a:pt x="401477" y="80313"/>
                    </a:lnTo>
                    <a:lnTo>
                      <a:pt x="412558" y="94362"/>
                    </a:lnTo>
                    <a:lnTo>
                      <a:pt x="422500" y="109240"/>
                    </a:lnTo>
                    <a:lnTo>
                      <a:pt x="431233" y="124843"/>
                    </a:lnTo>
                    <a:lnTo>
                      <a:pt x="438724" y="141102"/>
                    </a:lnTo>
                    <a:lnTo>
                      <a:pt x="444920" y="157878"/>
                    </a:lnTo>
                    <a:lnTo>
                      <a:pt x="449770" y="175103"/>
                    </a:lnTo>
                    <a:lnTo>
                      <a:pt x="453274" y="192639"/>
                    </a:lnTo>
                    <a:lnTo>
                      <a:pt x="455362" y="210400"/>
                    </a:lnTo>
                    <a:close/>
                  </a:path>
                </a:pathLst>
              </a:custGeom>
              <a:solidFill>
                <a:srgbClr val="A0235A"/>
              </a:solidFill>
              <a:ln w="258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68" name="Freihandform: Form 467">
                <a:extLst>
                  <a:ext uri="{FF2B5EF4-FFF2-40B4-BE49-F238E27FC236}">
                    <a16:creationId xmlns:a16="http://schemas.microsoft.com/office/drawing/2014/main" id="{D3F9C660-47F7-7D97-7136-EC0224687886}"/>
                  </a:ext>
                </a:extLst>
              </p:cNvPr>
              <p:cNvSpPr/>
              <p:nvPr/>
            </p:nvSpPr>
            <p:spPr>
              <a:xfrm>
                <a:off x="4414722" y="35039219"/>
                <a:ext cx="569571" cy="241636"/>
              </a:xfrm>
              <a:custGeom>
                <a:avLst/>
                <a:gdLst>
                  <a:gd name="connsiteX0" fmla="*/ 413 w 569571"/>
                  <a:gd name="connsiteY0" fmla="*/ 463 h 241636"/>
                  <a:gd name="connsiteX1" fmla="*/ 569984 w 569571"/>
                  <a:gd name="connsiteY1" fmla="*/ 463 h 241636"/>
                  <a:gd name="connsiteX2" fmla="*/ 569984 w 569571"/>
                  <a:gd name="connsiteY2" fmla="*/ 242099 h 241636"/>
                  <a:gd name="connsiteX3" fmla="*/ 413 w 569571"/>
                  <a:gd name="connsiteY3" fmla="*/ 242099 h 241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9571" h="241636">
                    <a:moveTo>
                      <a:pt x="413" y="463"/>
                    </a:moveTo>
                    <a:lnTo>
                      <a:pt x="569984" y="463"/>
                    </a:lnTo>
                    <a:lnTo>
                      <a:pt x="569984" y="242099"/>
                    </a:lnTo>
                    <a:lnTo>
                      <a:pt x="413" y="242099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69" name="Textfeld 468">
                <a:extLst>
                  <a:ext uri="{FF2B5EF4-FFF2-40B4-BE49-F238E27FC236}">
                    <a16:creationId xmlns:a16="http://schemas.microsoft.com/office/drawing/2014/main" id="{802F25ED-258F-7B2A-D544-032BB4E98A72}"/>
                  </a:ext>
                </a:extLst>
              </p:cNvPr>
              <p:cNvSpPr txBox="1"/>
              <p:nvPr/>
            </p:nvSpPr>
            <p:spPr>
              <a:xfrm>
                <a:off x="4357801" y="35028019"/>
                <a:ext cx="683412" cy="3158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de-DE" sz="1019" spc="0" baseline="0">
                    <a:ln/>
                    <a:solidFill>
                      <a:srgbClr val="1F2933"/>
                    </a:solidFill>
                    <a:latin typeface="Helvetica"/>
                    <a:cs typeface="Helvetica"/>
                    <a:sym typeface="Helvetica"/>
                    <a:rtl val="0"/>
                  </a:rPr>
                  <a:t>OECD</a:t>
                </a:r>
              </a:p>
            </p:txBody>
          </p:sp>
          <p:sp>
            <p:nvSpPr>
              <p:cNvPr id="470" name="Freihandform: Form 469">
                <a:extLst>
                  <a:ext uri="{FF2B5EF4-FFF2-40B4-BE49-F238E27FC236}">
                    <a16:creationId xmlns:a16="http://schemas.microsoft.com/office/drawing/2014/main" id="{DBB78F39-5B53-23BB-DC30-C76457A5ACEA}"/>
                  </a:ext>
                </a:extLst>
              </p:cNvPr>
              <p:cNvSpPr/>
              <p:nvPr/>
            </p:nvSpPr>
            <p:spPr>
              <a:xfrm>
                <a:off x="3433730" y="31987943"/>
                <a:ext cx="455657" cy="455657"/>
              </a:xfrm>
              <a:custGeom>
                <a:avLst/>
                <a:gdLst>
                  <a:gd name="connsiteX0" fmla="*/ 456040 w 455657"/>
                  <a:gd name="connsiteY0" fmla="*/ 228206 h 455657"/>
                  <a:gd name="connsiteX1" fmla="*/ 455332 w 455657"/>
                  <a:gd name="connsiteY1" fmla="*/ 246082 h 455657"/>
                  <a:gd name="connsiteX2" fmla="*/ 453226 w 455657"/>
                  <a:gd name="connsiteY2" fmla="*/ 263847 h 455657"/>
                  <a:gd name="connsiteX3" fmla="*/ 449740 w 455657"/>
                  <a:gd name="connsiteY3" fmla="*/ 281392 h 455657"/>
                  <a:gd name="connsiteX4" fmla="*/ 444890 w 455657"/>
                  <a:gd name="connsiteY4" fmla="*/ 298608 h 455657"/>
                  <a:gd name="connsiteX5" fmla="*/ 438694 w 455657"/>
                  <a:gd name="connsiteY5" fmla="*/ 315392 h 455657"/>
                  <a:gd name="connsiteX6" fmla="*/ 431203 w 455657"/>
                  <a:gd name="connsiteY6" fmla="*/ 331638 h 455657"/>
                  <a:gd name="connsiteX7" fmla="*/ 422469 w 455657"/>
                  <a:gd name="connsiteY7" fmla="*/ 347246 h 455657"/>
                  <a:gd name="connsiteX8" fmla="*/ 412528 w 455657"/>
                  <a:gd name="connsiteY8" fmla="*/ 362121 h 455657"/>
                  <a:gd name="connsiteX9" fmla="*/ 401447 w 455657"/>
                  <a:gd name="connsiteY9" fmla="*/ 376169 h 455657"/>
                  <a:gd name="connsiteX10" fmla="*/ 389314 w 455657"/>
                  <a:gd name="connsiteY10" fmla="*/ 389305 h 455657"/>
                  <a:gd name="connsiteX11" fmla="*/ 376179 w 455657"/>
                  <a:gd name="connsiteY11" fmla="*/ 401449 h 455657"/>
                  <a:gd name="connsiteX12" fmla="*/ 362130 w 455657"/>
                  <a:gd name="connsiteY12" fmla="*/ 412523 h 455657"/>
                  <a:gd name="connsiteX13" fmla="*/ 347252 w 455657"/>
                  <a:gd name="connsiteY13" fmla="*/ 422463 h 455657"/>
                  <a:gd name="connsiteX14" fmla="*/ 331649 w 455657"/>
                  <a:gd name="connsiteY14" fmla="*/ 431203 h 455657"/>
                  <a:gd name="connsiteX15" fmla="*/ 315390 w 455657"/>
                  <a:gd name="connsiteY15" fmla="*/ 438692 h 455657"/>
                  <a:gd name="connsiteX16" fmla="*/ 298614 w 455657"/>
                  <a:gd name="connsiteY16" fmla="*/ 444884 h 455657"/>
                  <a:gd name="connsiteX17" fmla="*/ 281388 w 455657"/>
                  <a:gd name="connsiteY17" fmla="*/ 449740 h 455657"/>
                  <a:gd name="connsiteX18" fmla="*/ 263853 w 455657"/>
                  <a:gd name="connsiteY18" fmla="*/ 453230 h 455657"/>
                  <a:gd name="connsiteX19" fmla="*/ 246092 w 455657"/>
                  <a:gd name="connsiteY19" fmla="*/ 455333 h 455657"/>
                  <a:gd name="connsiteX20" fmla="*/ 228211 w 455657"/>
                  <a:gd name="connsiteY20" fmla="*/ 456035 h 455657"/>
                  <a:gd name="connsiteX21" fmla="*/ 210330 w 455657"/>
                  <a:gd name="connsiteY21" fmla="*/ 455333 h 455657"/>
                  <a:gd name="connsiteX22" fmla="*/ 192570 w 455657"/>
                  <a:gd name="connsiteY22" fmla="*/ 453230 h 455657"/>
                  <a:gd name="connsiteX23" fmla="*/ 175034 w 455657"/>
                  <a:gd name="connsiteY23" fmla="*/ 449740 h 455657"/>
                  <a:gd name="connsiteX24" fmla="*/ 157808 w 455657"/>
                  <a:gd name="connsiteY24" fmla="*/ 444884 h 455657"/>
                  <a:gd name="connsiteX25" fmla="*/ 141032 w 455657"/>
                  <a:gd name="connsiteY25" fmla="*/ 438692 h 455657"/>
                  <a:gd name="connsiteX26" fmla="*/ 124774 w 455657"/>
                  <a:gd name="connsiteY26" fmla="*/ 431203 h 455657"/>
                  <a:gd name="connsiteX27" fmla="*/ 109171 w 455657"/>
                  <a:gd name="connsiteY27" fmla="*/ 422463 h 455657"/>
                  <a:gd name="connsiteX28" fmla="*/ 94293 w 455657"/>
                  <a:gd name="connsiteY28" fmla="*/ 412523 h 455657"/>
                  <a:gd name="connsiteX29" fmla="*/ 80243 w 455657"/>
                  <a:gd name="connsiteY29" fmla="*/ 401449 h 455657"/>
                  <a:gd name="connsiteX30" fmla="*/ 67109 w 455657"/>
                  <a:gd name="connsiteY30" fmla="*/ 389305 h 455657"/>
                  <a:gd name="connsiteX31" fmla="*/ 54975 w 455657"/>
                  <a:gd name="connsiteY31" fmla="*/ 376169 h 455657"/>
                  <a:gd name="connsiteX32" fmla="*/ 43894 w 455657"/>
                  <a:gd name="connsiteY32" fmla="*/ 362121 h 455657"/>
                  <a:gd name="connsiteX33" fmla="*/ 33953 w 455657"/>
                  <a:gd name="connsiteY33" fmla="*/ 347246 h 455657"/>
                  <a:gd name="connsiteX34" fmla="*/ 25219 w 455657"/>
                  <a:gd name="connsiteY34" fmla="*/ 331638 h 455657"/>
                  <a:gd name="connsiteX35" fmla="*/ 17728 w 455657"/>
                  <a:gd name="connsiteY35" fmla="*/ 315392 h 455657"/>
                  <a:gd name="connsiteX36" fmla="*/ 11532 w 455657"/>
                  <a:gd name="connsiteY36" fmla="*/ 298608 h 455657"/>
                  <a:gd name="connsiteX37" fmla="*/ 6682 w 455657"/>
                  <a:gd name="connsiteY37" fmla="*/ 281392 h 455657"/>
                  <a:gd name="connsiteX38" fmla="*/ 3178 w 455657"/>
                  <a:gd name="connsiteY38" fmla="*/ 263847 h 455657"/>
                  <a:gd name="connsiteX39" fmla="*/ 1090 w 455657"/>
                  <a:gd name="connsiteY39" fmla="*/ 246082 h 455657"/>
                  <a:gd name="connsiteX40" fmla="*/ 383 w 455657"/>
                  <a:gd name="connsiteY40" fmla="*/ 228206 h 455657"/>
                  <a:gd name="connsiteX41" fmla="*/ 1090 w 455657"/>
                  <a:gd name="connsiteY41" fmla="*/ 210332 h 455657"/>
                  <a:gd name="connsiteX42" fmla="*/ 3178 w 455657"/>
                  <a:gd name="connsiteY42" fmla="*/ 192566 h 455657"/>
                  <a:gd name="connsiteX43" fmla="*/ 6682 w 455657"/>
                  <a:gd name="connsiteY43" fmla="*/ 175020 h 455657"/>
                  <a:gd name="connsiteX44" fmla="*/ 11532 w 455657"/>
                  <a:gd name="connsiteY44" fmla="*/ 157803 h 455657"/>
                  <a:gd name="connsiteX45" fmla="*/ 17728 w 455657"/>
                  <a:gd name="connsiteY45" fmla="*/ 141020 h 455657"/>
                  <a:gd name="connsiteX46" fmla="*/ 25219 w 455657"/>
                  <a:gd name="connsiteY46" fmla="*/ 124773 h 455657"/>
                  <a:gd name="connsiteX47" fmla="*/ 33953 w 455657"/>
                  <a:gd name="connsiteY47" fmla="*/ 109165 h 455657"/>
                  <a:gd name="connsiteX48" fmla="*/ 43894 w 455657"/>
                  <a:gd name="connsiteY48" fmla="*/ 94293 h 455657"/>
                  <a:gd name="connsiteX49" fmla="*/ 54975 w 455657"/>
                  <a:gd name="connsiteY49" fmla="*/ 80243 h 455657"/>
                  <a:gd name="connsiteX50" fmla="*/ 67109 w 455657"/>
                  <a:gd name="connsiteY50" fmla="*/ 67107 h 455657"/>
                  <a:gd name="connsiteX51" fmla="*/ 80243 w 455657"/>
                  <a:gd name="connsiteY51" fmla="*/ 54965 h 455657"/>
                  <a:gd name="connsiteX52" fmla="*/ 94293 w 455657"/>
                  <a:gd name="connsiteY52" fmla="*/ 43889 h 455657"/>
                  <a:gd name="connsiteX53" fmla="*/ 109171 w 455657"/>
                  <a:gd name="connsiteY53" fmla="*/ 33951 h 455657"/>
                  <a:gd name="connsiteX54" fmla="*/ 124774 w 455657"/>
                  <a:gd name="connsiteY54" fmla="*/ 25209 h 455657"/>
                  <a:gd name="connsiteX55" fmla="*/ 141032 w 455657"/>
                  <a:gd name="connsiteY55" fmla="*/ 17720 h 455657"/>
                  <a:gd name="connsiteX56" fmla="*/ 157808 w 455657"/>
                  <a:gd name="connsiteY56" fmla="*/ 11529 h 455657"/>
                  <a:gd name="connsiteX57" fmla="*/ 175034 w 455657"/>
                  <a:gd name="connsiteY57" fmla="*/ 6672 h 455657"/>
                  <a:gd name="connsiteX58" fmla="*/ 192570 w 455657"/>
                  <a:gd name="connsiteY58" fmla="*/ 3182 h 455657"/>
                  <a:gd name="connsiteX59" fmla="*/ 210330 w 455657"/>
                  <a:gd name="connsiteY59" fmla="*/ 1080 h 455657"/>
                  <a:gd name="connsiteX60" fmla="*/ 228211 w 455657"/>
                  <a:gd name="connsiteY60" fmla="*/ 377 h 455657"/>
                  <a:gd name="connsiteX61" fmla="*/ 246092 w 455657"/>
                  <a:gd name="connsiteY61" fmla="*/ 1080 h 455657"/>
                  <a:gd name="connsiteX62" fmla="*/ 263853 w 455657"/>
                  <a:gd name="connsiteY62" fmla="*/ 3182 h 455657"/>
                  <a:gd name="connsiteX63" fmla="*/ 281388 w 455657"/>
                  <a:gd name="connsiteY63" fmla="*/ 6672 h 455657"/>
                  <a:gd name="connsiteX64" fmla="*/ 298614 w 455657"/>
                  <a:gd name="connsiteY64" fmla="*/ 11529 h 455657"/>
                  <a:gd name="connsiteX65" fmla="*/ 315390 w 455657"/>
                  <a:gd name="connsiteY65" fmla="*/ 17720 h 455657"/>
                  <a:gd name="connsiteX66" fmla="*/ 331649 w 455657"/>
                  <a:gd name="connsiteY66" fmla="*/ 25209 h 455657"/>
                  <a:gd name="connsiteX67" fmla="*/ 347252 w 455657"/>
                  <a:gd name="connsiteY67" fmla="*/ 33951 h 455657"/>
                  <a:gd name="connsiteX68" fmla="*/ 362130 w 455657"/>
                  <a:gd name="connsiteY68" fmla="*/ 43889 h 455657"/>
                  <a:gd name="connsiteX69" fmla="*/ 376179 w 455657"/>
                  <a:gd name="connsiteY69" fmla="*/ 54965 h 455657"/>
                  <a:gd name="connsiteX70" fmla="*/ 389314 w 455657"/>
                  <a:gd name="connsiteY70" fmla="*/ 67107 h 455657"/>
                  <a:gd name="connsiteX71" fmla="*/ 401447 w 455657"/>
                  <a:gd name="connsiteY71" fmla="*/ 80243 h 455657"/>
                  <a:gd name="connsiteX72" fmla="*/ 412528 w 455657"/>
                  <a:gd name="connsiteY72" fmla="*/ 94293 h 455657"/>
                  <a:gd name="connsiteX73" fmla="*/ 422469 w 455657"/>
                  <a:gd name="connsiteY73" fmla="*/ 109165 h 455657"/>
                  <a:gd name="connsiteX74" fmla="*/ 431203 w 455657"/>
                  <a:gd name="connsiteY74" fmla="*/ 124773 h 455657"/>
                  <a:gd name="connsiteX75" fmla="*/ 438694 w 455657"/>
                  <a:gd name="connsiteY75" fmla="*/ 141020 h 455657"/>
                  <a:gd name="connsiteX76" fmla="*/ 444890 w 455657"/>
                  <a:gd name="connsiteY76" fmla="*/ 157803 h 455657"/>
                  <a:gd name="connsiteX77" fmla="*/ 449740 w 455657"/>
                  <a:gd name="connsiteY77" fmla="*/ 175020 h 455657"/>
                  <a:gd name="connsiteX78" fmla="*/ 453226 w 455657"/>
                  <a:gd name="connsiteY78" fmla="*/ 192566 h 455657"/>
                  <a:gd name="connsiteX79" fmla="*/ 455332 w 455657"/>
                  <a:gd name="connsiteY79" fmla="*/ 210332 h 455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455657" h="455657">
                    <a:moveTo>
                      <a:pt x="456040" y="228206"/>
                    </a:moveTo>
                    <a:lnTo>
                      <a:pt x="455332" y="246082"/>
                    </a:lnTo>
                    <a:lnTo>
                      <a:pt x="453226" y="263847"/>
                    </a:lnTo>
                    <a:lnTo>
                      <a:pt x="449740" y="281392"/>
                    </a:lnTo>
                    <a:lnTo>
                      <a:pt x="444890" y="298608"/>
                    </a:lnTo>
                    <a:lnTo>
                      <a:pt x="438694" y="315392"/>
                    </a:lnTo>
                    <a:lnTo>
                      <a:pt x="431203" y="331638"/>
                    </a:lnTo>
                    <a:lnTo>
                      <a:pt x="422469" y="347246"/>
                    </a:lnTo>
                    <a:lnTo>
                      <a:pt x="412528" y="362121"/>
                    </a:lnTo>
                    <a:lnTo>
                      <a:pt x="401447" y="376169"/>
                    </a:lnTo>
                    <a:lnTo>
                      <a:pt x="389314" y="389305"/>
                    </a:lnTo>
                    <a:lnTo>
                      <a:pt x="376179" y="401449"/>
                    </a:lnTo>
                    <a:lnTo>
                      <a:pt x="362130" y="412523"/>
                    </a:lnTo>
                    <a:lnTo>
                      <a:pt x="347252" y="422463"/>
                    </a:lnTo>
                    <a:lnTo>
                      <a:pt x="331649" y="431203"/>
                    </a:lnTo>
                    <a:lnTo>
                      <a:pt x="315390" y="438692"/>
                    </a:lnTo>
                    <a:lnTo>
                      <a:pt x="298614" y="444884"/>
                    </a:lnTo>
                    <a:lnTo>
                      <a:pt x="281388" y="449740"/>
                    </a:lnTo>
                    <a:lnTo>
                      <a:pt x="263853" y="453230"/>
                    </a:lnTo>
                    <a:lnTo>
                      <a:pt x="246092" y="455333"/>
                    </a:lnTo>
                    <a:lnTo>
                      <a:pt x="228211" y="456035"/>
                    </a:lnTo>
                    <a:lnTo>
                      <a:pt x="210330" y="455333"/>
                    </a:lnTo>
                    <a:lnTo>
                      <a:pt x="192570" y="453230"/>
                    </a:lnTo>
                    <a:lnTo>
                      <a:pt x="175034" y="449740"/>
                    </a:lnTo>
                    <a:lnTo>
                      <a:pt x="157808" y="444884"/>
                    </a:lnTo>
                    <a:lnTo>
                      <a:pt x="141032" y="438692"/>
                    </a:lnTo>
                    <a:lnTo>
                      <a:pt x="124774" y="431203"/>
                    </a:lnTo>
                    <a:lnTo>
                      <a:pt x="109171" y="422463"/>
                    </a:lnTo>
                    <a:lnTo>
                      <a:pt x="94293" y="412523"/>
                    </a:lnTo>
                    <a:lnTo>
                      <a:pt x="80243" y="401449"/>
                    </a:lnTo>
                    <a:lnTo>
                      <a:pt x="67109" y="389305"/>
                    </a:lnTo>
                    <a:lnTo>
                      <a:pt x="54975" y="376169"/>
                    </a:lnTo>
                    <a:lnTo>
                      <a:pt x="43894" y="362121"/>
                    </a:lnTo>
                    <a:lnTo>
                      <a:pt x="33953" y="347246"/>
                    </a:lnTo>
                    <a:lnTo>
                      <a:pt x="25219" y="331638"/>
                    </a:lnTo>
                    <a:lnTo>
                      <a:pt x="17728" y="315392"/>
                    </a:lnTo>
                    <a:lnTo>
                      <a:pt x="11532" y="298608"/>
                    </a:lnTo>
                    <a:lnTo>
                      <a:pt x="6682" y="281392"/>
                    </a:lnTo>
                    <a:lnTo>
                      <a:pt x="3178" y="263847"/>
                    </a:lnTo>
                    <a:lnTo>
                      <a:pt x="1090" y="246082"/>
                    </a:lnTo>
                    <a:lnTo>
                      <a:pt x="383" y="228206"/>
                    </a:lnTo>
                    <a:lnTo>
                      <a:pt x="1090" y="210332"/>
                    </a:lnTo>
                    <a:lnTo>
                      <a:pt x="3178" y="192566"/>
                    </a:lnTo>
                    <a:lnTo>
                      <a:pt x="6682" y="175020"/>
                    </a:lnTo>
                    <a:lnTo>
                      <a:pt x="11532" y="157803"/>
                    </a:lnTo>
                    <a:lnTo>
                      <a:pt x="17728" y="141020"/>
                    </a:lnTo>
                    <a:lnTo>
                      <a:pt x="25219" y="124773"/>
                    </a:lnTo>
                    <a:lnTo>
                      <a:pt x="33953" y="109165"/>
                    </a:lnTo>
                    <a:lnTo>
                      <a:pt x="43894" y="94293"/>
                    </a:lnTo>
                    <a:lnTo>
                      <a:pt x="54975" y="80243"/>
                    </a:lnTo>
                    <a:lnTo>
                      <a:pt x="67109" y="67107"/>
                    </a:lnTo>
                    <a:lnTo>
                      <a:pt x="80243" y="54965"/>
                    </a:lnTo>
                    <a:lnTo>
                      <a:pt x="94293" y="43889"/>
                    </a:lnTo>
                    <a:lnTo>
                      <a:pt x="109171" y="33951"/>
                    </a:lnTo>
                    <a:lnTo>
                      <a:pt x="124774" y="25209"/>
                    </a:lnTo>
                    <a:lnTo>
                      <a:pt x="141032" y="17720"/>
                    </a:lnTo>
                    <a:lnTo>
                      <a:pt x="157808" y="11529"/>
                    </a:lnTo>
                    <a:lnTo>
                      <a:pt x="175034" y="6672"/>
                    </a:lnTo>
                    <a:lnTo>
                      <a:pt x="192570" y="3182"/>
                    </a:lnTo>
                    <a:lnTo>
                      <a:pt x="210330" y="1080"/>
                    </a:lnTo>
                    <a:lnTo>
                      <a:pt x="228211" y="377"/>
                    </a:lnTo>
                    <a:lnTo>
                      <a:pt x="246092" y="1080"/>
                    </a:lnTo>
                    <a:lnTo>
                      <a:pt x="263853" y="3182"/>
                    </a:lnTo>
                    <a:lnTo>
                      <a:pt x="281388" y="6672"/>
                    </a:lnTo>
                    <a:lnTo>
                      <a:pt x="298614" y="11529"/>
                    </a:lnTo>
                    <a:lnTo>
                      <a:pt x="315390" y="17720"/>
                    </a:lnTo>
                    <a:lnTo>
                      <a:pt x="331649" y="25209"/>
                    </a:lnTo>
                    <a:lnTo>
                      <a:pt x="347252" y="33951"/>
                    </a:lnTo>
                    <a:lnTo>
                      <a:pt x="362130" y="43889"/>
                    </a:lnTo>
                    <a:lnTo>
                      <a:pt x="376179" y="54965"/>
                    </a:lnTo>
                    <a:lnTo>
                      <a:pt x="389314" y="67107"/>
                    </a:lnTo>
                    <a:lnTo>
                      <a:pt x="401447" y="80243"/>
                    </a:lnTo>
                    <a:lnTo>
                      <a:pt x="412528" y="94293"/>
                    </a:lnTo>
                    <a:lnTo>
                      <a:pt x="422469" y="109165"/>
                    </a:lnTo>
                    <a:lnTo>
                      <a:pt x="431203" y="124773"/>
                    </a:lnTo>
                    <a:lnTo>
                      <a:pt x="438694" y="141020"/>
                    </a:lnTo>
                    <a:lnTo>
                      <a:pt x="444890" y="157803"/>
                    </a:lnTo>
                    <a:lnTo>
                      <a:pt x="449740" y="175020"/>
                    </a:lnTo>
                    <a:lnTo>
                      <a:pt x="453226" y="192566"/>
                    </a:lnTo>
                    <a:lnTo>
                      <a:pt x="455332" y="210332"/>
                    </a:lnTo>
                    <a:close/>
                  </a:path>
                </a:pathLst>
              </a:custGeom>
              <a:solidFill>
                <a:srgbClr val="A0235A"/>
              </a:solidFill>
              <a:ln w="258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71" name="Freihandform: Form 470">
                <a:extLst>
                  <a:ext uri="{FF2B5EF4-FFF2-40B4-BE49-F238E27FC236}">
                    <a16:creationId xmlns:a16="http://schemas.microsoft.com/office/drawing/2014/main" id="{A61E05E9-F0A6-EC6F-99A4-1DE8D405BF15}"/>
                  </a:ext>
                </a:extLst>
              </p:cNvPr>
              <p:cNvSpPr/>
              <p:nvPr/>
            </p:nvSpPr>
            <p:spPr>
              <a:xfrm>
                <a:off x="3445811" y="32460861"/>
                <a:ext cx="431493" cy="241636"/>
              </a:xfrm>
              <a:custGeom>
                <a:avLst/>
                <a:gdLst>
                  <a:gd name="connsiteX0" fmla="*/ 383 w 431493"/>
                  <a:gd name="connsiteY0" fmla="*/ 388 h 241636"/>
                  <a:gd name="connsiteX1" fmla="*/ 431876 w 431493"/>
                  <a:gd name="connsiteY1" fmla="*/ 388 h 241636"/>
                  <a:gd name="connsiteX2" fmla="*/ 431876 w 431493"/>
                  <a:gd name="connsiteY2" fmla="*/ 242024 h 241636"/>
                  <a:gd name="connsiteX3" fmla="*/ 383 w 431493"/>
                  <a:gd name="connsiteY3" fmla="*/ 242024 h 241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1493" h="241636">
                    <a:moveTo>
                      <a:pt x="383" y="388"/>
                    </a:moveTo>
                    <a:lnTo>
                      <a:pt x="431876" y="388"/>
                    </a:lnTo>
                    <a:lnTo>
                      <a:pt x="431876" y="242024"/>
                    </a:lnTo>
                    <a:lnTo>
                      <a:pt x="383" y="242024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72" name="Textfeld 471">
                <a:extLst>
                  <a:ext uri="{FF2B5EF4-FFF2-40B4-BE49-F238E27FC236}">
                    <a16:creationId xmlns:a16="http://schemas.microsoft.com/office/drawing/2014/main" id="{2BE7EF97-643F-0BBD-5E15-BB04161E2D70}"/>
                  </a:ext>
                </a:extLst>
              </p:cNvPr>
              <p:cNvSpPr txBox="1"/>
              <p:nvPr/>
            </p:nvSpPr>
            <p:spPr>
              <a:xfrm>
                <a:off x="3388891" y="32449660"/>
                <a:ext cx="545334" cy="3158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de-DE" sz="1019" spc="0" baseline="0">
                    <a:ln/>
                    <a:solidFill>
                      <a:srgbClr val="1F2933"/>
                    </a:solidFill>
                    <a:latin typeface="Helvetica"/>
                    <a:cs typeface="Helvetica"/>
                    <a:sym typeface="Helvetica"/>
                    <a:rtl val="0"/>
                  </a:rPr>
                  <a:t>EAD</a:t>
                </a:r>
              </a:p>
            </p:txBody>
          </p:sp>
          <p:sp>
            <p:nvSpPr>
              <p:cNvPr id="473" name="Freihandform: Form 472">
                <a:extLst>
                  <a:ext uri="{FF2B5EF4-FFF2-40B4-BE49-F238E27FC236}">
                    <a16:creationId xmlns:a16="http://schemas.microsoft.com/office/drawing/2014/main" id="{232BFD75-AEA4-F3CF-8068-F5B2775A3E4A}"/>
                  </a:ext>
                </a:extLst>
              </p:cNvPr>
              <p:cNvSpPr/>
              <p:nvPr/>
            </p:nvSpPr>
            <p:spPr>
              <a:xfrm>
                <a:off x="1777485" y="34401299"/>
                <a:ext cx="538503" cy="538504"/>
              </a:xfrm>
              <a:custGeom>
                <a:avLst/>
                <a:gdLst>
                  <a:gd name="connsiteX0" fmla="*/ 538840 w 538503"/>
                  <a:gd name="connsiteY0" fmla="*/ 269700 h 538504"/>
                  <a:gd name="connsiteX1" fmla="*/ 538011 w 538503"/>
                  <a:gd name="connsiteY1" fmla="*/ 290826 h 538504"/>
                  <a:gd name="connsiteX2" fmla="*/ 535526 w 538503"/>
                  <a:gd name="connsiteY2" fmla="*/ 311814 h 538504"/>
                  <a:gd name="connsiteX3" fmla="*/ 531401 w 538503"/>
                  <a:gd name="connsiteY3" fmla="*/ 332560 h 538504"/>
                  <a:gd name="connsiteX4" fmla="*/ 525653 w 538503"/>
                  <a:gd name="connsiteY4" fmla="*/ 352910 h 538504"/>
                  <a:gd name="connsiteX5" fmla="*/ 518353 w 538503"/>
                  <a:gd name="connsiteY5" fmla="*/ 372741 h 538504"/>
                  <a:gd name="connsiteX6" fmla="*/ 509498 w 538503"/>
                  <a:gd name="connsiteY6" fmla="*/ 391934 h 538504"/>
                  <a:gd name="connsiteX7" fmla="*/ 499159 w 538503"/>
                  <a:gd name="connsiteY7" fmla="*/ 410385 h 538504"/>
                  <a:gd name="connsiteX8" fmla="*/ 487423 w 538503"/>
                  <a:gd name="connsiteY8" fmla="*/ 427955 h 538504"/>
                  <a:gd name="connsiteX9" fmla="*/ 474322 w 538503"/>
                  <a:gd name="connsiteY9" fmla="*/ 444559 h 538504"/>
                  <a:gd name="connsiteX10" fmla="*/ 459980 w 538503"/>
                  <a:gd name="connsiteY10" fmla="*/ 460093 h 538504"/>
                  <a:gd name="connsiteX11" fmla="*/ 444446 w 538503"/>
                  <a:gd name="connsiteY11" fmla="*/ 474436 h 538504"/>
                  <a:gd name="connsiteX12" fmla="*/ 427842 w 538503"/>
                  <a:gd name="connsiteY12" fmla="*/ 487536 h 538504"/>
                  <a:gd name="connsiteX13" fmla="*/ 410272 w 538503"/>
                  <a:gd name="connsiteY13" fmla="*/ 499272 h 538504"/>
                  <a:gd name="connsiteX14" fmla="*/ 391821 w 538503"/>
                  <a:gd name="connsiteY14" fmla="*/ 509611 h 538504"/>
                  <a:gd name="connsiteX15" fmla="*/ 372628 w 538503"/>
                  <a:gd name="connsiteY15" fmla="*/ 518465 h 538504"/>
                  <a:gd name="connsiteX16" fmla="*/ 352797 w 538503"/>
                  <a:gd name="connsiteY16" fmla="*/ 525766 h 538504"/>
                  <a:gd name="connsiteX17" fmla="*/ 332447 w 538503"/>
                  <a:gd name="connsiteY17" fmla="*/ 531514 h 538504"/>
                  <a:gd name="connsiteX18" fmla="*/ 311701 w 538503"/>
                  <a:gd name="connsiteY18" fmla="*/ 535639 h 538504"/>
                  <a:gd name="connsiteX19" fmla="*/ 290713 w 538503"/>
                  <a:gd name="connsiteY19" fmla="*/ 538124 h 538504"/>
                  <a:gd name="connsiteX20" fmla="*/ 269587 w 538503"/>
                  <a:gd name="connsiteY20" fmla="*/ 538953 h 538504"/>
                  <a:gd name="connsiteX21" fmla="*/ 248461 w 538503"/>
                  <a:gd name="connsiteY21" fmla="*/ 538124 h 538504"/>
                  <a:gd name="connsiteX22" fmla="*/ 227474 w 538503"/>
                  <a:gd name="connsiteY22" fmla="*/ 535639 h 538504"/>
                  <a:gd name="connsiteX23" fmla="*/ 206727 w 538503"/>
                  <a:gd name="connsiteY23" fmla="*/ 531514 h 538504"/>
                  <a:gd name="connsiteX24" fmla="*/ 186378 w 538503"/>
                  <a:gd name="connsiteY24" fmla="*/ 525766 h 538504"/>
                  <a:gd name="connsiteX25" fmla="*/ 166547 w 538503"/>
                  <a:gd name="connsiteY25" fmla="*/ 518465 h 538504"/>
                  <a:gd name="connsiteX26" fmla="*/ 147354 w 538503"/>
                  <a:gd name="connsiteY26" fmla="*/ 509611 h 538504"/>
                  <a:gd name="connsiteX27" fmla="*/ 128903 w 538503"/>
                  <a:gd name="connsiteY27" fmla="*/ 499272 h 538504"/>
                  <a:gd name="connsiteX28" fmla="*/ 111333 w 538503"/>
                  <a:gd name="connsiteY28" fmla="*/ 487536 h 538504"/>
                  <a:gd name="connsiteX29" fmla="*/ 94729 w 538503"/>
                  <a:gd name="connsiteY29" fmla="*/ 474436 h 538504"/>
                  <a:gd name="connsiteX30" fmla="*/ 79196 w 538503"/>
                  <a:gd name="connsiteY30" fmla="*/ 460093 h 538504"/>
                  <a:gd name="connsiteX31" fmla="*/ 64852 w 538503"/>
                  <a:gd name="connsiteY31" fmla="*/ 444559 h 538504"/>
                  <a:gd name="connsiteX32" fmla="*/ 51752 w 538503"/>
                  <a:gd name="connsiteY32" fmla="*/ 427955 h 538504"/>
                  <a:gd name="connsiteX33" fmla="*/ 40016 w 538503"/>
                  <a:gd name="connsiteY33" fmla="*/ 410385 h 538504"/>
                  <a:gd name="connsiteX34" fmla="*/ 29677 w 538503"/>
                  <a:gd name="connsiteY34" fmla="*/ 391934 h 538504"/>
                  <a:gd name="connsiteX35" fmla="*/ 20823 w 538503"/>
                  <a:gd name="connsiteY35" fmla="*/ 372741 h 538504"/>
                  <a:gd name="connsiteX36" fmla="*/ 13522 w 538503"/>
                  <a:gd name="connsiteY36" fmla="*/ 352910 h 538504"/>
                  <a:gd name="connsiteX37" fmla="*/ 7775 w 538503"/>
                  <a:gd name="connsiteY37" fmla="*/ 332560 h 538504"/>
                  <a:gd name="connsiteX38" fmla="*/ 3649 w 538503"/>
                  <a:gd name="connsiteY38" fmla="*/ 311814 h 538504"/>
                  <a:gd name="connsiteX39" fmla="*/ 1164 w 538503"/>
                  <a:gd name="connsiteY39" fmla="*/ 290826 h 538504"/>
                  <a:gd name="connsiteX40" fmla="*/ 336 w 538503"/>
                  <a:gd name="connsiteY40" fmla="*/ 269700 h 538504"/>
                  <a:gd name="connsiteX41" fmla="*/ 1164 w 538503"/>
                  <a:gd name="connsiteY41" fmla="*/ 248575 h 538504"/>
                  <a:gd name="connsiteX42" fmla="*/ 3649 w 538503"/>
                  <a:gd name="connsiteY42" fmla="*/ 227587 h 538504"/>
                  <a:gd name="connsiteX43" fmla="*/ 7775 w 538503"/>
                  <a:gd name="connsiteY43" fmla="*/ 206840 h 538504"/>
                  <a:gd name="connsiteX44" fmla="*/ 13522 w 538503"/>
                  <a:gd name="connsiteY44" fmla="*/ 186491 h 538504"/>
                  <a:gd name="connsiteX45" fmla="*/ 20823 w 538503"/>
                  <a:gd name="connsiteY45" fmla="*/ 166660 h 538504"/>
                  <a:gd name="connsiteX46" fmla="*/ 29677 w 538503"/>
                  <a:gd name="connsiteY46" fmla="*/ 147467 h 538504"/>
                  <a:gd name="connsiteX47" fmla="*/ 40016 w 538503"/>
                  <a:gd name="connsiteY47" fmla="*/ 129016 h 538504"/>
                  <a:gd name="connsiteX48" fmla="*/ 51752 w 538503"/>
                  <a:gd name="connsiteY48" fmla="*/ 111446 h 538504"/>
                  <a:gd name="connsiteX49" fmla="*/ 64852 w 538503"/>
                  <a:gd name="connsiteY49" fmla="*/ 94842 h 538504"/>
                  <a:gd name="connsiteX50" fmla="*/ 79196 w 538503"/>
                  <a:gd name="connsiteY50" fmla="*/ 79308 h 538504"/>
                  <a:gd name="connsiteX51" fmla="*/ 94729 w 538503"/>
                  <a:gd name="connsiteY51" fmla="*/ 64965 h 538504"/>
                  <a:gd name="connsiteX52" fmla="*/ 111333 w 538503"/>
                  <a:gd name="connsiteY52" fmla="*/ 51865 h 538504"/>
                  <a:gd name="connsiteX53" fmla="*/ 128903 w 538503"/>
                  <a:gd name="connsiteY53" fmla="*/ 40129 h 538504"/>
                  <a:gd name="connsiteX54" fmla="*/ 147354 w 538503"/>
                  <a:gd name="connsiteY54" fmla="*/ 29790 h 538504"/>
                  <a:gd name="connsiteX55" fmla="*/ 166547 w 538503"/>
                  <a:gd name="connsiteY55" fmla="*/ 20936 h 538504"/>
                  <a:gd name="connsiteX56" fmla="*/ 186378 w 538503"/>
                  <a:gd name="connsiteY56" fmla="*/ 13635 h 538504"/>
                  <a:gd name="connsiteX57" fmla="*/ 206727 w 538503"/>
                  <a:gd name="connsiteY57" fmla="*/ 7887 h 538504"/>
                  <a:gd name="connsiteX58" fmla="*/ 227474 w 538503"/>
                  <a:gd name="connsiteY58" fmla="*/ 3762 h 538504"/>
                  <a:gd name="connsiteX59" fmla="*/ 248461 w 538503"/>
                  <a:gd name="connsiteY59" fmla="*/ 1277 h 538504"/>
                  <a:gd name="connsiteX60" fmla="*/ 269587 w 538503"/>
                  <a:gd name="connsiteY60" fmla="*/ 448 h 538504"/>
                  <a:gd name="connsiteX61" fmla="*/ 290713 w 538503"/>
                  <a:gd name="connsiteY61" fmla="*/ 1277 h 538504"/>
                  <a:gd name="connsiteX62" fmla="*/ 311701 w 538503"/>
                  <a:gd name="connsiteY62" fmla="*/ 3762 h 538504"/>
                  <a:gd name="connsiteX63" fmla="*/ 332447 w 538503"/>
                  <a:gd name="connsiteY63" fmla="*/ 7887 h 538504"/>
                  <a:gd name="connsiteX64" fmla="*/ 352797 w 538503"/>
                  <a:gd name="connsiteY64" fmla="*/ 13635 h 538504"/>
                  <a:gd name="connsiteX65" fmla="*/ 372628 w 538503"/>
                  <a:gd name="connsiteY65" fmla="*/ 20936 h 538504"/>
                  <a:gd name="connsiteX66" fmla="*/ 391821 w 538503"/>
                  <a:gd name="connsiteY66" fmla="*/ 29790 h 538504"/>
                  <a:gd name="connsiteX67" fmla="*/ 410272 w 538503"/>
                  <a:gd name="connsiteY67" fmla="*/ 40129 h 538504"/>
                  <a:gd name="connsiteX68" fmla="*/ 427842 w 538503"/>
                  <a:gd name="connsiteY68" fmla="*/ 51865 h 538504"/>
                  <a:gd name="connsiteX69" fmla="*/ 444446 w 538503"/>
                  <a:gd name="connsiteY69" fmla="*/ 64965 h 538504"/>
                  <a:gd name="connsiteX70" fmla="*/ 459980 w 538503"/>
                  <a:gd name="connsiteY70" fmla="*/ 79308 h 538504"/>
                  <a:gd name="connsiteX71" fmla="*/ 474322 w 538503"/>
                  <a:gd name="connsiteY71" fmla="*/ 94842 h 538504"/>
                  <a:gd name="connsiteX72" fmla="*/ 487423 w 538503"/>
                  <a:gd name="connsiteY72" fmla="*/ 111446 h 538504"/>
                  <a:gd name="connsiteX73" fmla="*/ 499159 w 538503"/>
                  <a:gd name="connsiteY73" fmla="*/ 129016 h 538504"/>
                  <a:gd name="connsiteX74" fmla="*/ 509498 w 538503"/>
                  <a:gd name="connsiteY74" fmla="*/ 147467 h 538504"/>
                  <a:gd name="connsiteX75" fmla="*/ 518353 w 538503"/>
                  <a:gd name="connsiteY75" fmla="*/ 166660 h 538504"/>
                  <a:gd name="connsiteX76" fmla="*/ 525653 w 538503"/>
                  <a:gd name="connsiteY76" fmla="*/ 186491 h 538504"/>
                  <a:gd name="connsiteX77" fmla="*/ 531401 w 538503"/>
                  <a:gd name="connsiteY77" fmla="*/ 206840 h 538504"/>
                  <a:gd name="connsiteX78" fmla="*/ 535526 w 538503"/>
                  <a:gd name="connsiteY78" fmla="*/ 227587 h 538504"/>
                  <a:gd name="connsiteX79" fmla="*/ 538011 w 538503"/>
                  <a:gd name="connsiteY79" fmla="*/ 248575 h 538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538503" h="538504">
                    <a:moveTo>
                      <a:pt x="538840" y="269700"/>
                    </a:moveTo>
                    <a:lnTo>
                      <a:pt x="538011" y="290826"/>
                    </a:lnTo>
                    <a:lnTo>
                      <a:pt x="535526" y="311814"/>
                    </a:lnTo>
                    <a:lnTo>
                      <a:pt x="531401" y="332560"/>
                    </a:lnTo>
                    <a:lnTo>
                      <a:pt x="525653" y="352910"/>
                    </a:lnTo>
                    <a:lnTo>
                      <a:pt x="518353" y="372741"/>
                    </a:lnTo>
                    <a:lnTo>
                      <a:pt x="509498" y="391934"/>
                    </a:lnTo>
                    <a:lnTo>
                      <a:pt x="499159" y="410385"/>
                    </a:lnTo>
                    <a:lnTo>
                      <a:pt x="487423" y="427955"/>
                    </a:lnTo>
                    <a:lnTo>
                      <a:pt x="474322" y="444559"/>
                    </a:lnTo>
                    <a:lnTo>
                      <a:pt x="459980" y="460093"/>
                    </a:lnTo>
                    <a:lnTo>
                      <a:pt x="444446" y="474436"/>
                    </a:lnTo>
                    <a:lnTo>
                      <a:pt x="427842" y="487536"/>
                    </a:lnTo>
                    <a:lnTo>
                      <a:pt x="410272" y="499272"/>
                    </a:lnTo>
                    <a:lnTo>
                      <a:pt x="391821" y="509611"/>
                    </a:lnTo>
                    <a:lnTo>
                      <a:pt x="372628" y="518465"/>
                    </a:lnTo>
                    <a:lnTo>
                      <a:pt x="352797" y="525766"/>
                    </a:lnTo>
                    <a:lnTo>
                      <a:pt x="332447" y="531514"/>
                    </a:lnTo>
                    <a:lnTo>
                      <a:pt x="311701" y="535639"/>
                    </a:lnTo>
                    <a:lnTo>
                      <a:pt x="290713" y="538124"/>
                    </a:lnTo>
                    <a:lnTo>
                      <a:pt x="269587" y="538953"/>
                    </a:lnTo>
                    <a:lnTo>
                      <a:pt x="248461" y="538124"/>
                    </a:lnTo>
                    <a:lnTo>
                      <a:pt x="227474" y="535639"/>
                    </a:lnTo>
                    <a:lnTo>
                      <a:pt x="206727" y="531514"/>
                    </a:lnTo>
                    <a:lnTo>
                      <a:pt x="186378" y="525766"/>
                    </a:lnTo>
                    <a:lnTo>
                      <a:pt x="166547" y="518465"/>
                    </a:lnTo>
                    <a:lnTo>
                      <a:pt x="147354" y="509611"/>
                    </a:lnTo>
                    <a:lnTo>
                      <a:pt x="128903" y="499272"/>
                    </a:lnTo>
                    <a:lnTo>
                      <a:pt x="111333" y="487536"/>
                    </a:lnTo>
                    <a:lnTo>
                      <a:pt x="94729" y="474436"/>
                    </a:lnTo>
                    <a:lnTo>
                      <a:pt x="79196" y="460093"/>
                    </a:lnTo>
                    <a:lnTo>
                      <a:pt x="64852" y="444559"/>
                    </a:lnTo>
                    <a:lnTo>
                      <a:pt x="51752" y="427955"/>
                    </a:lnTo>
                    <a:lnTo>
                      <a:pt x="40016" y="410385"/>
                    </a:lnTo>
                    <a:lnTo>
                      <a:pt x="29677" y="391934"/>
                    </a:lnTo>
                    <a:lnTo>
                      <a:pt x="20823" y="372741"/>
                    </a:lnTo>
                    <a:lnTo>
                      <a:pt x="13522" y="352910"/>
                    </a:lnTo>
                    <a:lnTo>
                      <a:pt x="7775" y="332560"/>
                    </a:lnTo>
                    <a:lnTo>
                      <a:pt x="3649" y="311814"/>
                    </a:lnTo>
                    <a:lnTo>
                      <a:pt x="1164" y="290826"/>
                    </a:lnTo>
                    <a:lnTo>
                      <a:pt x="336" y="269700"/>
                    </a:lnTo>
                    <a:lnTo>
                      <a:pt x="1164" y="248575"/>
                    </a:lnTo>
                    <a:lnTo>
                      <a:pt x="3649" y="227587"/>
                    </a:lnTo>
                    <a:lnTo>
                      <a:pt x="7775" y="206840"/>
                    </a:lnTo>
                    <a:lnTo>
                      <a:pt x="13522" y="186491"/>
                    </a:lnTo>
                    <a:lnTo>
                      <a:pt x="20823" y="166660"/>
                    </a:lnTo>
                    <a:lnTo>
                      <a:pt x="29677" y="147467"/>
                    </a:lnTo>
                    <a:lnTo>
                      <a:pt x="40016" y="129016"/>
                    </a:lnTo>
                    <a:lnTo>
                      <a:pt x="51752" y="111446"/>
                    </a:lnTo>
                    <a:lnTo>
                      <a:pt x="64852" y="94842"/>
                    </a:lnTo>
                    <a:lnTo>
                      <a:pt x="79196" y="79308"/>
                    </a:lnTo>
                    <a:lnTo>
                      <a:pt x="94729" y="64965"/>
                    </a:lnTo>
                    <a:lnTo>
                      <a:pt x="111333" y="51865"/>
                    </a:lnTo>
                    <a:lnTo>
                      <a:pt x="128903" y="40129"/>
                    </a:lnTo>
                    <a:lnTo>
                      <a:pt x="147354" y="29790"/>
                    </a:lnTo>
                    <a:lnTo>
                      <a:pt x="166547" y="20936"/>
                    </a:lnTo>
                    <a:lnTo>
                      <a:pt x="186378" y="13635"/>
                    </a:lnTo>
                    <a:lnTo>
                      <a:pt x="206727" y="7887"/>
                    </a:lnTo>
                    <a:lnTo>
                      <a:pt x="227474" y="3762"/>
                    </a:lnTo>
                    <a:lnTo>
                      <a:pt x="248461" y="1277"/>
                    </a:lnTo>
                    <a:lnTo>
                      <a:pt x="269587" y="448"/>
                    </a:lnTo>
                    <a:lnTo>
                      <a:pt x="290713" y="1277"/>
                    </a:lnTo>
                    <a:lnTo>
                      <a:pt x="311701" y="3762"/>
                    </a:lnTo>
                    <a:lnTo>
                      <a:pt x="332447" y="7887"/>
                    </a:lnTo>
                    <a:lnTo>
                      <a:pt x="352797" y="13635"/>
                    </a:lnTo>
                    <a:lnTo>
                      <a:pt x="372628" y="20936"/>
                    </a:lnTo>
                    <a:lnTo>
                      <a:pt x="391821" y="29790"/>
                    </a:lnTo>
                    <a:lnTo>
                      <a:pt x="410272" y="40129"/>
                    </a:lnTo>
                    <a:lnTo>
                      <a:pt x="427842" y="51865"/>
                    </a:lnTo>
                    <a:lnTo>
                      <a:pt x="444446" y="64965"/>
                    </a:lnTo>
                    <a:lnTo>
                      <a:pt x="459980" y="79308"/>
                    </a:lnTo>
                    <a:lnTo>
                      <a:pt x="474322" y="94842"/>
                    </a:lnTo>
                    <a:lnTo>
                      <a:pt x="487423" y="111446"/>
                    </a:lnTo>
                    <a:lnTo>
                      <a:pt x="499159" y="129016"/>
                    </a:lnTo>
                    <a:lnTo>
                      <a:pt x="509498" y="147467"/>
                    </a:lnTo>
                    <a:lnTo>
                      <a:pt x="518353" y="166660"/>
                    </a:lnTo>
                    <a:lnTo>
                      <a:pt x="525653" y="186491"/>
                    </a:lnTo>
                    <a:lnTo>
                      <a:pt x="531401" y="206840"/>
                    </a:lnTo>
                    <a:lnTo>
                      <a:pt x="535526" y="227587"/>
                    </a:lnTo>
                    <a:lnTo>
                      <a:pt x="538011" y="248575"/>
                    </a:lnTo>
                    <a:close/>
                  </a:path>
                </a:pathLst>
              </a:custGeom>
              <a:solidFill>
                <a:srgbClr val="A0235A"/>
              </a:solidFill>
              <a:ln w="258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74" name="Freihandform: Form 473">
                <a:extLst>
                  <a:ext uri="{FF2B5EF4-FFF2-40B4-BE49-F238E27FC236}">
                    <a16:creationId xmlns:a16="http://schemas.microsoft.com/office/drawing/2014/main" id="{F56E17BC-EF66-BB77-747E-6CF141D303D3}"/>
                  </a:ext>
                </a:extLst>
              </p:cNvPr>
              <p:cNvSpPr/>
              <p:nvPr/>
            </p:nvSpPr>
            <p:spPr>
              <a:xfrm>
                <a:off x="1744691" y="34957063"/>
                <a:ext cx="604091" cy="241636"/>
              </a:xfrm>
              <a:custGeom>
                <a:avLst/>
                <a:gdLst>
                  <a:gd name="connsiteX0" fmla="*/ 336 w 604091"/>
                  <a:gd name="connsiteY0" fmla="*/ 460 h 241636"/>
                  <a:gd name="connsiteX1" fmla="*/ 604427 w 604091"/>
                  <a:gd name="connsiteY1" fmla="*/ 460 h 241636"/>
                  <a:gd name="connsiteX2" fmla="*/ 604427 w 604091"/>
                  <a:gd name="connsiteY2" fmla="*/ 242097 h 241636"/>
                  <a:gd name="connsiteX3" fmla="*/ 336 w 604091"/>
                  <a:gd name="connsiteY3" fmla="*/ 242097 h 241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4091" h="241636">
                    <a:moveTo>
                      <a:pt x="336" y="460"/>
                    </a:moveTo>
                    <a:lnTo>
                      <a:pt x="604427" y="460"/>
                    </a:lnTo>
                    <a:lnTo>
                      <a:pt x="604427" y="242097"/>
                    </a:lnTo>
                    <a:lnTo>
                      <a:pt x="336" y="242097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75" name="Textfeld 474">
                <a:extLst>
                  <a:ext uri="{FF2B5EF4-FFF2-40B4-BE49-F238E27FC236}">
                    <a16:creationId xmlns:a16="http://schemas.microsoft.com/office/drawing/2014/main" id="{F8AB31F1-0323-252B-C8C2-128FB02AA065}"/>
                  </a:ext>
                </a:extLst>
              </p:cNvPr>
              <p:cNvSpPr txBox="1"/>
              <p:nvPr/>
            </p:nvSpPr>
            <p:spPr>
              <a:xfrm>
                <a:off x="1687770" y="34945863"/>
                <a:ext cx="717932" cy="3158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de-DE" sz="1019" spc="0" baseline="0">
                    <a:ln/>
                    <a:solidFill>
                      <a:srgbClr val="1F2933"/>
                    </a:solidFill>
                    <a:latin typeface="Helvetica"/>
                    <a:cs typeface="Helvetica"/>
                    <a:sym typeface="Helvetica"/>
                    <a:rtl val="0"/>
                  </a:rPr>
                  <a:t>MODS</a:t>
                </a:r>
              </a:p>
            </p:txBody>
          </p:sp>
          <p:sp>
            <p:nvSpPr>
              <p:cNvPr id="476" name="Freihandform: Form 475">
                <a:extLst>
                  <a:ext uri="{FF2B5EF4-FFF2-40B4-BE49-F238E27FC236}">
                    <a16:creationId xmlns:a16="http://schemas.microsoft.com/office/drawing/2014/main" id="{142BD49C-72CC-71A2-CEB2-9DB674439427}"/>
                  </a:ext>
                </a:extLst>
              </p:cNvPr>
              <p:cNvSpPr/>
              <p:nvPr/>
            </p:nvSpPr>
            <p:spPr>
              <a:xfrm>
                <a:off x="2423171" y="28541098"/>
                <a:ext cx="455657" cy="455657"/>
              </a:xfrm>
              <a:custGeom>
                <a:avLst/>
                <a:gdLst>
                  <a:gd name="connsiteX0" fmla="*/ 456011 w 455657"/>
                  <a:gd name="connsiteY0" fmla="*/ 228106 h 455657"/>
                  <a:gd name="connsiteX1" fmla="*/ 455303 w 455657"/>
                  <a:gd name="connsiteY1" fmla="*/ 245987 h 455657"/>
                  <a:gd name="connsiteX2" fmla="*/ 453197 w 455657"/>
                  <a:gd name="connsiteY2" fmla="*/ 263747 h 455657"/>
                  <a:gd name="connsiteX3" fmla="*/ 449711 w 455657"/>
                  <a:gd name="connsiteY3" fmla="*/ 281283 h 455657"/>
                  <a:gd name="connsiteX4" fmla="*/ 444861 w 455657"/>
                  <a:gd name="connsiteY4" fmla="*/ 298509 h 455657"/>
                  <a:gd name="connsiteX5" fmla="*/ 438665 w 455657"/>
                  <a:gd name="connsiteY5" fmla="*/ 315285 h 455657"/>
                  <a:gd name="connsiteX6" fmla="*/ 431174 w 455657"/>
                  <a:gd name="connsiteY6" fmla="*/ 331544 h 455657"/>
                  <a:gd name="connsiteX7" fmla="*/ 422441 w 455657"/>
                  <a:gd name="connsiteY7" fmla="*/ 347147 h 455657"/>
                  <a:gd name="connsiteX8" fmla="*/ 412499 w 455657"/>
                  <a:gd name="connsiteY8" fmla="*/ 362024 h 455657"/>
                  <a:gd name="connsiteX9" fmla="*/ 401418 w 455657"/>
                  <a:gd name="connsiteY9" fmla="*/ 376074 h 455657"/>
                  <a:gd name="connsiteX10" fmla="*/ 389285 w 455657"/>
                  <a:gd name="connsiteY10" fmla="*/ 389209 h 455657"/>
                  <a:gd name="connsiteX11" fmla="*/ 376150 w 455657"/>
                  <a:gd name="connsiteY11" fmla="*/ 401342 h 455657"/>
                  <a:gd name="connsiteX12" fmla="*/ 362101 w 455657"/>
                  <a:gd name="connsiteY12" fmla="*/ 412423 h 455657"/>
                  <a:gd name="connsiteX13" fmla="*/ 347223 w 455657"/>
                  <a:gd name="connsiteY13" fmla="*/ 422365 h 455657"/>
                  <a:gd name="connsiteX14" fmla="*/ 331620 w 455657"/>
                  <a:gd name="connsiteY14" fmla="*/ 431098 h 455657"/>
                  <a:gd name="connsiteX15" fmla="*/ 315361 w 455657"/>
                  <a:gd name="connsiteY15" fmla="*/ 438589 h 455657"/>
                  <a:gd name="connsiteX16" fmla="*/ 298585 w 455657"/>
                  <a:gd name="connsiteY16" fmla="*/ 444785 h 455657"/>
                  <a:gd name="connsiteX17" fmla="*/ 281359 w 455657"/>
                  <a:gd name="connsiteY17" fmla="*/ 449635 h 455657"/>
                  <a:gd name="connsiteX18" fmla="*/ 263824 w 455657"/>
                  <a:gd name="connsiteY18" fmla="*/ 453121 h 455657"/>
                  <a:gd name="connsiteX19" fmla="*/ 246063 w 455657"/>
                  <a:gd name="connsiteY19" fmla="*/ 455227 h 455657"/>
                  <a:gd name="connsiteX20" fmla="*/ 228182 w 455657"/>
                  <a:gd name="connsiteY20" fmla="*/ 455935 h 455657"/>
                  <a:gd name="connsiteX21" fmla="*/ 210301 w 455657"/>
                  <a:gd name="connsiteY21" fmla="*/ 455227 h 455657"/>
                  <a:gd name="connsiteX22" fmla="*/ 192541 w 455657"/>
                  <a:gd name="connsiteY22" fmla="*/ 453121 h 455657"/>
                  <a:gd name="connsiteX23" fmla="*/ 175005 w 455657"/>
                  <a:gd name="connsiteY23" fmla="*/ 449635 h 455657"/>
                  <a:gd name="connsiteX24" fmla="*/ 157779 w 455657"/>
                  <a:gd name="connsiteY24" fmla="*/ 444785 h 455657"/>
                  <a:gd name="connsiteX25" fmla="*/ 141003 w 455657"/>
                  <a:gd name="connsiteY25" fmla="*/ 438589 h 455657"/>
                  <a:gd name="connsiteX26" fmla="*/ 124744 w 455657"/>
                  <a:gd name="connsiteY26" fmla="*/ 431098 h 455657"/>
                  <a:gd name="connsiteX27" fmla="*/ 109142 w 455657"/>
                  <a:gd name="connsiteY27" fmla="*/ 422365 h 455657"/>
                  <a:gd name="connsiteX28" fmla="*/ 94264 w 455657"/>
                  <a:gd name="connsiteY28" fmla="*/ 412423 h 455657"/>
                  <a:gd name="connsiteX29" fmla="*/ 80214 w 455657"/>
                  <a:gd name="connsiteY29" fmla="*/ 401342 h 455657"/>
                  <a:gd name="connsiteX30" fmla="*/ 67079 w 455657"/>
                  <a:gd name="connsiteY30" fmla="*/ 389209 h 455657"/>
                  <a:gd name="connsiteX31" fmla="*/ 54946 w 455657"/>
                  <a:gd name="connsiteY31" fmla="*/ 376074 h 455657"/>
                  <a:gd name="connsiteX32" fmla="*/ 43866 w 455657"/>
                  <a:gd name="connsiteY32" fmla="*/ 362024 h 455657"/>
                  <a:gd name="connsiteX33" fmla="*/ 33924 w 455657"/>
                  <a:gd name="connsiteY33" fmla="*/ 347147 h 455657"/>
                  <a:gd name="connsiteX34" fmla="*/ 25190 w 455657"/>
                  <a:gd name="connsiteY34" fmla="*/ 331544 h 455657"/>
                  <a:gd name="connsiteX35" fmla="*/ 17699 w 455657"/>
                  <a:gd name="connsiteY35" fmla="*/ 315285 h 455657"/>
                  <a:gd name="connsiteX36" fmla="*/ 11504 w 455657"/>
                  <a:gd name="connsiteY36" fmla="*/ 298509 h 455657"/>
                  <a:gd name="connsiteX37" fmla="*/ 6653 w 455657"/>
                  <a:gd name="connsiteY37" fmla="*/ 281283 h 455657"/>
                  <a:gd name="connsiteX38" fmla="*/ 3167 w 455657"/>
                  <a:gd name="connsiteY38" fmla="*/ 263747 h 455657"/>
                  <a:gd name="connsiteX39" fmla="*/ 1061 w 455657"/>
                  <a:gd name="connsiteY39" fmla="*/ 245987 h 455657"/>
                  <a:gd name="connsiteX40" fmla="*/ 353 w 455657"/>
                  <a:gd name="connsiteY40" fmla="*/ 228106 h 455657"/>
                  <a:gd name="connsiteX41" fmla="*/ 1061 w 455657"/>
                  <a:gd name="connsiteY41" fmla="*/ 210225 h 455657"/>
                  <a:gd name="connsiteX42" fmla="*/ 3167 w 455657"/>
                  <a:gd name="connsiteY42" fmla="*/ 192465 h 455657"/>
                  <a:gd name="connsiteX43" fmla="*/ 6653 w 455657"/>
                  <a:gd name="connsiteY43" fmla="*/ 174929 h 455657"/>
                  <a:gd name="connsiteX44" fmla="*/ 11504 w 455657"/>
                  <a:gd name="connsiteY44" fmla="*/ 157704 h 455657"/>
                  <a:gd name="connsiteX45" fmla="*/ 17699 w 455657"/>
                  <a:gd name="connsiteY45" fmla="*/ 140927 h 455657"/>
                  <a:gd name="connsiteX46" fmla="*/ 25190 w 455657"/>
                  <a:gd name="connsiteY46" fmla="*/ 124668 h 455657"/>
                  <a:gd name="connsiteX47" fmla="*/ 33924 w 455657"/>
                  <a:gd name="connsiteY47" fmla="*/ 109066 h 455657"/>
                  <a:gd name="connsiteX48" fmla="*/ 43866 w 455657"/>
                  <a:gd name="connsiteY48" fmla="*/ 94188 h 455657"/>
                  <a:gd name="connsiteX49" fmla="*/ 54946 w 455657"/>
                  <a:gd name="connsiteY49" fmla="*/ 80138 h 455657"/>
                  <a:gd name="connsiteX50" fmla="*/ 67079 w 455657"/>
                  <a:gd name="connsiteY50" fmla="*/ 67004 h 455657"/>
                  <a:gd name="connsiteX51" fmla="*/ 80214 w 455657"/>
                  <a:gd name="connsiteY51" fmla="*/ 54870 h 455657"/>
                  <a:gd name="connsiteX52" fmla="*/ 94264 w 455657"/>
                  <a:gd name="connsiteY52" fmla="*/ 43789 h 455657"/>
                  <a:gd name="connsiteX53" fmla="*/ 109142 w 455657"/>
                  <a:gd name="connsiteY53" fmla="*/ 33848 h 455657"/>
                  <a:gd name="connsiteX54" fmla="*/ 124744 w 455657"/>
                  <a:gd name="connsiteY54" fmla="*/ 25114 h 455657"/>
                  <a:gd name="connsiteX55" fmla="*/ 141003 w 455657"/>
                  <a:gd name="connsiteY55" fmla="*/ 17624 h 455657"/>
                  <a:gd name="connsiteX56" fmla="*/ 157779 w 455657"/>
                  <a:gd name="connsiteY56" fmla="*/ 11427 h 455657"/>
                  <a:gd name="connsiteX57" fmla="*/ 175005 w 455657"/>
                  <a:gd name="connsiteY57" fmla="*/ 6577 h 455657"/>
                  <a:gd name="connsiteX58" fmla="*/ 192541 w 455657"/>
                  <a:gd name="connsiteY58" fmla="*/ 3091 h 455657"/>
                  <a:gd name="connsiteX59" fmla="*/ 210301 w 455657"/>
                  <a:gd name="connsiteY59" fmla="*/ 985 h 455657"/>
                  <a:gd name="connsiteX60" fmla="*/ 228182 w 455657"/>
                  <a:gd name="connsiteY60" fmla="*/ 277 h 455657"/>
                  <a:gd name="connsiteX61" fmla="*/ 246063 w 455657"/>
                  <a:gd name="connsiteY61" fmla="*/ 985 h 455657"/>
                  <a:gd name="connsiteX62" fmla="*/ 263824 w 455657"/>
                  <a:gd name="connsiteY62" fmla="*/ 3091 h 455657"/>
                  <a:gd name="connsiteX63" fmla="*/ 281359 w 455657"/>
                  <a:gd name="connsiteY63" fmla="*/ 6577 h 455657"/>
                  <a:gd name="connsiteX64" fmla="*/ 298585 w 455657"/>
                  <a:gd name="connsiteY64" fmla="*/ 11427 h 455657"/>
                  <a:gd name="connsiteX65" fmla="*/ 315361 w 455657"/>
                  <a:gd name="connsiteY65" fmla="*/ 17624 h 455657"/>
                  <a:gd name="connsiteX66" fmla="*/ 331620 w 455657"/>
                  <a:gd name="connsiteY66" fmla="*/ 25114 h 455657"/>
                  <a:gd name="connsiteX67" fmla="*/ 347223 w 455657"/>
                  <a:gd name="connsiteY67" fmla="*/ 33848 h 455657"/>
                  <a:gd name="connsiteX68" fmla="*/ 362101 w 455657"/>
                  <a:gd name="connsiteY68" fmla="*/ 43789 h 455657"/>
                  <a:gd name="connsiteX69" fmla="*/ 376150 w 455657"/>
                  <a:gd name="connsiteY69" fmla="*/ 54870 h 455657"/>
                  <a:gd name="connsiteX70" fmla="*/ 389285 w 455657"/>
                  <a:gd name="connsiteY70" fmla="*/ 67004 h 455657"/>
                  <a:gd name="connsiteX71" fmla="*/ 401418 w 455657"/>
                  <a:gd name="connsiteY71" fmla="*/ 80138 h 455657"/>
                  <a:gd name="connsiteX72" fmla="*/ 412499 w 455657"/>
                  <a:gd name="connsiteY72" fmla="*/ 94188 h 455657"/>
                  <a:gd name="connsiteX73" fmla="*/ 422441 w 455657"/>
                  <a:gd name="connsiteY73" fmla="*/ 109066 h 455657"/>
                  <a:gd name="connsiteX74" fmla="*/ 431174 w 455657"/>
                  <a:gd name="connsiteY74" fmla="*/ 124668 h 455657"/>
                  <a:gd name="connsiteX75" fmla="*/ 438665 w 455657"/>
                  <a:gd name="connsiteY75" fmla="*/ 140927 h 455657"/>
                  <a:gd name="connsiteX76" fmla="*/ 444861 w 455657"/>
                  <a:gd name="connsiteY76" fmla="*/ 157704 h 455657"/>
                  <a:gd name="connsiteX77" fmla="*/ 449711 w 455657"/>
                  <a:gd name="connsiteY77" fmla="*/ 174929 h 455657"/>
                  <a:gd name="connsiteX78" fmla="*/ 453197 w 455657"/>
                  <a:gd name="connsiteY78" fmla="*/ 192465 h 455657"/>
                  <a:gd name="connsiteX79" fmla="*/ 455303 w 455657"/>
                  <a:gd name="connsiteY79" fmla="*/ 210225 h 455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455657" h="455657">
                    <a:moveTo>
                      <a:pt x="456011" y="228106"/>
                    </a:moveTo>
                    <a:lnTo>
                      <a:pt x="455303" y="245987"/>
                    </a:lnTo>
                    <a:lnTo>
                      <a:pt x="453197" y="263747"/>
                    </a:lnTo>
                    <a:lnTo>
                      <a:pt x="449711" y="281283"/>
                    </a:lnTo>
                    <a:lnTo>
                      <a:pt x="444861" y="298509"/>
                    </a:lnTo>
                    <a:lnTo>
                      <a:pt x="438665" y="315285"/>
                    </a:lnTo>
                    <a:lnTo>
                      <a:pt x="431174" y="331544"/>
                    </a:lnTo>
                    <a:lnTo>
                      <a:pt x="422441" y="347147"/>
                    </a:lnTo>
                    <a:lnTo>
                      <a:pt x="412499" y="362024"/>
                    </a:lnTo>
                    <a:lnTo>
                      <a:pt x="401418" y="376074"/>
                    </a:lnTo>
                    <a:lnTo>
                      <a:pt x="389285" y="389209"/>
                    </a:lnTo>
                    <a:lnTo>
                      <a:pt x="376150" y="401342"/>
                    </a:lnTo>
                    <a:lnTo>
                      <a:pt x="362101" y="412423"/>
                    </a:lnTo>
                    <a:lnTo>
                      <a:pt x="347223" y="422365"/>
                    </a:lnTo>
                    <a:lnTo>
                      <a:pt x="331620" y="431098"/>
                    </a:lnTo>
                    <a:lnTo>
                      <a:pt x="315361" y="438589"/>
                    </a:lnTo>
                    <a:lnTo>
                      <a:pt x="298585" y="444785"/>
                    </a:lnTo>
                    <a:lnTo>
                      <a:pt x="281359" y="449635"/>
                    </a:lnTo>
                    <a:lnTo>
                      <a:pt x="263824" y="453121"/>
                    </a:lnTo>
                    <a:lnTo>
                      <a:pt x="246063" y="455227"/>
                    </a:lnTo>
                    <a:lnTo>
                      <a:pt x="228182" y="455935"/>
                    </a:lnTo>
                    <a:lnTo>
                      <a:pt x="210301" y="455227"/>
                    </a:lnTo>
                    <a:lnTo>
                      <a:pt x="192541" y="453121"/>
                    </a:lnTo>
                    <a:lnTo>
                      <a:pt x="175005" y="449635"/>
                    </a:lnTo>
                    <a:lnTo>
                      <a:pt x="157779" y="444785"/>
                    </a:lnTo>
                    <a:lnTo>
                      <a:pt x="141003" y="438589"/>
                    </a:lnTo>
                    <a:lnTo>
                      <a:pt x="124744" y="431098"/>
                    </a:lnTo>
                    <a:lnTo>
                      <a:pt x="109142" y="422365"/>
                    </a:lnTo>
                    <a:lnTo>
                      <a:pt x="94264" y="412423"/>
                    </a:lnTo>
                    <a:lnTo>
                      <a:pt x="80214" y="401342"/>
                    </a:lnTo>
                    <a:lnTo>
                      <a:pt x="67079" y="389209"/>
                    </a:lnTo>
                    <a:lnTo>
                      <a:pt x="54946" y="376074"/>
                    </a:lnTo>
                    <a:lnTo>
                      <a:pt x="43866" y="362024"/>
                    </a:lnTo>
                    <a:lnTo>
                      <a:pt x="33924" y="347147"/>
                    </a:lnTo>
                    <a:lnTo>
                      <a:pt x="25190" y="331544"/>
                    </a:lnTo>
                    <a:lnTo>
                      <a:pt x="17699" y="315285"/>
                    </a:lnTo>
                    <a:lnTo>
                      <a:pt x="11504" y="298509"/>
                    </a:lnTo>
                    <a:lnTo>
                      <a:pt x="6653" y="281283"/>
                    </a:lnTo>
                    <a:lnTo>
                      <a:pt x="3167" y="263747"/>
                    </a:lnTo>
                    <a:lnTo>
                      <a:pt x="1061" y="245987"/>
                    </a:lnTo>
                    <a:lnTo>
                      <a:pt x="353" y="228106"/>
                    </a:lnTo>
                    <a:lnTo>
                      <a:pt x="1061" y="210225"/>
                    </a:lnTo>
                    <a:lnTo>
                      <a:pt x="3167" y="192465"/>
                    </a:lnTo>
                    <a:lnTo>
                      <a:pt x="6653" y="174929"/>
                    </a:lnTo>
                    <a:lnTo>
                      <a:pt x="11504" y="157704"/>
                    </a:lnTo>
                    <a:lnTo>
                      <a:pt x="17699" y="140927"/>
                    </a:lnTo>
                    <a:lnTo>
                      <a:pt x="25190" y="124668"/>
                    </a:lnTo>
                    <a:lnTo>
                      <a:pt x="33924" y="109066"/>
                    </a:lnTo>
                    <a:lnTo>
                      <a:pt x="43866" y="94188"/>
                    </a:lnTo>
                    <a:lnTo>
                      <a:pt x="54946" y="80138"/>
                    </a:lnTo>
                    <a:lnTo>
                      <a:pt x="67079" y="67004"/>
                    </a:lnTo>
                    <a:lnTo>
                      <a:pt x="80214" y="54870"/>
                    </a:lnTo>
                    <a:lnTo>
                      <a:pt x="94264" y="43789"/>
                    </a:lnTo>
                    <a:lnTo>
                      <a:pt x="109142" y="33848"/>
                    </a:lnTo>
                    <a:lnTo>
                      <a:pt x="124744" y="25114"/>
                    </a:lnTo>
                    <a:lnTo>
                      <a:pt x="141003" y="17624"/>
                    </a:lnTo>
                    <a:lnTo>
                      <a:pt x="157779" y="11427"/>
                    </a:lnTo>
                    <a:lnTo>
                      <a:pt x="175005" y="6577"/>
                    </a:lnTo>
                    <a:lnTo>
                      <a:pt x="192541" y="3091"/>
                    </a:lnTo>
                    <a:lnTo>
                      <a:pt x="210301" y="985"/>
                    </a:lnTo>
                    <a:lnTo>
                      <a:pt x="228182" y="277"/>
                    </a:lnTo>
                    <a:lnTo>
                      <a:pt x="246063" y="985"/>
                    </a:lnTo>
                    <a:lnTo>
                      <a:pt x="263824" y="3091"/>
                    </a:lnTo>
                    <a:lnTo>
                      <a:pt x="281359" y="6577"/>
                    </a:lnTo>
                    <a:lnTo>
                      <a:pt x="298585" y="11427"/>
                    </a:lnTo>
                    <a:lnTo>
                      <a:pt x="315361" y="17624"/>
                    </a:lnTo>
                    <a:lnTo>
                      <a:pt x="331620" y="25114"/>
                    </a:lnTo>
                    <a:lnTo>
                      <a:pt x="347223" y="33848"/>
                    </a:lnTo>
                    <a:lnTo>
                      <a:pt x="362101" y="43789"/>
                    </a:lnTo>
                    <a:lnTo>
                      <a:pt x="376150" y="54870"/>
                    </a:lnTo>
                    <a:lnTo>
                      <a:pt x="389285" y="67004"/>
                    </a:lnTo>
                    <a:lnTo>
                      <a:pt x="401418" y="80138"/>
                    </a:lnTo>
                    <a:lnTo>
                      <a:pt x="412499" y="94188"/>
                    </a:lnTo>
                    <a:lnTo>
                      <a:pt x="422441" y="109066"/>
                    </a:lnTo>
                    <a:lnTo>
                      <a:pt x="431174" y="124668"/>
                    </a:lnTo>
                    <a:lnTo>
                      <a:pt x="438665" y="140927"/>
                    </a:lnTo>
                    <a:lnTo>
                      <a:pt x="444861" y="157704"/>
                    </a:lnTo>
                    <a:lnTo>
                      <a:pt x="449711" y="174929"/>
                    </a:lnTo>
                    <a:lnTo>
                      <a:pt x="453197" y="192465"/>
                    </a:lnTo>
                    <a:lnTo>
                      <a:pt x="455303" y="210225"/>
                    </a:lnTo>
                    <a:close/>
                  </a:path>
                </a:pathLst>
              </a:custGeom>
              <a:solidFill>
                <a:srgbClr val="F0781E"/>
              </a:solidFill>
              <a:ln w="258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77" name="Freihandform: Form 476">
                <a:extLst>
                  <a:ext uri="{FF2B5EF4-FFF2-40B4-BE49-F238E27FC236}">
                    <a16:creationId xmlns:a16="http://schemas.microsoft.com/office/drawing/2014/main" id="{D80AF6ED-B787-1A21-1330-11B249990D3D}"/>
                  </a:ext>
                </a:extLst>
              </p:cNvPr>
              <p:cNvSpPr/>
              <p:nvPr/>
            </p:nvSpPr>
            <p:spPr>
              <a:xfrm>
                <a:off x="2409364" y="29014015"/>
                <a:ext cx="483272" cy="241636"/>
              </a:xfrm>
              <a:custGeom>
                <a:avLst/>
                <a:gdLst>
                  <a:gd name="connsiteX0" fmla="*/ 353 w 483272"/>
                  <a:gd name="connsiteY0" fmla="*/ 288 h 241636"/>
                  <a:gd name="connsiteX1" fmla="*/ 483626 w 483272"/>
                  <a:gd name="connsiteY1" fmla="*/ 288 h 241636"/>
                  <a:gd name="connsiteX2" fmla="*/ 483626 w 483272"/>
                  <a:gd name="connsiteY2" fmla="*/ 241925 h 241636"/>
                  <a:gd name="connsiteX3" fmla="*/ 353 w 483272"/>
                  <a:gd name="connsiteY3" fmla="*/ 241925 h 241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3272" h="241636">
                    <a:moveTo>
                      <a:pt x="353" y="288"/>
                    </a:moveTo>
                    <a:lnTo>
                      <a:pt x="483626" y="288"/>
                    </a:lnTo>
                    <a:lnTo>
                      <a:pt x="483626" y="241925"/>
                    </a:lnTo>
                    <a:lnTo>
                      <a:pt x="353" y="241925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78" name="Textfeld 477">
                <a:extLst>
                  <a:ext uri="{FF2B5EF4-FFF2-40B4-BE49-F238E27FC236}">
                    <a16:creationId xmlns:a16="http://schemas.microsoft.com/office/drawing/2014/main" id="{A3B00399-88B5-A862-566E-6B5C88775B37}"/>
                  </a:ext>
                </a:extLst>
              </p:cNvPr>
              <p:cNvSpPr txBox="1"/>
              <p:nvPr/>
            </p:nvSpPr>
            <p:spPr>
              <a:xfrm>
                <a:off x="2352443" y="29002815"/>
                <a:ext cx="597113" cy="3158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de-DE" sz="1019" spc="0" baseline="0">
                    <a:ln/>
                    <a:solidFill>
                      <a:srgbClr val="1F2933"/>
                    </a:solidFill>
                    <a:latin typeface="Helvetica"/>
                    <a:cs typeface="Helvetica"/>
                    <a:sym typeface="Helvetica"/>
                    <a:rtl val="0"/>
                  </a:rPr>
                  <a:t>LIDO</a:t>
                </a:r>
              </a:p>
            </p:txBody>
          </p:sp>
          <p:sp>
            <p:nvSpPr>
              <p:cNvPr id="479" name="Freihandform: Form 478">
                <a:extLst>
                  <a:ext uri="{FF2B5EF4-FFF2-40B4-BE49-F238E27FC236}">
                    <a16:creationId xmlns:a16="http://schemas.microsoft.com/office/drawing/2014/main" id="{4C55984B-8584-5E30-79B4-56AAF2E95EAE}"/>
                  </a:ext>
                </a:extLst>
              </p:cNvPr>
              <p:cNvSpPr/>
              <p:nvPr/>
            </p:nvSpPr>
            <p:spPr>
              <a:xfrm>
                <a:off x="4801909" y="29138820"/>
                <a:ext cx="621350" cy="621350"/>
              </a:xfrm>
              <a:custGeom>
                <a:avLst/>
                <a:gdLst>
                  <a:gd name="connsiteX0" fmla="*/ 621776 w 621350"/>
                  <a:gd name="connsiteY0" fmla="*/ 310973 h 621350"/>
                  <a:gd name="connsiteX1" fmla="*/ 620809 w 621350"/>
                  <a:gd name="connsiteY1" fmla="*/ 335361 h 621350"/>
                  <a:gd name="connsiteX2" fmla="*/ 617944 w 621350"/>
                  <a:gd name="connsiteY2" fmla="*/ 359576 h 621350"/>
                  <a:gd name="connsiteX3" fmla="*/ 613197 w 621350"/>
                  <a:gd name="connsiteY3" fmla="*/ 383498 h 621350"/>
                  <a:gd name="connsiteX4" fmla="*/ 606570 w 621350"/>
                  <a:gd name="connsiteY4" fmla="*/ 406989 h 621350"/>
                  <a:gd name="connsiteX5" fmla="*/ 598130 w 621350"/>
                  <a:gd name="connsiteY5" fmla="*/ 429875 h 621350"/>
                  <a:gd name="connsiteX6" fmla="*/ 587912 w 621350"/>
                  <a:gd name="connsiteY6" fmla="*/ 452019 h 621350"/>
                  <a:gd name="connsiteX7" fmla="*/ 575985 w 621350"/>
                  <a:gd name="connsiteY7" fmla="*/ 473301 h 621350"/>
                  <a:gd name="connsiteX8" fmla="*/ 562437 w 621350"/>
                  <a:gd name="connsiteY8" fmla="*/ 493598 h 621350"/>
                  <a:gd name="connsiteX9" fmla="*/ 547334 w 621350"/>
                  <a:gd name="connsiteY9" fmla="*/ 512739 h 621350"/>
                  <a:gd name="connsiteX10" fmla="*/ 530782 w 621350"/>
                  <a:gd name="connsiteY10" fmla="*/ 530655 h 621350"/>
                  <a:gd name="connsiteX11" fmla="*/ 512866 w 621350"/>
                  <a:gd name="connsiteY11" fmla="*/ 547224 h 621350"/>
                  <a:gd name="connsiteX12" fmla="*/ 493708 w 621350"/>
                  <a:gd name="connsiteY12" fmla="*/ 562326 h 621350"/>
                  <a:gd name="connsiteX13" fmla="*/ 473428 w 621350"/>
                  <a:gd name="connsiteY13" fmla="*/ 575875 h 621350"/>
                  <a:gd name="connsiteX14" fmla="*/ 452147 w 621350"/>
                  <a:gd name="connsiteY14" fmla="*/ 587802 h 621350"/>
                  <a:gd name="connsiteX15" fmla="*/ 429985 w 621350"/>
                  <a:gd name="connsiteY15" fmla="*/ 598002 h 621350"/>
                  <a:gd name="connsiteX16" fmla="*/ 407099 w 621350"/>
                  <a:gd name="connsiteY16" fmla="*/ 606442 h 621350"/>
                  <a:gd name="connsiteX17" fmla="*/ 383626 w 621350"/>
                  <a:gd name="connsiteY17" fmla="*/ 613070 h 621350"/>
                  <a:gd name="connsiteX18" fmla="*/ 359703 w 621350"/>
                  <a:gd name="connsiteY18" fmla="*/ 617834 h 621350"/>
                  <a:gd name="connsiteX19" fmla="*/ 335471 w 621350"/>
                  <a:gd name="connsiteY19" fmla="*/ 620699 h 621350"/>
                  <a:gd name="connsiteX20" fmla="*/ 311100 w 621350"/>
                  <a:gd name="connsiteY20" fmla="*/ 621648 h 621350"/>
                  <a:gd name="connsiteX21" fmla="*/ 286729 w 621350"/>
                  <a:gd name="connsiteY21" fmla="*/ 620699 h 621350"/>
                  <a:gd name="connsiteX22" fmla="*/ 262497 w 621350"/>
                  <a:gd name="connsiteY22" fmla="*/ 617834 h 621350"/>
                  <a:gd name="connsiteX23" fmla="*/ 238575 w 621350"/>
                  <a:gd name="connsiteY23" fmla="*/ 613070 h 621350"/>
                  <a:gd name="connsiteX24" fmla="*/ 215101 w 621350"/>
                  <a:gd name="connsiteY24" fmla="*/ 606442 h 621350"/>
                  <a:gd name="connsiteX25" fmla="*/ 192215 w 621350"/>
                  <a:gd name="connsiteY25" fmla="*/ 598002 h 621350"/>
                  <a:gd name="connsiteX26" fmla="*/ 170053 w 621350"/>
                  <a:gd name="connsiteY26" fmla="*/ 587802 h 621350"/>
                  <a:gd name="connsiteX27" fmla="*/ 148772 w 621350"/>
                  <a:gd name="connsiteY27" fmla="*/ 575875 h 621350"/>
                  <a:gd name="connsiteX28" fmla="*/ 128492 w 621350"/>
                  <a:gd name="connsiteY28" fmla="*/ 562326 h 621350"/>
                  <a:gd name="connsiteX29" fmla="*/ 109334 w 621350"/>
                  <a:gd name="connsiteY29" fmla="*/ 547224 h 621350"/>
                  <a:gd name="connsiteX30" fmla="*/ 91418 w 621350"/>
                  <a:gd name="connsiteY30" fmla="*/ 530655 h 621350"/>
                  <a:gd name="connsiteX31" fmla="*/ 74866 w 621350"/>
                  <a:gd name="connsiteY31" fmla="*/ 512739 h 621350"/>
                  <a:gd name="connsiteX32" fmla="*/ 59764 w 621350"/>
                  <a:gd name="connsiteY32" fmla="*/ 493598 h 621350"/>
                  <a:gd name="connsiteX33" fmla="*/ 46198 w 621350"/>
                  <a:gd name="connsiteY33" fmla="*/ 473301 h 621350"/>
                  <a:gd name="connsiteX34" fmla="*/ 34288 w 621350"/>
                  <a:gd name="connsiteY34" fmla="*/ 452019 h 621350"/>
                  <a:gd name="connsiteX35" fmla="*/ 24071 w 621350"/>
                  <a:gd name="connsiteY35" fmla="*/ 429875 h 621350"/>
                  <a:gd name="connsiteX36" fmla="*/ 15631 w 621350"/>
                  <a:gd name="connsiteY36" fmla="*/ 406989 h 621350"/>
                  <a:gd name="connsiteX37" fmla="*/ 9003 w 621350"/>
                  <a:gd name="connsiteY37" fmla="*/ 383498 h 621350"/>
                  <a:gd name="connsiteX38" fmla="*/ 4256 w 621350"/>
                  <a:gd name="connsiteY38" fmla="*/ 359576 h 621350"/>
                  <a:gd name="connsiteX39" fmla="*/ 1374 w 621350"/>
                  <a:gd name="connsiteY39" fmla="*/ 335361 h 621350"/>
                  <a:gd name="connsiteX40" fmla="*/ 425 w 621350"/>
                  <a:gd name="connsiteY40" fmla="*/ 310973 h 621350"/>
                  <a:gd name="connsiteX41" fmla="*/ 1374 w 621350"/>
                  <a:gd name="connsiteY41" fmla="*/ 286602 h 621350"/>
                  <a:gd name="connsiteX42" fmla="*/ 4256 w 621350"/>
                  <a:gd name="connsiteY42" fmla="*/ 262387 h 621350"/>
                  <a:gd name="connsiteX43" fmla="*/ 9003 w 621350"/>
                  <a:gd name="connsiteY43" fmla="*/ 238447 h 621350"/>
                  <a:gd name="connsiteX44" fmla="*/ 15631 w 621350"/>
                  <a:gd name="connsiteY44" fmla="*/ 214974 h 621350"/>
                  <a:gd name="connsiteX45" fmla="*/ 24071 w 621350"/>
                  <a:gd name="connsiteY45" fmla="*/ 192087 h 621350"/>
                  <a:gd name="connsiteX46" fmla="*/ 34288 w 621350"/>
                  <a:gd name="connsiteY46" fmla="*/ 169943 h 621350"/>
                  <a:gd name="connsiteX47" fmla="*/ 46198 w 621350"/>
                  <a:gd name="connsiteY47" fmla="*/ 148645 h 621350"/>
                  <a:gd name="connsiteX48" fmla="*/ 59764 w 621350"/>
                  <a:gd name="connsiteY48" fmla="*/ 128365 h 621350"/>
                  <a:gd name="connsiteX49" fmla="*/ 74866 w 621350"/>
                  <a:gd name="connsiteY49" fmla="*/ 109206 h 621350"/>
                  <a:gd name="connsiteX50" fmla="*/ 91418 w 621350"/>
                  <a:gd name="connsiteY50" fmla="*/ 91308 h 621350"/>
                  <a:gd name="connsiteX51" fmla="*/ 109334 w 621350"/>
                  <a:gd name="connsiteY51" fmla="*/ 74739 h 621350"/>
                  <a:gd name="connsiteX52" fmla="*/ 128492 w 621350"/>
                  <a:gd name="connsiteY52" fmla="*/ 59636 h 621350"/>
                  <a:gd name="connsiteX53" fmla="*/ 148772 w 621350"/>
                  <a:gd name="connsiteY53" fmla="*/ 46087 h 621350"/>
                  <a:gd name="connsiteX54" fmla="*/ 170053 w 621350"/>
                  <a:gd name="connsiteY54" fmla="*/ 34161 h 621350"/>
                  <a:gd name="connsiteX55" fmla="*/ 192215 w 621350"/>
                  <a:gd name="connsiteY55" fmla="*/ 23960 h 621350"/>
                  <a:gd name="connsiteX56" fmla="*/ 215101 w 621350"/>
                  <a:gd name="connsiteY56" fmla="*/ 15503 h 621350"/>
                  <a:gd name="connsiteX57" fmla="*/ 238575 w 621350"/>
                  <a:gd name="connsiteY57" fmla="*/ 8893 h 621350"/>
                  <a:gd name="connsiteX58" fmla="*/ 262497 w 621350"/>
                  <a:gd name="connsiteY58" fmla="*/ 4129 h 621350"/>
                  <a:gd name="connsiteX59" fmla="*/ 286729 w 621350"/>
                  <a:gd name="connsiteY59" fmla="*/ 1264 h 621350"/>
                  <a:gd name="connsiteX60" fmla="*/ 311100 w 621350"/>
                  <a:gd name="connsiteY60" fmla="*/ 297 h 621350"/>
                  <a:gd name="connsiteX61" fmla="*/ 335471 w 621350"/>
                  <a:gd name="connsiteY61" fmla="*/ 1264 h 621350"/>
                  <a:gd name="connsiteX62" fmla="*/ 359703 w 621350"/>
                  <a:gd name="connsiteY62" fmla="*/ 4129 h 621350"/>
                  <a:gd name="connsiteX63" fmla="*/ 383626 w 621350"/>
                  <a:gd name="connsiteY63" fmla="*/ 8893 h 621350"/>
                  <a:gd name="connsiteX64" fmla="*/ 407099 w 621350"/>
                  <a:gd name="connsiteY64" fmla="*/ 15503 h 621350"/>
                  <a:gd name="connsiteX65" fmla="*/ 429985 w 621350"/>
                  <a:gd name="connsiteY65" fmla="*/ 23960 h 621350"/>
                  <a:gd name="connsiteX66" fmla="*/ 452147 w 621350"/>
                  <a:gd name="connsiteY66" fmla="*/ 34161 h 621350"/>
                  <a:gd name="connsiteX67" fmla="*/ 473428 w 621350"/>
                  <a:gd name="connsiteY67" fmla="*/ 46087 h 621350"/>
                  <a:gd name="connsiteX68" fmla="*/ 493708 w 621350"/>
                  <a:gd name="connsiteY68" fmla="*/ 59636 h 621350"/>
                  <a:gd name="connsiteX69" fmla="*/ 512866 w 621350"/>
                  <a:gd name="connsiteY69" fmla="*/ 74739 h 621350"/>
                  <a:gd name="connsiteX70" fmla="*/ 530782 w 621350"/>
                  <a:gd name="connsiteY70" fmla="*/ 91308 h 621350"/>
                  <a:gd name="connsiteX71" fmla="*/ 547334 w 621350"/>
                  <a:gd name="connsiteY71" fmla="*/ 109206 h 621350"/>
                  <a:gd name="connsiteX72" fmla="*/ 562437 w 621350"/>
                  <a:gd name="connsiteY72" fmla="*/ 128365 h 621350"/>
                  <a:gd name="connsiteX73" fmla="*/ 575985 w 621350"/>
                  <a:gd name="connsiteY73" fmla="*/ 148645 h 621350"/>
                  <a:gd name="connsiteX74" fmla="*/ 587912 w 621350"/>
                  <a:gd name="connsiteY74" fmla="*/ 169943 h 621350"/>
                  <a:gd name="connsiteX75" fmla="*/ 598130 w 621350"/>
                  <a:gd name="connsiteY75" fmla="*/ 192087 h 621350"/>
                  <a:gd name="connsiteX76" fmla="*/ 606570 w 621350"/>
                  <a:gd name="connsiteY76" fmla="*/ 214974 h 621350"/>
                  <a:gd name="connsiteX77" fmla="*/ 613197 w 621350"/>
                  <a:gd name="connsiteY77" fmla="*/ 238447 h 621350"/>
                  <a:gd name="connsiteX78" fmla="*/ 617944 w 621350"/>
                  <a:gd name="connsiteY78" fmla="*/ 262387 h 621350"/>
                  <a:gd name="connsiteX79" fmla="*/ 620809 w 621350"/>
                  <a:gd name="connsiteY79" fmla="*/ 286602 h 621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621350" h="621350">
                    <a:moveTo>
                      <a:pt x="621776" y="310973"/>
                    </a:moveTo>
                    <a:lnTo>
                      <a:pt x="620809" y="335361"/>
                    </a:lnTo>
                    <a:lnTo>
                      <a:pt x="617944" y="359576"/>
                    </a:lnTo>
                    <a:lnTo>
                      <a:pt x="613197" y="383498"/>
                    </a:lnTo>
                    <a:lnTo>
                      <a:pt x="606570" y="406989"/>
                    </a:lnTo>
                    <a:lnTo>
                      <a:pt x="598130" y="429875"/>
                    </a:lnTo>
                    <a:lnTo>
                      <a:pt x="587912" y="452019"/>
                    </a:lnTo>
                    <a:lnTo>
                      <a:pt x="575985" y="473301"/>
                    </a:lnTo>
                    <a:lnTo>
                      <a:pt x="562437" y="493598"/>
                    </a:lnTo>
                    <a:lnTo>
                      <a:pt x="547334" y="512739"/>
                    </a:lnTo>
                    <a:lnTo>
                      <a:pt x="530782" y="530655"/>
                    </a:lnTo>
                    <a:lnTo>
                      <a:pt x="512866" y="547224"/>
                    </a:lnTo>
                    <a:lnTo>
                      <a:pt x="493708" y="562326"/>
                    </a:lnTo>
                    <a:lnTo>
                      <a:pt x="473428" y="575875"/>
                    </a:lnTo>
                    <a:lnTo>
                      <a:pt x="452147" y="587802"/>
                    </a:lnTo>
                    <a:lnTo>
                      <a:pt x="429985" y="598002"/>
                    </a:lnTo>
                    <a:lnTo>
                      <a:pt x="407099" y="606442"/>
                    </a:lnTo>
                    <a:lnTo>
                      <a:pt x="383626" y="613070"/>
                    </a:lnTo>
                    <a:lnTo>
                      <a:pt x="359703" y="617834"/>
                    </a:lnTo>
                    <a:lnTo>
                      <a:pt x="335471" y="620699"/>
                    </a:lnTo>
                    <a:lnTo>
                      <a:pt x="311100" y="621648"/>
                    </a:lnTo>
                    <a:lnTo>
                      <a:pt x="286729" y="620699"/>
                    </a:lnTo>
                    <a:lnTo>
                      <a:pt x="262497" y="617834"/>
                    </a:lnTo>
                    <a:lnTo>
                      <a:pt x="238575" y="613070"/>
                    </a:lnTo>
                    <a:lnTo>
                      <a:pt x="215101" y="606442"/>
                    </a:lnTo>
                    <a:lnTo>
                      <a:pt x="192215" y="598002"/>
                    </a:lnTo>
                    <a:lnTo>
                      <a:pt x="170053" y="587802"/>
                    </a:lnTo>
                    <a:lnTo>
                      <a:pt x="148772" y="575875"/>
                    </a:lnTo>
                    <a:lnTo>
                      <a:pt x="128492" y="562326"/>
                    </a:lnTo>
                    <a:lnTo>
                      <a:pt x="109334" y="547224"/>
                    </a:lnTo>
                    <a:lnTo>
                      <a:pt x="91418" y="530655"/>
                    </a:lnTo>
                    <a:lnTo>
                      <a:pt x="74866" y="512739"/>
                    </a:lnTo>
                    <a:lnTo>
                      <a:pt x="59764" y="493598"/>
                    </a:lnTo>
                    <a:lnTo>
                      <a:pt x="46198" y="473301"/>
                    </a:lnTo>
                    <a:lnTo>
                      <a:pt x="34288" y="452019"/>
                    </a:lnTo>
                    <a:lnTo>
                      <a:pt x="24071" y="429875"/>
                    </a:lnTo>
                    <a:lnTo>
                      <a:pt x="15631" y="406989"/>
                    </a:lnTo>
                    <a:lnTo>
                      <a:pt x="9003" y="383498"/>
                    </a:lnTo>
                    <a:lnTo>
                      <a:pt x="4256" y="359576"/>
                    </a:lnTo>
                    <a:lnTo>
                      <a:pt x="1374" y="335361"/>
                    </a:lnTo>
                    <a:lnTo>
                      <a:pt x="425" y="310973"/>
                    </a:lnTo>
                    <a:lnTo>
                      <a:pt x="1374" y="286602"/>
                    </a:lnTo>
                    <a:lnTo>
                      <a:pt x="4256" y="262387"/>
                    </a:lnTo>
                    <a:lnTo>
                      <a:pt x="9003" y="238447"/>
                    </a:lnTo>
                    <a:lnTo>
                      <a:pt x="15631" y="214974"/>
                    </a:lnTo>
                    <a:lnTo>
                      <a:pt x="24071" y="192087"/>
                    </a:lnTo>
                    <a:lnTo>
                      <a:pt x="34288" y="169943"/>
                    </a:lnTo>
                    <a:lnTo>
                      <a:pt x="46198" y="148645"/>
                    </a:lnTo>
                    <a:lnTo>
                      <a:pt x="59764" y="128365"/>
                    </a:lnTo>
                    <a:lnTo>
                      <a:pt x="74866" y="109206"/>
                    </a:lnTo>
                    <a:lnTo>
                      <a:pt x="91418" y="91308"/>
                    </a:lnTo>
                    <a:lnTo>
                      <a:pt x="109334" y="74739"/>
                    </a:lnTo>
                    <a:lnTo>
                      <a:pt x="128492" y="59636"/>
                    </a:lnTo>
                    <a:lnTo>
                      <a:pt x="148772" y="46087"/>
                    </a:lnTo>
                    <a:lnTo>
                      <a:pt x="170053" y="34161"/>
                    </a:lnTo>
                    <a:lnTo>
                      <a:pt x="192215" y="23960"/>
                    </a:lnTo>
                    <a:lnTo>
                      <a:pt x="215101" y="15503"/>
                    </a:lnTo>
                    <a:lnTo>
                      <a:pt x="238575" y="8893"/>
                    </a:lnTo>
                    <a:lnTo>
                      <a:pt x="262497" y="4129"/>
                    </a:lnTo>
                    <a:lnTo>
                      <a:pt x="286729" y="1264"/>
                    </a:lnTo>
                    <a:lnTo>
                      <a:pt x="311100" y="297"/>
                    </a:lnTo>
                    <a:lnTo>
                      <a:pt x="335471" y="1264"/>
                    </a:lnTo>
                    <a:lnTo>
                      <a:pt x="359703" y="4129"/>
                    </a:lnTo>
                    <a:lnTo>
                      <a:pt x="383626" y="8893"/>
                    </a:lnTo>
                    <a:lnTo>
                      <a:pt x="407099" y="15503"/>
                    </a:lnTo>
                    <a:lnTo>
                      <a:pt x="429985" y="23960"/>
                    </a:lnTo>
                    <a:lnTo>
                      <a:pt x="452147" y="34161"/>
                    </a:lnTo>
                    <a:lnTo>
                      <a:pt x="473428" y="46087"/>
                    </a:lnTo>
                    <a:lnTo>
                      <a:pt x="493708" y="59636"/>
                    </a:lnTo>
                    <a:lnTo>
                      <a:pt x="512866" y="74739"/>
                    </a:lnTo>
                    <a:lnTo>
                      <a:pt x="530782" y="91308"/>
                    </a:lnTo>
                    <a:lnTo>
                      <a:pt x="547334" y="109206"/>
                    </a:lnTo>
                    <a:lnTo>
                      <a:pt x="562437" y="128365"/>
                    </a:lnTo>
                    <a:lnTo>
                      <a:pt x="575985" y="148645"/>
                    </a:lnTo>
                    <a:lnTo>
                      <a:pt x="587912" y="169943"/>
                    </a:lnTo>
                    <a:lnTo>
                      <a:pt x="598130" y="192087"/>
                    </a:lnTo>
                    <a:lnTo>
                      <a:pt x="606570" y="214974"/>
                    </a:lnTo>
                    <a:lnTo>
                      <a:pt x="613197" y="238447"/>
                    </a:lnTo>
                    <a:lnTo>
                      <a:pt x="617944" y="262387"/>
                    </a:lnTo>
                    <a:lnTo>
                      <a:pt x="620809" y="286602"/>
                    </a:lnTo>
                    <a:close/>
                  </a:path>
                </a:pathLst>
              </a:custGeom>
              <a:solidFill>
                <a:srgbClr val="F0781E"/>
              </a:solidFill>
              <a:ln w="258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80" name="Freihandform: Form 479">
                <a:extLst>
                  <a:ext uri="{FF2B5EF4-FFF2-40B4-BE49-F238E27FC236}">
                    <a16:creationId xmlns:a16="http://schemas.microsoft.com/office/drawing/2014/main" id="{85090CAF-3234-6FE9-48BA-6D9DFD24893A}"/>
                  </a:ext>
                </a:extLst>
              </p:cNvPr>
              <p:cNvSpPr/>
              <p:nvPr/>
            </p:nvSpPr>
            <p:spPr>
              <a:xfrm>
                <a:off x="4577533" y="29777431"/>
                <a:ext cx="1070104" cy="241636"/>
              </a:xfrm>
              <a:custGeom>
                <a:avLst/>
                <a:gdLst>
                  <a:gd name="connsiteX0" fmla="*/ 424 w 1070104"/>
                  <a:gd name="connsiteY0" fmla="*/ 310 h 241636"/>
                  <a:gd name="connsiteX1" fmla="*/ 1070529 w 1070104"/>
                  <a:gd name="connsiteY1" fmla="*/ 310 h 241636"/>
                  <a:gd name="connsiteX2" fmla="*/ 1070529 w 1070104"/>
                  <a:gd name="connsiteY2" fmla="*/ 241947 h 241636"/>
                  <a:gd name="connsiteX3" fmla="*/ 424 w 1070104"/>
                  <a:gd name="connsiteY3" fmla="*/ 241947 h 241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0104" h="241636">
                    <a:moveTo>
                      <a:pt x="424" y="310"/>
                    </a:moveTo>
                    <a:lnTo>
                      <a:pt x="1070529" y="310"/>
                    </a:lnTo>
                    <a:lnTo>
                      <a:pt x="1070529" y="241947"/>
                    </a:lnTo>
                    <a:lnTo>
                      <a:pt x="424" y="241947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81" name="Textfeld 480">
                <a:extLst>
                  <a:ext uri="{FF2B5EF4-FFF2-40B4-BE49-F238E27FC236}">
                    <a16:creationId xmlns:a16="http://schemas.microsoft.com/office/drawing/2014/main" id="{348C401A-F9FA-830A-3D44-37955C293F71}"/>
                  </a:ext>
                </a:extLst>
              </p:cNvPr>
              <p:cNvSpPr txBox="1"/>
              <p:nvPr/>
            </p:nvSpPr>
            <p:spPr>
              <a:xfrm>
                <a:off x="4520612" y="29766230"/>
                <a:ext cx="1183945" cy="3158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de-DE" sz="1019" spc="0" baseline="0">
                    <a:ln/>
                    <a:solidFill>
                      <a:srgbClr val="1F2933"/>
                    </a:solidFill>
                    <a:latin typeface="Helvetica"/>
                    <a:cs typeface="Helvetica"/>
                    <a:sym typeface="Helvetica"/>
                    <a:rtl val="0"/>
                  </a:rPr>
                  <a:t>CIDOC CRM</a:t>
                </a:r>
              </a:p>
            </p:txBody>
          </p:sp>
          <p:sp>
            <p:nvSpPr>
              <p:cNvPr id="482" name="Freihandform: Form 481">
                <a:extLst>
                  <a:ext uri="{FF2B5EF4-FFF2-40B4-BE49-F238E27FC236}">
                    <a16:creationId xmlns:a16="http://schemas.microsoft.com/office/drawing/2014/main" id="{70D735E6-4283-0905-E515-FF0000B81179}"/>
                  </a:ext>
                </a:extLst>
              </p:cNvPr>
              <p:cNvSpPr/>
              <p:nvPr/>
            </p:nvSpPr>
            <p:spPr>
              <a:xfrm>
                <a:off x="2423171" y="30334731"/>
                <a:ext cx="455657" cy="455657"/>
              </a:xfrm>
              <a:custGeom>
                <a:avLst/>
                <a:gdLst>
                  <a:gd name="connsiteX0" fmla="*/ 456011 w 455657"/>
                  <a:gd name="connsiteY0" fmla="*/ 228158 h 455657"/>
                  <a:gd name="connsiteX1" fmla="*/ 455303 w 455657"/>
                  <a:gd name="connsiteY1" fmla="*/ 246039 h 455657"/>
                  <a:gd name="connsiteX2" fmla="*/ 453197 w 455657"/>
                  <a:gd name="connsiteY2" fmla="*/ 263800 h 455657"/>
                  <a:gd name="connsiteX3" fmla="*/ 449711 w 455657"/>
                  <a:gd name="connsiteY3" fmla="*/ 281335 h 455657"/>
                  <a:gd name="connsiteX4" fmla="*/ 444861 w 455657"/>
                  <a:gd name="connsiteY4" fmla="*/ 298561 h 455657"/>
                  <a:gd name="connsiteX5" fmla="*/ 438665 w 455657"/>
                  <a:gd name="connsiteY5" fmla="*/ 315337 h 455657"/>
                  <a:gd name="connsiteX6" fmla="*/ 431174 w 455657"/>
                  <a:gd name="connsiteY6" fmla="*/ 331596 h 455657"/>
                  <a:gd name="connsiteX7" fmla="*/ 422441 w 455657"/>
                  <a:gd name="connsiteY7" fmla="*/ 347199 h 455657"/>
                  <a:gd name="connsiteX8" fmla="*/ 412499 w 455657"/>
                  <a:gd name="connsiteY8" fmla="*/ 362077 h 455657"/>
                  <a:gd name="connsiteX9" fmla="*/ 401418 w 455657"/>
                  <a:gd name="connsiteY9" fmla="*/ 376126 h 455657"/>
                  <a:gd name="connsiteX10" fmla="*/ 389285 w 455657"/>
                  <a:gd name="connsiteY10" fmla="*/ 389261 h 455657"/>
                  <a:gd name="connsiteX11" fmla="*/ 376150 w 455657"/>
                  <a:gd name="connsiteY11" fmla="*/ 401394 h 455657"/>
                  <a:gd name="connsiteX12" fmla="*/ 362101 w 455657"/>
                  <a:gd name="connsiteY12" fmla="*/ 412475 h 455657"/>
                  <a:gd name="connsiteX13" fmla="*/ 347223 w 455657"/>
                  <a:gd name="connsiteY13" fmla="*/ 422417 h 455657"/>
                  <a:gd name="connsiteX14" fmla="*/ 331620 w 455657"/>
                  <a:gd name="connsiteY14" fmla="*/ 431150 h 455657"/>
                  <a:gd name="connsiteX15" fmla="*/ 315361 w 455657"/>
                  <a:gd name="connsiteY15" fmla="*/ 438641 h 455657"/>
                  <a:gd name="connsiteX16" fmla="*/ 298585 w 455657"/>
                  <a:gd name="connsiteY16" fmla="*/ 444837 h 455657"/>
                  <a:gd name="connsiteX17" fmla="*/ 281359 w 455657"/>
                  <a:gd name="connsiteY17" fmla="*/ 449687 h 455657"/>
                  <a:gd name="connsiteX18" fmla="*/ 263824 w 455657"/>
                  <a:gd name="connsiteY18" fmla="*/ 453173 h 455657"/>
                  <a:gd name="connsiteX19" fmla="*/ 246063 w 455657"/>
                  <a:gd name="connsiteY19" fmla="*/ 455279 h 455657"/>
                  <a:gd name="connsiteX20" fmla="*/ 228182 w 455657"/>
                  <a:gd name="connsiteY20" fmla="*/ 455987 h 455657"/>
                  <a:gd name="connsiteX21" fmla="*/ 210301 w 455657"/>
                  <a:gd name="connsiteY21" fmla="*/ 455279 h 455657"/>
                  <a:gd name="connsiteX22" fmla="*/ 192541 w 455657"/>
                  <a:gd name="connsiteY22" fmla="*/ 453173 h 455657"/>
                  <a:gd name="connsiteX23" fmla="*/ 175005 w 455657"/>
                  <a:gd name="connsiteY23" fmla="*/ 449687 h 455657"/>
                  <a:gd name="connsiteX24" fmla="*/ 157779 w 455657"/>
                  <a:gd name="connsiteY24" fmla="*/ 444837 h 455657"/>
                  <a:gd name="connsiteX25" fmla="*/ 141003 w 455657"/>
                  <a:gd name="connsiteY25" fmla="*/ 438641 h 455657"/>
                  <a:gd name="connsiteX26" fmla="*/ 124744 w 455657"/>
                  <a:gd name="connsiteY26" fmla="*/ 431150 h 455657"/>
                  <a:gd name="connsiteX27" fmla="*/ 109142 w 455657"/>
                  <a:gd name="connsiteY27" fmla="*/ 422417 h 455657"/>
                  <a:gd name="connsiteX28" fmla="*/ 94264 w 455657"/>
                  <a:gd name="connsiteY28" fmla="*/ 412475 h 455657"/>
                  <a:gd name="connsiteX29" fmla="*/ 80214 w 455657"/>
                  <a:gd name="connsiteY29" fmla="*/ 401394 h 455657"/>
                  <a:gd name="connsiteX30" fmla="*/ 67079 w 455657"/>
                  <a:gd name="connsiteY30" fmla="*/ 389261 h 455657"/>
                  <a:gd name="connsiteX31" fmla="*/ 54946 w 455657"/>
                  <a:gd name="connsiteY31" fmla="*/ 376126 h 455657"/>
                  <a:gd name="connsiteX32" fmla="*/ 43866 w 455657"/>
                  <a:gd name="connsiteY32" fmla="*/ 362077 h 455657"/>
                  <a:gd name="connsiteX33" fmla="*/ 33924 w 455657"/>
                  <a:gd name="connsiteY33" fmla="*/ 347199 h 455657"/>
                  <a:gd name="connsiteX34" fmla="*/ 25190 w 455657"/>
                  <a:gd name="connsiteY34" fmla="*/ 331596 h 455657"/>
                  <a:gd name="connsiteX35" fmla="*/ 17699 w 455657"/>
                  <a:gd name="connsiteY35" fmla="*/ 315337 h 455657"/>
                  <a:gd name="connsiteX36" fmla="*/ 11504 w 455657"/>
                  <a:gd name="connsiteY36" fmla="*/ 298561 h 455657"/>
                  <a:gd name="connsiteX37" fmla="*/ 6653 w 455657"/>
                  <a:gd name="connsiteY37" fmla="*/ 281335 h 455657"/>
                  <a:gd name="connsiteX38" fmla="*/ 3167 w 455657"/>
                  <a:gd name="connsiteY38" fmla="*/ 263800 h 455657"/>
                  <a:gd name="connsiteX39" fmla="*/ 1061 w 455657"/>
                  <a:gd name="connsiteY39" fmla="*/ 246039 h 455657"/>
                  <a:gd name="connsiteX40" fmla="*/ 353 w 455657"/>
                  <a:gd name="connsiteY40" fmla="*/ 228158 h 455657"/>
                  <a:gd name="connsiteX41" fmla="*/ 1061 w 455657"/>
                  <a:gd name="connsiteY41" fmla="*/ 210277 h 455657"/>
                  <a:gd name="connsiteX42" fmla="*/ 3167 w 455657"/>
                  <a:gd name="connsiteY42" fmla="*/ 192517 h 455657"/>
                  <a:gd name="connsiteX43" fmla="*/ 6653 w 455657"/>
                  <a:gd name="connsiteY43" fmla="*/ 174981 h 455657"/>
                  <a:gd name="connsiteX44" fmla="*/ 11504 w 455657"/>
                  <a:gd name="connsiteY44" fmla="*/ 157756 h 455657"/>
                  <a:gd name="connsiteX45" fmla="*/ 17699 w 455657"/>
                  <a:gd name="connsiteY45" fmla="*/ 140979 h 455657"/>
                  <a:gd name="connsiteX46" fmla="*/ 25190 w 455657"/>
                  <a:gd name="connsiteY46" fmla="*/ 124721 h 455657"/>
                  <a:gd name="connsiteX47" fmla="*/ 33924 w 455657"/>
                  <a:gd name="connsiteY47" fmla="*/ 109118 h 455657"/>
                  <a:gd name="connsiteX48" fmla="*/ 43866 w 455657"/>
                  <a:gd name="connsiteY48" fmla="*/ 94240 h 455657"/>
                  <a:gd name="connsiteX49" fmla="*/ 54946 w 455657"/>
                  <a:gd name="connsiteY49" fmla="*/ 80190 h 455657"/>
                  <a:gd name="connsiteX50" fmla="*/ 67079 w 455657"/>
                  <a:gd name="connsiteY50" fmla="*/ 67056 h 455657"/>
                  <a:gd name="connsiteX51" fmla="*/ 80214 w 455657"/>
                  <a:gd name="connsiteY51" fmla="*/ 54922 h 455657"/>
                  <a:gd name="connsiteX52" fmla="*/ 94264 w 455657"/>
                  <a:gd name="connsiteY52" fmla="*/ 43841 h 455657"/>
                  <a:gd name="connsiteX53" fmla="*/ 109142 w 455657"/>
                  <a:gd name="connsiteY53" fmla="*/ 33900 h 455657"/>
                  <a:gd name="connsiteX54" fmla="*/ 124744 w 455657"/>
                  <a:gd name="connsiteY54" fmla="*/ 25166 h 455657"/>
                  <a:gd name="connsiteX55" fmla="*/ 141003 w 455657"/>
                  <a:gd name="connsiteY55" fmla="*/ 17676 h 455657"/>
                  <a:gd name="connsiteX56" fmla="*/ 157779 w 455657"/>
                  <a:gd name="connsiteY56" fmla="*/ 11479 h 455657"/>
                  <a:gd name="connsiteX57" fmla="*/ 175005 w 455657"/>
                  <a:gd name="connsiteY57" fmla="*/ 6629 h 455657"/>
                  <a:gd name="connsiteX58" fmla="*/ 192541 w 455657"/>
                  <a:gd name="connsiteY58" fmla="*/ 3143 h 455657"/>
                  <a:gd name="connsiteX59" fmla="*/ 210301 w 455657"/>
                  <a:gd name="connsiteY59" fmla="*/ 1037 h 455657"/>
                  <a:gd name="connsiteX60" fmla="*/ 228182 w 455657"/>
                  <a:gd name="connsiteY60" fmla="*/ 329 h 455657"/>
                  <a:gd name="connsiteX61" fmla="*/ 246063 w 455657"/>
                  <a:gd name="connsiteY61" fmla="*/ 1037 h 455657"/>
                  <a:gd name="connsiteX62" fmla="*/ 263824 w 455657"/>
                  <a:gd name="connsiteY62" fmla="*/ 3143 h 455657"/>
                  <a:gd name="connsiteX63" fmla="*/ 281359 w 455657"/>
                  <a:gd name="connsiteY63" fmla="*/ 6629 h 455657"/>
                  <a:gd name="connsiteX64" fmla="*/ 298585 w 455657"/>
                  <a:gd name="connsiteY64" fmla="*/ 11479 h 455657"/>
                  <a:gd name="connsiteX65" fmla="*/ 315361 w 455657"/>
                  <a:gd name="connsiteY65" fmla="*/ 17676 h 455657"/>
                  <a:gd name="connsiteX66" fmla="*/ 331620 w 455657"/>
                  <a:gd name="connsiteY66" fmla="*/ 25166 h 455657"/>
                  <a:gd name="connsiteX67" fmla="*/ 347223 w 455657"/>
                  <a:gd name="connsiteY67" fmla="*/ 33900 h 455657"/>
                  <a:gd name="connsiteX68" fmla="*/ 362101 w 455657"/>
                  <a:gd name="connsiteY68" fmla="*/ 43841 h 455657"/>
                  <a:gd name="connsiteX69" fmla="*/ 376150 w 455657"/>
                  <a:gd name="connsiteY69" fmla="*/ 54922 h 455657"/>
                  <a:gd name="connsiteX70" fmla="*/ 389285 w 455657"/>
                  <a:gd name="connsiteY70" fmla="*/ 67056 h 455657"/>
                  <a:gd name="connsiteX71" fmla="*/ 401418 w 455657"/>
                  <a:gd name="connsiteY71" fmla="*/ 80190 h 455657"/>
                  <a:gd name="connsiteX72" fmla="*/ 412499 w 455657"/>
                  <a:gd name="connsiteY72" fmla="*/ 94240 h 455657"/>
                  <a:gd name="connsiteX73" fmla="*/ 422441 w 455657"/>
                  <a:gd name="connsiteY73" fmla="*/ 109118 h 455657"/>
                  <a:gd name="connsiteX74" fmla="*/ 431174 w 455657"/>
                  <a:gd name="connsiteY74" fmla="*/ 124721 h 455657"/>
                  <a:gd name="connsiteX75" fmla="*/ 438665 w 455657"/>
                  <a:gd name="connsiteY75" fmla="*/ 140979 h 455657"/>
                  <a:gd name="connsiteX76" fmla="*/ 444861 w 455657"/>
                  <a:gd name="connsiteY76" fmla="*/ 157756 h 455657"/>
                  <a:gd name="connsiteX77" fmla="*/ 449711 w 455657"/>
                  <a:gd name="connsiteY77" fmla="*/ 174981 h 455657"/>
                  <a:gd name="connsiteX78" fmla="*/ 453197 w 455657"/>
                  <a:gd name="connsiteY78" fmla="*/ 192517 h 455657"/>
                  <a:gd name="connsiteX79" fmla="*/ 455303 w 455657"/>
                  <a:gd name="connsiteY79" fmla="*/ 210277 h 455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455657" h="455657">
                    <a:moveTo>
                      <a:pt x="456011" y="228158"/>
                    </a:moveTo>
                    <a:lnTo>
                      <a:pt x="455303" y="246039"/>
                    </a:lnTo>
                    <a:lnTo>
                      <a:pt x="453197" y="263800"/>
                    </a:lnTo>
                    <a:lnTo>
                      <a:pt x="449711" y="281335"/>
                    </a:lnTo>
                    <a:lnTo>
                      <a:pt x="444861" y="298561"/>
                    </a:lnTo>
                    <a:lnTo>
                      <a:pt x="438665" y="315337"/>
                    </a:lnTo>
                    <a:lnTo>
                      <a:pt x="431174" y="331596"/>
                    </a:lnTo>
                    <a:lnTo>
                      <a:pt x="422441" y="347199"/>
                    </a:lnTo>
                    <a:lnTo>
                      <a:pt x="412499" y="362077"/>
                    </a:lnTo>
                    <a:lnTo>
                      <a:pt x="401418" y="376126"/>
                    </a:lnTo>
                    <a:lnTo>
                      <a:pt x="389285" y="389261"/>
                    </a:lnTo>
                    <a:lnTo>
                      <a:pt x="376150" y="401394"/>
                    </a:lnTo>
                    <a:lnTo>
                      <a:pt x="362101" y="412475"/>
                    </a:lnTo>
                    <a:lnTo>
                      <a:pt x="347223" y="422417"/>
                    </a:lnTo>
                    <a:lnTo>
                      <a:pt x="331620" y="431150"/>
                    </a:lnTo>
                    <a:lnTo>
                      <a:pt x="315361" y="438641"/>
                    </a:lnTo>
                    <a:lnTo>
                      <a:pt x="298585" y="444837"/>
                    </a:lnTo>
                    <a:lnTo>
                      <a:pt x="281359" y="449687"/>
                    </a:lnTo>
                    <a:lnTo>
                      <a:pt x="263824" y="453173"/>
                    </a:lnTo>
                    <a:lnTo>
                      <a:pt x="246063" y="455279"/>
                    </a:lnTo>
                    <a:lnTo>
                      <a:pt x="228182" y="455987"/>
                    </a:lnTo>
                    <a:lnTo>
                      <a:pt x="210301" y="455279"/>
                    </a:lnTo>
                    <a:lnTo>
                      <a:pt x="192541" y="453173"/>
                    </a:lnTo>
                    <a:lnTo>
                      <a:pt x="175005" y="449687"/>
                    </a:lnTo>
                    <a:lnTo>
                      <a:pt x="157779" y="444837"/>
                    </a:lnTo>
                    <a:lnTo>
                      <a:pt x="141003" y="438641"/>
                    </a:lnTo>
                    <a:lnTo>
                      <a:pt x="124744" y="431150"/>
                    </a:lnTo>
                    <a:lnTo>
                      <a:pt x="109142" y="422417"/>
                    </a:lnTo>
                    <a:lnTo>
                      <a:pt x="94264" y="412475"/>
                    </a:lnTo>
                    <a:lnTo>
                      <a:pt x="80214" y="401394"/>
                    </a:lnTo>
                    <a:lnTo>
                      <a:pt x="67079" y="389261"/>
                    </a:lnTo>
                    <a:lnTo>
                      <a:pt x="54946" y="376126"/>
                    </a:lnTo>
                    <a:lnTo>
                      <a:pt x="43866" y="362077"/>
                    </a:lnTo>
                    <a:lnTo>
                      <a:pt x="33924" y="347199"/>
                    </a:lnTo>
                    <a:lnTo>
                      <a:pt x="25190" y="331596"/>
                    </a:lnTo>
                    <a:lnTo>
                      <a:pt x="17699" y="315337"/>
                    </a:lnTo>
                    <a:lnTo>
                      <a:pt x="11504" y="298561"/>
                    </a:lnTo>
                    <a:lnTo>
                      <a:pt x="6653" y="281335"/>
                    </a:lnTo>
                    <a:lnTo>
                      <a:pt x="3167" y="263800"/>
                    </a:lnTo>
                    <a:lnTo>
                      <a:pt x="1061" y="246039"/>
                    </a:lnTo>
                    <a:lnTo>
                      <a:pt x="353" y="228158"/>
                    </a:lnTo>
                    <a:lnTo>
                      <a:pt x="1061" y="210277"/>
                    </a:lnTo>
                    <a:lnTo>
                      <a:pt x="3167" y="192517"/>
                    </a:lnTo>
                    <a:lnTo>
                      <a:pt x="6653" y="174981"/>
                    </a:lnTo>
                    <a:lnTo>
                      <a:pt x="11504" y="157756"/>
                    </a:lnTo>
                    <a:lnTo>
                      <a:pt x="17699" y="140979"/>
                    </a:lnTo>
                    <a:lnTo>
                      <a:pt x="25190" y="124721"/>
                    </a:lnTo>
                    <a:lnTo>
                      <a:pt x="33924" y="109118"/>
                    </a:lnTo>
                    <a:lnTo>
                      <a:pt x="43866" y="94240"/>
                    </a:lnTo>
                    <a:lnTo>
                      <a:pt x="54946" y="80190"/>
                    </a:lnTo>
                    <a:lnTo>
                      <a:pt x="67079" y="67056"/>
                    </a:lnTo>
                    <a:lnTo>
                      <a:pt x="80214" y="54922"/>
                    </a:lnTo>
                    <a:lnTo>
                      <a:pt x="94264" y="43841"/>
                    </a:lnTo>
                    <a:lnTo>
                      <a:pt x="109142" y="33900"/>
                    </a:lnTo>
                    <a:lnTo>
                      <a:pt x="124744" y="25166"/>
                    </a:lnTo>
                    <a:lnTo>
                      <a:pt x="141003" y="17676"/>
                    </a:lnTo>
                    <a:lnTo>
                      <a:pt x="157779" y="11479"/>
                    </a:lnTo>
                    <a:lnTo>
                      <a:pt x="175005" y="6629"/>
                    </a:lnTo>
                    <a:lnTo>
                      <a:pt x="192541" y="3143"/>
                    </a:lnTo>
                    <a:lnTo>
                      <a:pt x="210301" y="1037"/>
                    </a:lnTo>
                    <a:lnTo>
                      <a:pt x="228182" y="329"/>
                    </a:lnTo>
                    <a:lnTo>
                      <a:pt x="246063" y="1037"/>
                    </a:lnTo>
                    <a:lnTo>
                      <a:pt x="263824" y="3143"/>
                    </a:lnTo>
                    <a:lnTo>
                      <a:pt x="281359" y="6629"/>
                    </a:lnTo>
                    <a:lnTo>
                      <a:pt x="298585" y="11479"/>
                    </a:lnTo>
                    <a:lnTo>
                      <a:pt x="315361" y="17676"/>
                    </a:lnTo>
                    <a:lnTo>
                      <a:pt x="331620" y="25166"/>
                    </a:lnTo>
                    <a:lnTo>
                      <a:pt x="347223" y="33900"/>
                    </a:lnTo>
                    <a:lnTo>
                      <a:pt x="362101" y="43841"/>
                    </a:lnTo>
                    <a:lnTo>
                      <a:pt x="376150" y="54922"/>
                    </a:lnTo>
                    <a:lnTo>
                      <a:pt x="389285" y="67056"/>
                    </a:lnTo>
                    <a:lnTo>
                      <a:pt x="401418" y="80190"/>
                    </a:lnTo>
                    <a:lnTo>
                      <a:pt x="412499" y="94240"/>
                    </a:lnTo>
                    <a:lnTo>
                      <a:pt x="422441" y="109118"/>
                    </a:lnTo>
                    <a:lnTo>
                      <a:pt x="431174" y="124721"/>
                    </a:lnTo>
                    <a:lnTo>
                      <a:pt x="438665" y="140979"/>
                    </a:lnTo>
                    <a:lnTo>
                      <a:pt x="444861" y="157756"/>
                    </a:lnTo>
                    <a:lnTo>
                      <a:pt x="449711" y="174981"/>
                    </a:lnTo>
                    <a:lnTo>
                      <a:pt x="453197" y="192517"/>
                    </a:lnTo>
                    <a:lnTo>
                      <a:pt x="455303" y="210277"/>
                    </a:lnTo>
                    <a:close/>
                  </a:path>
                </a:pathLst>
              </a:custGeom>
              <a:solidFill>
                <a:srgbClr val="F0781E"/>
              </a:solidFill>
              <a:ln w="258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83" name="Freihandform: Form 482">
                <a:extLst>
                  <a:ext uri="{FF2B5EF4-FFF2-40B4-BE49-F238E27FC236}">
                    <a16:creationId xmlns:a16="http://schemas.microsoft.com/office/drawing/2014/main" id="{36D66ED4-8C92-83E1-B8CC-9F065C8121BE}"/>
                  </a:ext>
                </a:extLst>
              </p:cNvPr>
              <p:cNvSpPr/>
              <p:nvPr/>
            </p:nvSpPr>
            <p:spPr>
              <a:xfrm>
                <a:off x="1986500" y="30807648"/>
                <a:ext cx="1329000" cy="241636"/>
              </a:xfrm>
              <a:custGeom>
                <a:avLst/>
                <a:gdLst>
                  <a:gd name="connsiteX0" fmla="*/ 353 w 1329000"/>
                  <a:gd name="connsiteY0" fmla="*/ 340 h 241636"/>
                  <a:gd name="connsiteX1" fmla="*/ 1329354 w 1329000"/>
                  <a:gd name="connsiteY1" fmla="*/ 340 h 241636"/>
                  <a:gd name="connsiteX2" fmla="*/ 1329354 w 1329000"/>
                  <a:gd name="connsiteY2" fmla="*/ 241977 h 241636"/>
                  <a:gd name="connsiteX3" fmla="*/ 353 w 1329000"/>
                  <a:gd name="connsiteY3" fmla="*/ 241977 h 241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00" h="241636">
                    <a:moveTo>
                      <a:pt x="353" y="340"/>
                    </a:moveTo>
                    <a:lnTo>
                      <a:pt x="1329354" y="340"/>
                    </a:lnTo>
                    <a:lnTo>
                      <a:pt x="1329354" y="241977"/>
                    </a:lnTo>
                    <a:lnTo>
                      <a:pt x="353" y="241977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84" name="Textfeld 483">
                <a:extLst>
                  <a:ext uri="{FF2B5EF4-FFF2-40B4-BE49-F238E27FC236}">
                    <a16:creationId xmlns:a16="http://schemas.microsoft.com/office/drawing/2014/main" id="{AACE3DAF-A74A-36DE-A353-7A1B00FF6C3D}"/>
                  </a:ext>
                </a:extLst>
              </p:cNvPr>
              <p:cNvSpPr txBox="1"/>
              <p:nvPr/>
            </p:nvSpPr>
            <p:spPr>
              <a:xfrm>
                <a:off x="1903690" y="30796447"/>
                <a:ext cx="1494620" cy="3158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de-DE" sz="1019" spc="0" baseline="0">
                    <a:ln/>
                    <a:solidFill>
                      <a:srgbClr val="1F2933"/>
                    </a:solidFill>
                    <a:latin typeface="Helvetica"/>
                    <a:cs typeface="Helvetica"/>
                    <a:sym typeface="Helvetica"/>
                    <a:rtl val="0"/>
                  </a:rPr>
                  <a:t>MIDAS-Heritage</a:t>
                </a:r>
              </a:p>
            </p:txBody>
          </p:sp>
          <p:sp>
            <p:nvSpPr>
              <p:cNvPr id="485" name="Freihandform: Form 484">
                <a:extLst>
                  <a:ext uri="{FF2B5EF4-FFF2-40B4-BE49-F238E27FC236}">
                    <a16:creationId xmlns:a16="http://schemas.microsoft.com/office/drawing/2014/main" id="{DD9B74FD-4543-04D2-F5DF-7088B0B6D77C}"/>
                  </a:ext>
                </a:extLst>
              </p:cNvPr>
              <p:cNvSpPr/>
              <p:nvPr/>
            </p:nvSpPr>
            <p:spPr>
              <a:xfrm>
                <a:off x="6803103" y="28923798"/>
                <a:ext cx="497081" cy="497080"/>
              </a:xfrm>
              <a:custGeom>
                <a:avLst/>
                <a:gdLst>
                  <a:gd name="connsiteX0" fmla="*/ 497562 w 497081"/>
                  <a:gd name="connsiteY0" fmla="*/ 248829 h 497080"/>
                  <a:gd name="connsiteX1" fmla="*/ 496796 w 497081"/>
                  <a:gd name="connsiteY1" fmla="*/ 268333 h 497080"/>
                  <a:gd name="connsiteX2" fmla="*/ 494502 w 497081"/>
                  <a:gd name="connsiteY2" fmla="*/ 287698 h 497080"/>
                  <a:gd name="connsiteX3" fmla="*/ 490695 w 497081"/>
                  <a:gd name="connsiteY3" fmla="*/ 306840 h 497080"/>
                  <a:gd name="connsiteX4" fmla="*/ 485397 w 497081"/>
                  <a:gd name="connsiteY4" fmla="*/ 325635 h 497080"/>
                  <a:gd name="connsiteX5" fmla="*/ 478643 w 497081"/>
                  <a:gd name="connsiteY5" fmla="*/ 343931 h 497080"/>
                  <a:gd name="connsiteX6" fmla="*/ 470473 w 497081"/>
                  <a:gd name="connsiteY6" fmla="*/ 361656 h 497080"/>
                  <a:gd name="connsiteX7" fmla="*/ 460937 w 497081"/>
                  <a:gd name="connsiteY7" fmla="*/ 378692 h 497080"/>
                  <a:gd name="connsiteX8" fmla="*/ 450095 w 497081"/>
                  <a:gd name="connsiteY8" fmla="*/ 394916 h 497080"/>
                  <a:gd name="connsiteX9" fmla="*/ 438013 w 497081"/>
                  <a:gd name="connsiteY9" fmla="*/ 410243 h 497080"/>
                  <a:gd name="connsiteX10" fmla="*/ 424766 w 497081"/>
                  <a:gd name="connsiteY10" fmla="*/ 424568 h 497080"/>
                  <a:gd name="connsiteX11" fmla="*/ 410436 w 497081"/>
                  <a:gd name="connsiteY11" fmla="*/ 437824 h 497080"/>
                  <a:gd name="connsiteX12" fmla="*/ 395110 w 497081"/>
                  <a:gd name="connsiteY12" fmla="*/ 449906 h 497080"/>
                  <a:gd name="connsiteX13" fmla="*/ 378884 w 497081"/>
                  <a:gd name="connsiteY13" fmla="*/ 460745 h 497080"/>
                  <a:gd name="connsiteX14" fmla="*/ 361857 w 497081"/>
                  <a:gd name="connsiteY14" fmla="*/ 470272 h 497080"/>
                  <a:gd name="connsiteX15" fmla="*/ 344134 w 497081"/>
                  <a:gd name="connsiteY15" fmla="*/ 478453 h 497080"/>
                  <a:gd name="connsiteX16" fmla="*/ 325825 w 497081"/>
                  <a:gd name="connsiteY16" fmla="*/ 485202 h 497080"/>
                  <a:gd name="connsiteX17" fmla="*/ 307041 w 497081"/>
                  <a:gd name="connsiteY17" fmla="*/ 490500 h 497080"/>
                  <a:gd name="connsiteX18" fmla="*/ 287902 w 497081"/>
                  <a:gd name="connsiteY18" fmla="*/ 494297 h 497080"/>
                  <a:gd name="connsiteX19" fmla="*/ 268521 w 497081"/>
                  <a:gd name="connsiteY19" fmla="*/ 496593 h 497080"/>
                  <a:gd name="connsiteX20" fmla="*/ 249021 w 497081"/>
                  <a:gd name="connsiteY20" fmla="*/ 497370 h 497080"/>
                  <a:gd name="connsiteX21" fmla="*/ 229521 w 497081"/>
                  <a:gd name="connsiteY21" fmla="*/ 496593 h 497080"/>
                  <a:gd name="connsiteX22" fmla="*/ 210142 w 497081"/>
                  <a:gd name="connsiteY22" fmla="*/ 494297 h 497080"/>
                  <a:gd name="connsiteX23" fmla="*/ 191001 w 497081"/>
                  <a:gd name="connsiteY23" fmla="*/ 490500 h 497080"/>
                  <a:gd name="connsiteX24" fmla="*/ 172219 w 497081"/>
                  <a:gd name="connsiteY24" fmla="*/ 485202 h 497080"/>
                  <a:gd name="connsiteX25" fmla="*/ 153910 w 497081"/>
                  <a:gd name="connsiteY25" fmla="*/ 478453 h 497080"/>
                  <a:gd name="connsiteX26" fmla="*/ 136187 w 497081"/>
                  <a:gd name="connsiteY26" fmla="*/ 470272 h 497080"/>
                  <a:gd name="connsiteX27" fmla="*/ 119159 w 497081"/>
                  <a:gd name="connsiteY27" fmla="*/ 460745 h 497080"/>
                  <a:gd name="connsiteX28" fmla="*/ 102933 w 497081"/>
                  <a:gd name="connsiteY28" fmla="*/ 449906 h 497080"/>
                  <a:gd name="connsiteX29" fmla="*/ 87608 w 497081"/>
                  <a:gd name="connsiteY29" fmla="*/ 437824 h 497080"/>
                  <a:gd name="connsiteX30" fmla="*/ 73277 w 497081"/>
                  <a:gd name="connsiteY30" fmla="*/ 424568 h 497080"/>
                  <a:gd name="connsiteX31" fmla="*/ 60030 w 497081"/>
                  <a:gd name="connsiteY31" fmla="*/ 410243 h 497080"/>
                  <a:gd name="connsiteX32" fmla="*/ 47949 w 497081"/>
                  <a:gd name="connsiteY32" fmla="*/ 394916 h 497080"/>
                  <a:gd name="connsiteX33" fmla="*/ 37106 w 497081"/>
                  <a:gd name="connsiteY33" fmla="*/ 378692 h 497080"/>
                  <a:gd name="connsiteX34" fmla="*/ 27570 w 497081"/>
                  <a:gd name="connsiteY34" fmla="*/ 361656 h 497080"/>
                  <a:gd name="connsiteX35" fmla="*/ 19401 w 497081"/>
                  <a:gd name="connsiteY35" fmla="*/ 343931 h 497080"/>
                  <a:gd name="connsiteX36" fmla="*/ 12645 w 497081"/>
                  <a:gd name="connsiteY36" fmla="*/ 325635 h 497080"/>
                  <a:gd name="connsiteX37" fmla="*/ 7348 w 497081"/>
                  <a:gd name="connsiteY37" fmla="*/ 306840 h 497080"/>
                  <a:gd name="connsiteX38" fmla="*/ 3541 w 497081"/>
                  <a:gd name="connsiteY38" fmla="*/ 287698 h 497080"/>
                  <a:gd name="connsiteX39" fmla="*/ 1247 w 497081"/>
                  <a:gd name="connsiteY39" fmla="*/ 268333 h 497080"/>
                  <a:gd name="connsiteX40" fmla="*/ 481 w 497081"/>
                  <a:gd name="connsiteY40" fmla="*/ 248829 h 497080"/>
                  <a:gd name="connsiteX41" fmla="*/ 1247 w 497081"/>
                  <a:gd name="connsiteY41" fmla="*/ 229326 h 497080"/>
                  <a:gd name="connsiteX42" fmla="*/ 3541 w 497081"/>
                  <a:gd name="connsiteY42" fmla="*/ 209943 h 497080"/>
                  <a:gd name="connsiteX43" fmla="*/ 7348 w 497081"/>
                  <a:gd name="connsiteY43" fmla="*/ 190802 h 497080"/>
                  <a:gd name="connsiteX44" fmla="*/ 12645 w 497081"/>
                  <a:gd name="connsiteY44" fmla="*/ 172024 h 497080"/>
                  <a:gd name="connsiteX45" fmla="*/ 19401 w 497081"/>
                  <a:gd name="connsiteY45" fmla="*/ 153711 h 497080"/>
                  <a:gd name="connsiteX46" fmla="*/ 27570 w 497081"/>
                  <a:gd name="connsiteY46" fmla="*/ 135985 h 497080"/>
                  <a:gd name="connsiteX47" fmla="*/ 37106 w 497081"/>
                  <a:gd name="connsiteY47" fmla="*/ 118967 h 497080"/>
                  <a:gd name="connsiteX48" fmla="*/ 47949 w 497081"/>
                  <a:gd name="connsiteY48" fmla="*/ 102743 h 497080"/>
                  <a:gd name="connsiteX49" fmla="*/ 60030 w 497081"/>
                  <a:gd name="connsiteY49" fmla="*/ 87416 h 497080"/>
                  <a:gd name="connsiteX50" fmla="*/ 73277 w 497081"/>
                  <a:gd name="connsiteY50" fmla="*/ 73073 h 497080"/>
                  <a:gd name="connsiteX51" fmla="*/ 87608 w 497081"/>
                  <a:gd name="connsiteY51" fmla="*/ 59835 h 497080"/>
                  <a:gd name="connsiteX52" fmla="*/ 102933 w 497081"/>
                  <a:gd name="connsiteY52" fmla="*/ 47753 h 497080"/>
                  <a:gd name="connsiteX53" fmla="*/ 119159 w 497081"/>
                  <a:gd name="connsiteY53" fmla="*/ 36914 h 497080"/>
                  <a:gd name="connsiteX54" fmla="*/ 136187 w 497081"/>
                  <a:gd name="connsiteY54" fmla="*/ 27370 h 497080"/>
                  <a:gd name="connsiteX55" fmla="*/ 153910 w 497081"/>
                  <a:gd name="connsiteY55" fmla="*/ 19206 h 497080"/>
                  <a:gd name="connsiteX56" fmla="*/ 172219 w 497081"/>
                  <a:gd name="connsiteY56" fmla="*/ 12457 h 497080"/>
                  <a:gd name="connsiteX57" fmla="*/ 191001 w 497081"/>
                  <a:gd name="connsiteY57" fmla="*/ 7158 h 497080"/>
                  <a:gd name="connsiteX58" fmla="*/ 210142 w 497081"/>
                  <a:gd name="connsiteY58" fmla="*/ 3344 h 497080"/>
                  <a:gd name="connsiteX59" fmla="*/ 229521 w 497081"/>
                  <a:gd name="connsiteY59" fmla="*/ 1049 h 497080"/>
                  <a:gd name="connsiteX60" fmla="*/ 249021 w 497081"/>
                  <a:gd name="connsiteY60" fmla="*/ 289 h 497080"/>
                  <a:gd name="connsiteX61" fmla="*/ 268521 w 497081"/>
                  <a:gd name="connsiteY61" fmla="*/ 1049 h 497080"/>
                  <a:gd name="connsiteX62" fmla="*/ 287902 w 497081"/>
                  <a:gd name="connsiteY62" fmla="*/ 3344 h 497080"/>
                  <a:gd name="connsiteX63" fmla="*/ 307041 w 497081"/>
                  <a:gd name="connsiteY63" fmla="*/ 7158 h 497080"/>
                  <a:gd name="connsiteX64" fmla="*/ 325825 w 497081"/>
                  <a:gd name="connsiteY64" fmla="*/ 12457 h 497080"/>
                  <a:gd name="connsiteX65" fmla="*/ 344134 w 497081"/>
                  <a:gd name="connsiteY65" fmla="*/ 19206 h 497080"/>
                  <a:gd name="connsiteX66" fmla="*/ 361857 w 497081"/>
                  <a:gd name="connsiteY66" fmla="*/ 27370 h 497080"/>
                  <a:gd name="connsiteX67" fmla="*/ 378884 w 497081"/>
                  <a:gd name="connsiteY67" fmla="*/ 36914 h 497080"/>
                  <a:gd name="connsiteX68" fmla="*/ 395110 w 497081"/>
                  <a:gd name="connsiteY68" fmla="*/ 47753 h 497080"/>
                  <a:gd name="connsiteX69" fmla="*/ 410436 w 497081"/>
                  <a:gd name="connsiteY69" fmla="*/ 59835 h 497080"/>
                  <a:gd name="connsiteX70" fmla="*/ 424766 w 497081"/>
                  <a:gd name="connsiteY70" fmla="*/ 73073 h 497080"/>
                  <a:gd name="connsiteX71" fmla="*/ 438013 w 497081"/>
                  <a:gd name="connsiteY71" fmla="*/ 87416 h 497080"/>
                  <a:gd name="connsiteX72" fmla="*/ 450095 w 497081"/>
                  <a:gd name="connsiteY72" fmla="*/ 102743 h 497080"/>
                  <a:gd name="connsiteX73" fmla="*/ 460937 w 497081"/>
                  <a:gd name="connsiteY73" fmla="*/ 118967 h 497080"/>
                  <a:gd name="connsiteX74" fmla="*/ 470473 w 497081"/>
                  <a:gd name="connsiteY74" fmla="*/ 135985 h 497080"/>
                  <a:gd name="connsiteX75" fmla="*/ 478643 w 497081"/>
                  <a:gd name="connsiteY75" fmla="*/ 153711 h 497080"/>
                  <a:gd name="connsiteX76" fmla="*/ 485397 w 497081"/>
                  <a:gd name="connsiteY76" fmla="*/ 172024 h 497080"/>
                  <a:gd name="connsiteX77" fmla="*/ 490695 w 497081"/>
                  <a:gd name="connsiteY77" fmla="*/ 190802 h 497080"/>
                  <a:gd name="connsiteX78" fmla="*/ 494502 w 497081"/>
                  <a:gd name="connsiteY78" fmla="*/ 209943 h 497080"/>
                  <a:gd name="connsiteX79" fmla="*/ 496796 w 497081"/>
                  <a:gd name="connsiteY79" fmla="*/ 229326 h 497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497081" h="497080">
                    <a:moveTo>
                      <a:pt x="497562" y="248829"/>
                    </a:moveTo>
                    <a:lnTo>
                      <a:pt x="496796" y="268333"/>
                    </a:lnTo>
                    <a:lnTo>
                      <a:pt x="494502" y="287698"/>
                    </a:lnTo>
                    <a:lnTo>
                      <a:pt x="490695" y="306840"/>
                    </a:lnTo>
                    <a:lnTo>
                      <a:pt x="485397" y="325635"/>
                    </a:lnTo>
                    <a:lnTo>
                      <a:pt x="478643" y="343931"/>
                    </a:lnTo>
                    <a:lnTo>
                      <a:pt x="470473" y="361656"/>
                    </a:lnTo>
                    <a:lnTo>
                      <a:pt x="460937" y="378692"/>
                    </a:lnTo>
                    <a:lnTo>
                      <a:pt x="450095" y="394916"/>
                    </a:lnTo>
                    <a:lnTo>
                      <a:pt x="438013" y="410243"/>
                    </a:lnTo>
                    <a:lnTo>
                      <a:pt x="424766" y="424568"/>
                    </a:lnTo>
                    <a:lnTo>
                      <a:pt x="410436" y="437824"/>
                    </a:lnTo>
                    <a:lnTo>
                      <a:pt x="395110" y="449906"/>
                    </a:lnTo>
                    <a:lnTo>
                      <a:pt x="378884" y="460745"/>
                    </a:lnTo>
                    <a:lnTo>
                      <a:pt x="361857" y="470272"/>
                    </a:lnTo>
                    <a:lnTo>
                      <a:pt x="344134" y="478453"/>
                    </a:lnTo>
                    <a:lnTo>
                      <a:pt x="325825" y="485202"/>
                    </a:lnTo>
                    <a:lnTo>
                      <a:pt x="307041" y="490500"/>
                    </a:lnTo>
                    <a:lnTo>
                      <a:pt x="287902" y="494297"/>
                    </a:lnTo>
                    <a:lnTo>
                      <a:pt x="268521" y="496593"/>
                    </a:lnTo>
                    <a:lnTo>
                      <a:pt x="249021" y="497370"/>
                    </a:lnTo>
                    <a:lnTo>
                      <a:pt x="229521" y="496593"/>
                    </a:lnTo>
                    <a:lnTo>
                      <a:pt x="210142" y="494297"/>
                    </a:lnTo>
                    <a:lnTo>
                      <a:pt x="191001" y="490500"/>
                    </a:lnTo>
                    <a:lnTo>
                      <a:pt x="172219" y="485202"/>
                    </a:lnTo>
                    <a:lnTo>
                      <a:pt x="153910" y="478453"/>
                    </a:lnTo>
                    <a:lnTo>
                      <a:pt x="136187" y="470272"/>
                    </a:lnTo>
                    <a:lnTo>
                      <a:pt x="119159" y="460745"/>
                    </a:lnTo>
                    <a:lnTo>
                      <a:pt x="102933" y="449906"/>
                    </a:lnTo>
                    <a:lnTo>
                      <a:pt x="87608" y="437824"/>
                    </a:lnTo>
                    <a:lnTo>
                      <a:pt x="73277" y="424568"/>
                    </a:lnTo>
                    <a:lnTo>
                      <a:pt x="60030" y="410243"/>
                    </a:lnTo>
                    <a:lnTo>
                      <a:pt x="47949" y="394916"/>
                    </a:lnTo>
                    <a:lnTo>
                      <a:pt x="37106" y="378692"/>
                    </a:lnTo>
                    <a:lnTo>
                      <a:pt x="27570" y="361656"/>
                    </a:lnTo>
                    <a:lnTo>
                      <a:pt x="19401" y="343931"/>
                    </a:lnTo>
                    <a:lnTo>
                      <a:pt x="12645" y="325635"/>
                    </a:lnTo>
                    <a:lnTo>
                      <a:pt x="7348" y="306840"/>
                    </a:lnTo>
                    <a:lnTo>
                      <a:pt x="3541" y="287698"/>
                    </a:lnTo>
                    <a:lnTo>
                      <a:pt x="1247" y="268333"/>
                    </a:lnTo>
                    <a:lnTo>
                      <a:pt x="481" y="248829"/>
                    </a:lnTo>
                    <a:lnTo>
                      <a:pt x="1247" y="229326"/>
                    </a:lnTo>
                    <a:lnTo>
                      <a:pt x="3541" y="209943"/>
                    </a:lnTo>
                    <a:lnTo>
                      <a:pt x="7348" y="190802"/>
                    </a:lnTo>
                    <a:lnTo>
                      <a:pt x="12645" y="172024"/>
                    </a:lnTo>
                    <a:lnTo>
                      <a:pt x="19401" y="153711"/>
                    </a:lnTo>
                    <a:lnTo>
                      <a:pt x="27570" y="135985"/>
                    </a:lnTo>
                    <a:lnTo>
                      <a:pt x="37106" y="118967"/>
                    </a:lnTo>
                    <a:lnTo>
                      <a:pt x="47949" y="102743"/>
                    </a:lnTo>
                    <a:lnTo>
                      <a:pt x="60030" y="87416"/>
                    </a:lnTo>
                    <a:lnTo>
                      <a:pt x="73277" y="73073"/>
                    </a:lnTo>
                    <a:lnTo>
                      <a:pt x="87608" y="59835"/>
                    </a:lnTo>
                    <a:lnTo>
                      <a:pt x="102933" y="47753"/>
                    </a:lnTo>
                    <a:lnTo>
                      <a:pt x="119159" y="36914"/>
                    </a:lnTo>
                    <a:lnTo>
                      <a:pt x="136187" y="27370"/>
                    </a:lnTo>
                    <a:lnTo>
                      <a:pt x="153910" y="19206"/>
                    </a:lnTo>
                    <a:lnTo>
                      <a:pt x="172219" y="12457"/>
                    </a:lnTo>
                    <a:lnTo>
                      <a:pt x="191001" y="7158"/>
                    </a:lnTo>
                    <a:lnTo>
                      <a:pt x="210142" y="3344"/>
                    </a:lnTo>
                    <a:lnTo>
                      <a:pt x="229521" y="1049"/>
                    </a:lnTo>
                    <a:lnTo>
                      <a:pt x="249021" y="289"/>
                    </a:lnTo>
                    <a:lnTo>
                      <a:pt x="268521" y="1049"/>
                    </a:lnTo>
                    <a:lnTo>
                      <a:pt x="287902" y="3344"/>
                    </a:lnTo>
                    <a:lnTo>
                      <a:pt x="307041" y="7158"/>
                    </a:lnTo>
                    <a:lnTo>
                      <a:pt x="325825" y="12457"/>
                    </a:lnTo>
                    <a:lnTo>
                      <a:pt x="344134" y="19206"/>
                    </a:lnTo>
                    <a:lnTo>
                      <a:pt x="361857" y="27370"/>
                    </a:lnTo>
                    <a:lnTo>
                      <a:pt x="378884" y="36914"/>
                    </a:lnTo>
                    <a:lnTo>
                      <a:pt x="395110" y="47753"/>
                    </a:lnTo>
                    <a:lnTo>
                      <a:pt x="410436" y="59835"/>
                    </a:lnTo>
                    <a:lnTo>
                      <a:pt x="424766" y="73073"/>
                    </a:lnTo>
                    <a:lnTo>
                      <a:pt x="438013" y="87416"/>
                    </a:lnTo>
                    <a:lnTo>
                      <a:pt x="450095" y="102743"/>
                    </a:lnTo>
                    <a:lnTo>
                      <a:pt x="460937" y="118967"/>
                    </a:lnTo>
                    <a:lnTo>
                      <a:pt x="470473" y="135985"/>
                    </a:lnTo>
                    <a:lnTo>
                      <a:pt x="478643" y="153711"/>
                    </a:lnTo>
                    <a:lnTo>
                      <a:pt x="485397" y="172024"/>
                    </a:lnTo>
                    <a:lnTo>
                      <a:pt x="490695" y="190802"/>
                    </a:lnTo>
                    <a:lnTo>
                      <a:pt x="494502" y="209943"/>
                    </a:lnTo>
                    <a:lnTo>
                      <a:pt x="496796" y="229326"/>
                    </a:lnTo>
                    <a:close/>
                  </a:path>
                </a:pathLst>
              </a:custGeom>
              <a:solidFill>
                <a:srgbClr val="5E3B99"/>
              </a:solidFill>
              <a:ln w="2587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86" name="Freihandform: Form 485">
                <a:extLst>
                  <a:ext uri="{FF2B5EF4-FFF2-40B4-BE49-F238E27FC236}">
                    <a16:creationId xmlns:a16="http://schemas.microsoft.com/office/drawing/2014/main" id="{98CA6E76-8E2E-70C7-6E24-19B29FF9107A}"/>
                  </a:ext>
                </a:extLst>
              </p:cNvPr>
              <p:cNvSpPr/>
              <p:nvPr/>
            </p:nvSpPr>
            <p:spPr>
              <a:xfrm>
                <a:off x="6723708" y="29438139"/>
                <a:ext cx="655870" cy="241636"/>
              </a:xfrm>
              <a:custGeom>
                <a:avLst/>
                <a:gdLst>
                  <a:gd name="connsiteX0" fmla="*/ 481 w 655870"/>
                  <a:gd name="connsiteY0" fmla="*/ 300 h 241636"/>
                  <a:gd name="connsiteX1" fmla="*/ 656351 w 655870"/>
                  <a:gd name="connsiteY1" fmla="*/ 300 h 241636"/>
                  <a:gd name="connsiteX2" fmla="*/ 656351 w 655870"/>
                  <a:gd name="connsiteY2" fmla="*/ 241937 h 241636"/>
                  <a:gd name="connsiteX3" fmla="*/ 481 w 655870"/>
                  <a:gd name="connsiteY3" fmla="*/ 241937 h 241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5870" h="241636">
                    <a:moveTo>
                      <a:pt x="481" y="300"/>
                    </a:moveTo>
                    <a:lnTo>
                      <a:pt x="656351" y="300"/>
                    </a:lnTo>
                    <a:lnTo>
                      <a:pt x="656351" y="241937"/>
                    </a:lnTo>
                    <a:lnTo>
                      <a:pt x="481" y="241937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172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87" name="Textfeld 486">
                <a:extLst>
                  <a:ext uri="{FF2B5EF4-FFF2-40B4-BE49-F238E27FC236}">
                    <a16:creationId xmlns:a16="http://schemas.microsoft.com/office/drawing/2014/main" id="{A71CA0EA-F178-5CD2-6978-D373BC351681}"/>
                  </a:ext>
                </a:extLst>
              </p:cNvPr>
              <p:cNvSpPr txBox="1"/>
              <p:nvPr/>
            </p:nvSpPr>
            <p:spPr>
              <a:xfrm>
                <a:off x="6675417" y="29426938"/>
                <a:ext cx="752451" cy="3158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de-DE" sz="1019" spc="0" baseline="0">
                    <a:ln/>
                    <a:solidFill>
                      <a:srgbClr val="1F2933"/>
                    </a:solidFill>
                    <a:latin typeface="Helvetica"/>
                    <a:cs typeface="Helvetica"/>
                    <a:sym typeface="Helvetica"/>
                    <a:rtl val="0"/>
                  </a:rPr>
                  <a:t>RIF-CS</a:t>
                </a:r>
              </a:p>
            </p:txBody>
          </p:sp>
        </p:grpSp>
      </p:grpSp>
      <p:pic>
        <p:nvPicPr>
          <p:cNvPr id="225" name="Grafik 224">
            <a:extLst>
              <a:ext uri="{FF2B5EF4-FFF2-40B4-BE49-F238E27FC236}">
                <a16:creationId xmlns:a16="http://schemas.microsoft.com/office/drawing/2014/main" id="{98FE0263-C723-BE75-2F84-0723A5375CC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131358" y="600922"/>
            <a:ext cx="2482404" cy="2482404"/>
          </a:xfrm>
          <a:prstGeom prst="rect">
            <a:avLst/>
          </a:prstGeom>
        </p:spPr>
      </p:pic>
      <p:sp>
        <p:nvSpPr>
          <p:cNvPr id="2" name="Text 26">
            <a:extLst>
              <a:ext uri="{FF2B5EF4-FFF2-40B4-BE49-F238E27FC236}">
                <a16:creationId xmlns:a16="http://schemas.microsoft.com/office/drawing/2014/main" id="{63F3E900-7EBF-50B7-59D9-3F54A75C475D}"/>
              </a:ext>
            </a:extLst>
          </p:cNvPr>
          <p:cNvSpPr/>
          <p:nvPr/>
        </p:nvSpPr>
        <p:spPr>
          <a:xfrm>
            <a:off x="8878573" y="6103704"/>
            <a:ext cx="3899241" cy="797023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/>
          </a:bodyPr>
          <a:lstStyle/>
          <a:p>
            <a:pPr>
              <a:lnSpc>
                <a:spcPct val="122064"/>
              </a:lnSpc>
            </a:pPr>
            <a:r>
              <a:rPr lang="en-US" sz="2000" dirty="0">
                <a:solidFill>
                  <a:srgbClr val="002864">
                    <a:alpha val="95000"/>
                  </a:srgbClr>
                </a:solidFill>
                <a:latin typeface="IBM Plex Sans" pitchFamily="34" charset="0"/>
              </a:rPr>
              <a:t>SSSOM mapping rows</a:t>
            </a:r>
            <a:endParaRPr lang="en-US" sz="2000" dirty="0"/>
          </a:p>
        </p:txBody>
      </p:sp>
      <p:sp>
        <p:nvSpPr>
          <p:cNvPr id="12" name="Text 26">
            <a:extLst>
              <a:ext uri="{FF2B5EF4-FFF2-40B4-BE49-F238E27FC236}">
                <a16:creationId xmlns:a16="http://schemas.microsoft.com/office/drawing/2014/main" id="{51A53529-47C0-B69D-E5C6-A7CD0E2472B0}"/>
              </a:ext>
            </a:extLst>
          </p:cNvPr>
          <p:cNvSpPr/>
          <p:nvPr/>
        </p:nvSpPr>
        <p:spPr>
          <a:xfrm>
            <a:off x="12776963" y="6103704"/>
            <a:ext cx="3899241" cy="797023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/>
          </a:bodyPr>
          <a:lstStyle/>
          <a:p>
            <a:pPr>
              <a:lnSpc>
                <a:spcPct val="122064"/>
              </a:lnSpc>
            </a:pPr>
            <a:r>
              <a:rPr lang="en-US" sz="2000" dirty="0" err="1">
                <a:solidFill>
                  <a:srgbClr val="002864">
                    <a:alpha val="95000"/>
                  </a:srgbClr>
                </a:solidFill>
                <a:latin typeface="IBM Plex Sans" pitchFamily="34" charset="0"/>
              </a:rPr>
              <a:t>DataCite</a:t>
            </a:r>
            <a:r>
              <a:rPr lang="en-US" sz="2000" dirty="0">
                <a:solidFill>
                  <a:srgbClr val="002864">
                    <a:alpha val="95000"/>
                  </a:srgbClr>
                </a:solidFill>
                <a:latin typeface="IBM Plex Sans" pitchFamily="34" charset="0"/>
              </a:rPr>
              <a:t> -&gt; </a:t>
            </a:r>
            <a:r>
              <a:rPr lang="en-US" sz="2000" dirty="0" err="1">
                <a:solidFill>
                  <a:srgbClr val="002864">
                    <a:alpha val="95000"/>
                  </a:srgbClr>
                </a:solidFill>
                <a:latin typeface="IBM Plex Sans" pitchFamily="34" charset="0"/>
              </a:rPr>
              <a:t>DublinCore</a:t>
            </a:r>
            <a:r>
              <a:rPr lang="en-US" sz="2000" dirty="0">
                <a:solidFill>
                  <a:srgbClr val="002864">
                    <a:alpha val="95000"/>
                  </a:srgbClr>
                </a:solidFill>
                <a:latin typeface="IBM Plex Sans" pitchFamily="34" charset="0"/>
              </a:rPr>
              <a:t> coverage</a:t>
            </a:r>
            <a:endParaRPr lang="en-US" sz="2000" dirty="0"/>
          </a:p>
        </p:txBody>
      </p:sp>
      <p:sp>
        <p:nvSpPr>
          <p:cNvPr id="22" name="Text 26">
            <a:extLst>
              <a:ext uri="{FF2B5EF4-FFF2-40B4-BE49-F238E27FC236}">
                <a16:creationId xmlns:a16="http://schemas.microsoft.com/office/drawing/2014/main" id="{0B0EDA01-7692-18E6-AECA-712F137702C3}"/>
              </a:ext>
            </a:extLst>
          </p:cNvPr>
          <p:cNvSpPr/>
          <p:nvPr/>
        </p:nvSpPr>
        <p:spPr>
          <a:xfrm>
            <a:off x="16729971" y="6103099"/>
            <a:ext cx="4009348" cy="797023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/>
          </a:bodyPr>
          <a:lstStyle/>
          <a:p>
            <a:pPr>
              <a:lnSpc>
                <a:spcPct val="122064"/>
              </a:lnSpc>
            </a:pPr>
            <a:r>
              <a:rPr lang="en-US" sz="2000" dirty="0">
                <a:solidFill>
                  <a:srgbClr val="002864">
                    <a:alpha val="95000"/>
                  </a:srgbClr>
                </a:solidFill>
                <a:latin typeface="IBM Plex Sans" pitchFamily="34" charset="0"/>
              </a:rPr>
              <a:t>Metadata standards in the graph</a:t>
            </a:r>
            <a:endParaRPr lang="en-US" sz="2000" dirty="0"/>
          </a:p>
        </p:txBody>
      </p:sp>
      <p:sp>
        <p:nvSpPr>
          <p:cNvPr id="488" name="Text 22">
            <a:extLst>
              <a:ext uri="{FF2B5EF4-FFF2-40B4-BE49-F238E27FC236}">
                <a16:creationId xmlns:a16="http://schemas.microsoft.com/office/drawing/2014/main" id="{26F44FF8-84F3-BDB8-B651-2056CDFD68C8}"/>
              </a:ext>
            </a:extLst>
          </p:cNvPr>
          <p:cNvSpPr/>
          <p:nvPr/>
        </p:nvSpPr>
        <p:spPr>
          <a:xfrm>
            <a:off x="16738027" y="5210874"/>
            <a:ext cx="2731368" cy="989498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r>
              <a:rPr lang="en-US" sz="5800" b="1" kern="0" spc="-124" dirty="0">
                <a:solidFill>
                  <a:srgbClr val="00286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</a:t>
            </a:r>
            <a:endParaRPr lang="en-US" sz="5800" dirty="0"/>
          </a:p>
        </p:txBody>
      </p:sp>
      <p:sp>
        <p:nvSpPr>
          <p:cNvPr id="489" name="Text 26">
            <a:extLst>
              <a:ext uri="{FF2B5EF4-FFF2-40B4-BE49-F238E27FC236}">
                <a16:creationId xmlns:a16="http://schemas.microsoft.com/office/drawing/2014/main" id="{F7A58D98-932D-756E-ED79-0B18CE97514D}"/>
              </a:ext>
            </a:extLst>
          </p:cNvPr>
          <p:cNvSpPr/>
          <p:nvPr/>
        </p:nvSpPr>
        <p:spPr>
          <a:xfrm>
            <a:off x="20758971" y="6122208"/>
            <a:ext cx="3859874" cy="541551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/>
          </a:bodyPr>
          <a:lstStyle/>
          <a:p>
            <a:pPr>
              <a:lnSpc>
                <a:spcPct val="122064"/>
              </a:lnSpc>
            </a:pPr>
            <a:r>
              <a:rPr lang="en-US" sz="2000" dirty="0">
                <a:solidFill>
                  <a:schemeClr val="bg1"/>
                </a:solidFill>
                <a:latin typeface="IBM Plex Sans" pitchFamily="34" charset="0"/>
              </a:rPr>
              <a:t>Artifacts fetched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90" name="Text 31">
            <a:extLst>
              <a:ext uri="{FF2B5EF4-FFF2-40B4-BE49-F238E27FC236}">
                <a16:creationId xmlns:a16="http://schemas.microsoft.com/office/drawing/2014/main" id="{03ABA660-F893-07A6-A029-2BA8F1BC7F48}"/>
              </a:ext>
            </a:extLst>
          </p:cNvPr>
          <p:cNvSpPr/>
          <p:nvPr/>
        </p:nvSpPr>
        <p:spPr>
          <a:xfrm>
            <a:off x="24691412" y="5160408"/>
            <a:ext cx="2696404" cy="897001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r>
              <a:rPr lang="en-US" sz="5800" b="1" kern="0" spc="-124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5800" dirty="0"/>
          </a:p>
        </p:txBody>
      </p:sp>
      <p:sp>
        <p:nvSpPr>
          <p:cNvPr id="491" name="Text 26">
            <a:extLst>
              <a:ext uri="{FF2B5EF4-FFF2-40B4-BE49-F238E27FC236}">
                <a16:creationId xmlns:a16="http://schemas.microsoft.com/office/drawing/2014/main" id="{09B470F1-F003-D7A4-DD7C-58E9AB5FDC3D}"/>
              </a:ext>
            </a:extLst>
          </p:cNvPr>
          <p:cNvSpPr/>
          <p:nvPr/>
        </p:nvSpPr>
        <p:spPr>
          <a:xfrm>
            <a:off x="24618845" y="6083872"/>
            <a:ext cx="3859874" cy="541551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/>
          </a:bodyPr>
          <a:lstStyle/>
          <a:p>
            <a:pPr>
              <a:lnSpc>
                <a:spcPct val="122064"/>
              </a:lnSpc>
            </a:pPr>
            <a:r>
              <a:rPr lang="en-US" sz="2000" dirty="0">
                <a:solidFill>
                  <a:schemeClr val="bg1"/>
                </a:solidFill>
                <a:latin typeface="IBM Plex Sans" pitchFamily="34" charset="0"/>
              </a:rPr>
              <a:t>Domain categories represented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95" name="Grafik 494">
            <a:extLst>
              <a:ext uri="{FF2B5EF4-FFF2-40B4-BE49-F238E27FC236}">
                <a16:creationId xmlns:a16="http://schemas.microsoft.com/office/drawing/2014/main" id="{D21B33DE-276D-22C2-2CEE-5AE281A153D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58783" y="9877085"/>
            <a:ext cx="4007366" cy="1977908"/>
          </a:xfrm>
          <a:prstGeom prst="rect">
            <a:avLst/>
          </a:prstGeom>
        </p:spPr>
      </p:pic>
      <p:pic>
        <p:nvPicPr>
          <p:cNvPr id="497" name="Grafik 496">
            <a:extLst>
              <a:ext uri="{FF2B5EF4-FFF2-40B4-BE49-F238E27FC236}">
                <a16:creationId xmlns:a16="http://schemas.microsoft.com/office/drawing/2014/main" id="{334AB2A6-9B97-2053-B34F-8727DB4F4EE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85260" y="9894100"/>
            <a:ext cx="4054767" cy="1951916"/>
          </a:xfrm>
          <a:prstGeom prst="rect">
            <a:avLst/>
          </a:prstGeom>
        </p:spPr>
      </p:pic>
      <p:pic>
        <p:nvPicPr>
          <p:cNvPr id="501" name="Grafik 500">
            <a:extLst>
              <a:ext uri="{FF2B5EF4-FFF2-40B4-BE49-F238E27FC236}">
                <a16:creationId xmlns:a16="http://schemas.microsoft.com/office/drawing/2014/main" id="{FE6D94FE-B32D-68C4-C8B4-8624B904C25A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11577"/>
          <a:stretch/>
        </p:blipFill>
        <p:spPr>
          <a:xfrm>
            <a:off x="2755964" y="18980467"/>
            <a:ext cx="5696186" cy="5715543"/>
          </a:xfrm>
          <a:prstGeom prst="rect">
            <a:avLst/>
          </a:prstGeom>
        </p:spPr>
      </p:pic>
      <p:pic>
        <p:nvPicPr>
          <p:cNvPr id="506" name="Grafik 505">
            <a:extLst>
              <a:ext uri="{FF2B5EF4-FFF2-40B4-BE49-F238E27FC236}">
                <a16:creationId xmlns:a16="http://schemas.microsoft.com/office/drawing/2014/main" id="{86CD4629-2C9D-51C1-2B70-3675D1EE502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152365" y="13564010"/>
            <a:ext cx="862968" cy="1072172"/>
          </a:xfrm>
          <a:prstGeom prst="rect">
            <a:avLst/>
          </a:prstGeom>
        </p:spPr>
      </p:pic>
      <p:pic>
        <p:nvPicPr>
          <p:cNvPr id="508" name="Grafik 507">
            <a:extLst>
              <a:ext uri="{FF2B5EF4-FFF2-40B4-BE49-F238E27FC236}">
                <a16:creationId xmlns:a16="http://schemas.microsoft.com/office/drawing/2014/main" id="{E96A2540-B277-770A-869E-380AE24CFF9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17406" y="3455823"/>
            <a:ext cx="3784939" cy="1140850"/>
          </a:xfrm>
          <a:prstGeom prst="rect">
            <a:avLst/>
          </a:prstGeom>
        </p:spPr>
      </p:pic>
      <p:sp>
        <p:nvSpPr>
          <p:cNvPr id="511" name="Shape 127">
            <a:extLst>
              <a:ext uri="{FF2B5EF4-FFF2-40B4-BE49-F238E27FC236}">
                <a16:creationId xmlns:a16="http://schemas.microsoft.com/office/drawing/2014/main" id="{92A2DD5E-FEFB-0F5A-2D62-FAFAFA8C24AC}"/>
              </a:ext>
            </a:extLst>
          </p:cNvPr>
          <p:cNvSpPr/>
          <p:nvPr/>
        </p:nvSpPr>
        <p:spPr>
          <a:xfrm>
            <a:off x="10332946" y="17570186"/>
            <a:ext cx="45719" cy="7892317"/>
          </a:xfrm>
          <a:prstGeom prst="rect">
            <a:avLst/>
          </a:prstGeom>
          <a:solidFill>
            <a:srgbClr val="CDEEFB"/>
          </a:solidFill>
          <a:ln/>
        </p:spPr>
      </p:sp>
      <p:pic>
        <p:nvPicPr>
          <p:cNvPr id="96" name="Grafik 95">
            <a:extLst>
              <a:ext uri="{FF2B5EF4-FFF2-40B4-BE49-F238E27FC236}">
                <a16:creationId xmlns:a16="http://schemas.microsoft.com/office/drawing/2014/main" id="{602E0E5B-1EC4-15F6-0B51-7C1299E3121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298975" y="19399974"/>
            <a:ext cx="6110183" cy="4887222"/>
          </a:xfrm>
          <a:prstGeom prst="rect">
            <a:avLst/>
          </a:prstGeom>
        </p:spPr>
      </p:pic>
      <p:pic>
        <p:nvPicPr>
          <p:cNvPr id="104" name="Grafik 103">
            <a:extLst>
              <a:ext uri="{FF2B5EF4-FFF2-40B4-BE49-F238E27FC236}">
                <a16:creationId xmlns:a16="http://schemas.microsoft.com/office/drawing/2014/main" id="{AD92B5D2-A5E9-12CB-8021-40E2AF9D338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270416" y="22929086"/>
            <a:ext cx="5733146" cy="3810703"/>
          </a:xfrm>
          <a:prstGeom prst="rect">
            <a:avLst/>
          </a:prstGeom>
        </p:spPr>
      </p:pic>
      <p:sp>
        <p:nvSpPr>
          <p:cNvPr id="105" name="Text 163">
            <a:extLst>
              <a:ext uri="{FF2B5EF4-FFF2-40B4-BE49-F238E27FC236}">
                <a16:creationId xmlns:a16="http://schemas.microsoft.com/office/drawing/2014/main" id="{53427842-9B27-18EF-6D8E-0E2F7F429980}"/>
              </a:ext>
            </a:extLst>
          </p:cNvPr>
          <p:cNvSpPr/>
          <p:nvPr/>
        </p:nvSpPr>
        <p:spPr>
          <a:xfrm>
            <a:off x="11188560" y="27884206"/>
            <a:ext cx="8727071" cy="3449716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/>
          </a:bodyPr>
          <a:lstStyle/>
          <a:p>
            <a:pPr marL="523248" indent="-523248">
              <a:lnSpc>
                <a:spcPct val="137971"/>
              </a:lnSpc>
              <a:buSzPct val="100000"/>
              <a:buFont typeface="+mj-lt"/>
              <a:buAutoNum type="arabicPeriod"/>
              <a:tabLst>
                <a:tab pos="523248" algn="l"/>
              </a:tabLst>
            </a:pPr>
            <a:endParaRPr lang="en-US" sz="2540" dirty="0"/>
          </a:p>
        </p:txBody>
      </p:sp>
      <p:sp>
        <p:nvSpPr>
          <p:cNvPr id="109" name="Text 163">
            <a:extLst>
              <a:ext uri="{FF2B5EF4-FFF2-40B4-BE49-F238E27FC236}">
                <a16:creationId xmlns:a16="http://schemas.microsoft.com/office/drawing/2014/main" id="{169B5AD8-EF3D-BB0E-2957-1EAAC8A2DBB2}"/>
              </a:ext>
            </a:extLst>
          </p:cNvPr>
          <p:cNvSpPr/>
          <p:nvPr/>
        </p:nvSpPr>
        <p:spPr>
          <a:xfrm>
            <a:off x="10517609" y="27959065"/>
            <a:ext cx="8727071" cy="3449716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/>
          </a:bodyPr>
          <a:lstStyle/>
          <a:p>
            <a:pPr marL="523248" indent="-523248">
              <a:lnSpc>
                <a:spcPct val="137971"/>
              </a:lnSpc>
              <a:buSzPct val="100000"/>
              <a:buFont typeface="+mj-lt"/>
              <a:buAutoNum type="arabicPeriod"/>
              <a:tabLst>
                <a:tab pos="523248" algn="l"/>
              </a:tabLst>
            </a:pPr>
            <a:endParaRPr lang="en-US" sz="2540" dirty="0"/>
          </a:p>
        </p:txBody>
      </p:sp>
      <p:sp>
        <p:nvSpPr>
          <p:cNvPr id="134" name="Text 163">
            <a:extLst>
              <a:ext uri="{FF2B5EF4-FFF2-40B4-BE49-F238E27FC236}">
                <a16:creationId xmlns:a16="http://schemas.microsoft.com/office/drawing/2014/main" id="{0660EEA8-F1CA-2193-9A7B-D2FC543250B0}"/>
              </a:ext>
            </a:extLst>
          </p:cNvPr>
          <p:cNvSpPr/>
          <p:nvPr/>
        </p:nvSpPr>
        <p:spPr>
          <a:xfrm>
            <a:off x="10999322" y="27697254"/>
            <a:ext cx="8727071" cy="3449716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rmAutofit/>
          </a:bodyPr>
          <a:lstStyle/>
          <a:p>
            <a:pPr marL="523248" indent="-523248">
              <a:lnSpc>
                <a:spcPct val="137971"/>
              </a:lnSpc>
              <a:buSzPct val="100000"/>
              <a:buFont typeface="+mj-lt"/>
              <a:buAutoNum type="arabicPeriod"/>
              <a:tabLst>
                <a:tab pos="523248" algn="l"/>
              </a:tabLst>
            </a:pPr>
            <a:endParaRPr lang="en-US" sz="2540" dirty="0"/>
          </a:p>
        </p:txBody>
      </p:sp>
      <p:sp>
        <p:nvSpPr>
          <p:cNvPr id="222" name="Text 163">
            <a:extLst>
              <a:ext uri="{FF2B5EF4-FFF2-40B4-BE49-F238E27FC236}">
                <a16:creationId xmlns:a16="http://schemas.microsoft.com/office/drawing/2014/main" id="{8944A3B6-3D98-6A03-441C-8BD719A6D198}"/>
              </a:ext>
            </a:extLst>
          </p:cNvPr>
          <p:cNvSpPr/>
          <p:nvPr/>
        </p:nvSpPr>
        <p:spPr>
          <a:xfrm>
            <a:off x="11350398" y="28124406"/>
            <a:ext cx="8062837" cy="3974748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pPr marL="514350" indent="-514350">
              <a:lnSpc>
                <a:spcPct val="137971"/>
              </a:lnSpc>
              <a:buSzPct val="100000"/>
              <a:buAutoNum type="arabicPeriod"/>
              <a:tabLst>
                <a:tab pos="523248" algn="l"/>
              </a:tabLst>
            </a:pPr>
            <a:r>
              <a:rPr lang="en-US" sz="2400" dirty="0">
                <a:solidFill>
                  <a:srgbClr val="0A1632"/>
                </a:solidFill>
                <a:latin typeface="IBM Plex Sans" pitchFamily="34" charset="0"/>
              </a:rPr>
              <a:t>Standards become nodes; crosswalks become edges. </a:t>
            </a:r>
          </a:p>
          <a:p>
            <a:pPr marL="514350" indent="-514350">
              <a:lnSpc>
                <a:spcPct val="137971"/>
              </a:lnSpc>
              <a:buSzPct val="100000"/>
              <a:buAutoNum type="arabicPeriod"/>
              <a:tabLst>
                <a:tab pos="523248" algn="l"/>
              </a:tabLst>
            </a:pPr>
            <a:r>
              <a:rPr lang="en-US" sz="2400" dirty="0">
                <a:solidFill>
                  <a:srgbClr val="0A16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edge keeps the mapping rules, confidence, semantic-loss flags, and source evidence.</a:t>
            </a:r>
          </a:p>
          <a:p>
            <a:pPr marL="514350" indent="-514350">
              <a:lnSpc>
                <a:spcPct val="137971"/>
              </a:lnSpc>
              <a:buSzPct val="100000"/>
              <a:buAutoNum type="arabicPeriod"/>
              <a:tabLst>
                <a:tab pos="523248" algn="l"/>
              </a:tabLst>
            </a:pPr>
            <a:r>
              <a:rPr lang="en-US" sz="2400" dirty="0">
                <a:solidFill>
                  <a:srgbClr val="0A16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graph makes indirect routes visible, e.g. A → B → C when no direct A → C crosswalk exists.</a:t>
            </a:r>
          </a:p>
          <a:p>
            <a:pPr marL="514350" indent="-514350">
              <a:lnSpc>
                <a:spcPct val="137971"/>
              </a:lnSpc>
              <a:buSzPct val="100000"/>
              <a:buAutoNum type="arabicPeriod"/>
              <a:tabLst>
                <a:tab pos="523248" algn="l"/>
              </a:tabLst>
            </a:pPr>
            <a:r>
              <a:rPr lang="en-US" sz="2400" dirty="0">
                <a:solidFill>
                  <a:srgbClr val="0A16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Provenance stays attached to the rule, not buried in the original PDF, HTML, or XSL file.</a:t>
            </a:r>
          </a:p>
        </p:txBody>
      </p:sp>
      <p:pic>
        <p:nvPicPr>
          <p:cNvPr id="100" name="Grafik 99">
            <a:extLst>
              <a:ext uri="{FF2B5EF4-FFF2-40B4-BE49-F238E27FC236}">
                <a16:creationId xmlns:a16="http://schemas.microsoft.com/office/drawing/2014/main" id="{C8F6270E-708F-B1E5-FEB4-74DC2EE38DC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995756" y="20417051"/>
            <a:ext cx="5177495" cy="2862448"/>
          </a:xfrm>
          <a:prstGeom prst="rect">
            <a:avLst/>
          </a:prstGeom>
        </p:spPr>
      </p:pic>
      <p:sp>
        <p:nvSpPr>
          <p:cNvPr id="224" name="Textfeld 223">
            <a:extLst>
              <a:ext uri="{FF2B5EF4-FFF2-40B4-BE49-F238E27FC236}">
                <a16:creationId xmlns:a16="http://schemas.microsoft.com/office/drawing/2014/main" id="{4B1F6B21-D15C-0120-C717-98774D448F70}"/>
              </a:ext>
            </a:extLst>
          </p:cNvPr>
          <p:cNvSpPr txBox="1"/>
          <p:nvPr/>
        </p:nvSpPr>
        <p:spPr>
          <a:xfrm>
            <a:off x="7567613" y="21162372"/>
            <a:ext cx="15135224" cy="404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1961"/>
              </a:lnSpc>
            </a:pPr>
            <a:r>
              <a:rPr lang="en-US" sz="1800" dirty="0" err="1">
                <a:solidFill>
                  <a:srgbClr val="CDEE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doi</a:t>
            </a:r>
            <a:r>
              <a:rPr lang="en-US" sz="1800" dirty="0">
                <a:solidFill>
                  <a:srgbClr val="CDEE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10.48805/ebsg-sx38</a:t>
            </a:r>
          </a:p>
        </p:txBody>
      </p:sp>
      <p:sp>
        <p:nvSpPr>
          <p:cNvPr id="388" name="Text 6">
            <a:extLst>
              <a:ext uri="{FF2B5EF4-FFF2-40B4-BE49-F238E27FC236}">
                <a16:creationId xmlns:a16="http://schemas.microsoft.com/office/drawing/2014/main" id="{16A7B63A-F4B6-BDDD-6391-8CBEF3DF6224}"/>
              </a:ext>
            </a:extLst>
          </p:cNvPr>
          <p:cNvSpPr/>
          <p:nvPr/>
        </p:nvSpPr>
        <p:spPr>
          <a:xfrm>
            <a:off x="11475488" y="4181286"/>
            <a:ext cx="4302466" cy="482556"/>
          </a:xfrm>
          <a:prstGeom prst="rect">
            <a:avLst/>
          </a:prstGeom>
          <a:noFill/>
          <a:ln/>
        </p:spPr>
        <p:txBody>
          <a:bodyPr wrap="square" lIns="74750" tIns="74750" rIns="74750" bIns="74750" rtlCol="0" anchor="t">
            <a:noAutofit/>
          </a:bodyPr>
          <a:lstStyle/>
          <a:p>
            <a:r>
              <a:rPr lang="en-US" sz="2800" dirty="0">
                <a:solidFill>
                  <a:srgbClr val="A8C2F0"/>
                </a:solidFill>
                <a:latin typeface="IBM Plex Sans" pitchFamily="34" charset="0"/>
              </a:rPr>
              <a:t> 10.48805/ebsg-sx38</a:t>
            </a:r>
          </a:p>
          <a:p>
            <a:endParaRPr lang="en-US" sz="2800" dirty="0"/>
          </a:p>
        </p:txBody>
      </p:sp>
      <p:pic>
        <p:nvPicPr>
          <p:cNvPr id="515" name="Grafik 514">
            <a:extLst>
              <a:ext uri="{FF2B5EF4-FFF2-40B4-BE49-F238E27FC236}">
                <a16:creationId xmlns:a16="http://schemas.microsoft.com/office/drawing/2014/main" id="{4D0BD5BD-A1C1-6FB1-6286-8A9EEA02EA8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048185" y="4229020"/>
            <a:ext cx="448583" cy="4485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864</Words>
  <Application>Microsoft Office PowerPoint</Application>
  <PresentationFormat>Benutzerdefiniert</PresentationFormat>
  <Paragraphs>115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IBM Plex Mono</vt:lpstr>
      <vt:lpstr>IBM Plex Sans</vt:lpstr>
      <vt:lpstr>Wingdings</vt:lpstr>
      <vt:lpstr>Office 2013 – 2022-Design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Casas Castro, Santiago Andres</cp:lastModifiedBy>
  <cp:revision>13</cp:revision>
  <cp:lastPrinted>2026-05-29T13:39:36Z</cp:lastPrinted>
  <dcterms:created xsi:type="dcterms:W3CDTF">2026-05-27T14:39:42Z</dcterms:created>
  <dcterms:modified xsi:type="dcterms:W3CDTF">2026-05-31T18:11:37Z</dcterms:modified>
</cp:coreProperties>
</file>